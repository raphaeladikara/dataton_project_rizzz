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A635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4A635D"/>
                </a:solidFill>
                <a:latin typeface="Calibri"/>
              </a:rPr>
              <a:t>Pergeseran fitur ketika laju kamera turun 26 Hz → 13 Hz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Pergeseran median</c:v>
                </c:pt>
              </c:strCache>
            </c:strRef>
          </c:tx>
          <c:spPr>
            <a:solidFill>
              <a:srgbClr val="B1442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B1E1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144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D827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Fitur kinematik</c:v>
                  </c:pt>
                  <c:pt idx="1">
                    <c:v>Fitur geometri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69.4</c:v>
                </c:pt>
                <c:pt idx="1">
                  <c:v>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0B1E1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30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b"/>
        <c:majorGridlines>
          <c:spPr>
            <a:ln w="12700" cap="flat">
              <a:solidFill>
                <a:srgbClr val="DB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635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Tesis dibacakan apa adanya. Jangan menambah kalimat pembuka.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0:40. Dua angka saja. Jangan menambahkan statistik prevalensi.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Kategori barumu didefinisikan di sini, bukan di bagian arsitektur.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1:45 total untuk dua demo. Ucapkan keberatannya sendiri SEBELUM juri memikirkannya — itu gerakan berbiaya nol dengan imbalan terbesar di seluruh pitch. Jangan pilih rekan satu tim sebagai relawan. Selama 67 detik berjalan: diam.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0:35. Jual angka 0 dari 9 dan kolom jarak terdekat. Jangan menjual AUC 1,00.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Ini bagian yang menutup lubang terbesar di rubrik (AI Implementation, 10%).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Lambatkan di sini. Ini satu-satunya temuan terukur milik sendiri di seluruh proyek — semua angka lain milik studi orang 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 panel riset di laporan yang masih terbuka dari bagian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 bersama momen integritas. Sensitivitas 17% bukan bug — itu bentuk alatnya. Rule-in.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cerita integritas, bukan dua. Cerita kedua memindahkan waktu dari kolom rubrik yang bobotnya lebih besar.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1:10. Bobot terbesar di rubrik. Sebut sendiri bahwa ini skenario bersyarat, lalu sebut biaya operasi yang belum terukur — sebelum juri menghitungnya.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yang mengubah 'belum ada data' dari kelemahan menjadi rencana.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Berhenti di sini. Jangan sebut kaji etik sebagai tanda tangan; permintaannya mitra, bukan izin. Jangan tutup dengan 'lima lembaga menolak kami'.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371600"/>
            <a:ext cx="365760" cy="36576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" y="1481328"/>
            <a:ext cx="146304" cy="146304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8745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Neurogaze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Pengukuran atensi objektif di Posyandu, di tablet yang sudah ada, tanpa jaringan.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3657600"/>
            <a:ext cx="8961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9EBD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baru di sini bukan cara mengukur tatapan — itu sudah dipecahkan Nature Medicine.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9EBD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baru adalah arsitektur yang membuat alat ukur itu boleh dipegang relawan Posyandu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9EBD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tanpa mengarang satu angka pun.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59436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60" kern="0" dirty="0">
                <a:solidFill>
                  <a:srgbClr val="8C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Datathon RISTEK Fasilkom UI 2026  ·  University Track  ·  Semifinal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bulan antara “saya khawatir” dan “ini namanya apa”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3108960" cy="1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0"/>
              </a:lnSpc>
              <a:buNone/>
            </a:pPr>
            <a:r>
              <a:rPr lang="en-US" sz="90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685800" y="3668219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979115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Usia rata-rata diagnosis ASD di Indonesia.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51960" y="2286000"/>
            <a:ext cx="3108960" cy="1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0"/>
              </a:lnSpc>
              <a:buNone/>
            </a:pPr>
            <a:r>
              <a:rPr lang="en-US" sz="9000" b="1" dirty="0">
                <a:solidFill>
                  <a:srgbClr val="B14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9000" dirty="0"/>
          </a:p>
        </p:txBody>
      </p:sp>
      <p:sp>
        <p:nvSpPr>
          <p:cNvPr id="10" name="Text 8"/>
          <p:cNvSpPr/>
          <p:nvPr/>
        </p:nvSpPr>
        <p:spPr>
          <a:xfrm>
            <a:off x="4251960" y="3668219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 jeda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51960" y="3979115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Sejak orang tua pertama kali merasa ada yang berbeda.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18120" y="2240280"/>
            <a:ext cx="3657600" cy="2286000"/>
          </a:xfrm>
          <a:prstGeom prst="roundRect">
            <a:avLst>
              <a:gd name="adj" fmla="val 2400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9244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Masalahnya bukan orang tua yang tidak sadar.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092440" y="32004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jarak 32 bulan itu tidak ada satu pun titik yang menghasilkan pengukuran objektif. Yang ada hanya laporan manusia — dan laporan manusia tidak bisa diserahkan.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Autisme paling responsif terhadap intervensi sebelum usia tiga tahun.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alat yang ada gagal di Posyandu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tidak ada di antara keduanya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2148840"/>
            <a:ext cx="3456432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395728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Ceklis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78408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M-CHAT · KPSP · SDIDTK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3246120"/>
            <a:ext cx="28712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Murah dan bisa disebar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Bergantung laporan manusia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Spesifisitas rendah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6552" y="2148840"/>
            <a:ext cx="3456432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2395728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EarliPoint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09160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FDA 510(k), 2022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09160" y="3246120"/>
            <a:ext cx="28712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Objektif dan tervalidasi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599 per pemeriksaan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Eye-tracker khusus, di klinik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47304" y="2148840"/>
            <a:ext cx="3456432" cy="3017520"/>
          </a:xfrm>
          <a:prstGeom prst="roundRect">
            <a:avLst>
              <a:gd name="adj" fmla="val 1818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9912" y="2395728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Celah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439912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yang mengisinya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39912" y="3246120"/>
            <a:ext cx="28712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Objektif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Dijalankan kader, bukan klinisi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Android biasa, luring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34440"/>
            <a:ext cx="310896" cy="310896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9069" y="1327709"/>
            <a:ext cx="124358" cy="12435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73736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60" kern="0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Demonstrasi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Bagaimana kalau alat ini cuma merujuk semua orang?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B7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yang selalu bilang “periksa lebih lanjut” akan lolos demo mana pun tanpa mengukur apa pun.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B7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Jadi saya butuh satu orang dari ruangan ini. Tidak ada briefing, tidak ada instruksi.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5852160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kamera langsung  ·  67 detik  ·  pipeline yang sama persis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positif · 19 Agustus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Instrumennya merespons — dan menahan diri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3200400" cy="3108960"/>
          </a:xfrm>
          <a:prstGeom prst="roundRect">
            <a:avLst>
              <a:gd name="adj" fmla="val 1765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377440"/>
            <a:ext cx="2651760" cy="678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6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9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78408" y="311073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menonton biasa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342162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Aturan komposit tidak menyala pada satu pun orang yang sekadar menonton.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8408" y="42245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Menyala 4 dari 6 sesi pola diproduksi yang dapat dipakai.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78408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peserta · 23 sesi direkam · 15 lulus mutu · 3 perangkat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 dipakai: 9 dari 11 biasa, 6 dari 12 pola diproduksi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2286000"/>
          <a:ext cx="72237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00200"/>
                <a:gridCol w="1600200"/>
                <a:gridCol w="1463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Sinyal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Menonton biasa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 diproduksi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Jarak terdekat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Preferensi geometrik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Percobaan masuk target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dari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dari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percobaan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Sebaran tatapan isyarat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4251960" y="41605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yang penting adalah jarak terdekat, bukan AUC. Ketiganya ber-AUC 1,00 — tetapi itu hanya berarti tidak ada pasangan yang tertukar urutannya. Sesi biasa tertinggi ada di 0,73; sesi produksi terendah di 0,89.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251960" y="4983480"/>
            <a:ext cx="7223760" cy="658368"/>
          </a:xfrm>
          <a:prstGeom prst="roundRect">
            <a:avLst>
              <a:gd name="adj" fmla="val 8333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80560" y="512064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B14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ini tidak membuktikan apa pun tentang autisme. Pesertanya orang dewasa yang mengikuti naskah — tidak ada sensitivitas, spesifisitas, atau akurasi di dalamnya.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inferensi bergerbang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033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Kami tidak membangun satu model yang menebak autisme.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A8C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 membangun sistem yang menjalankan modelnya di perangkat, lalu memutuskan sendiri apakah keluaran model itu layak dibaca untuk anak yang sedang duduk di depannya.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2514600"/>
            <a:ext cx="2578608" cy="2606040"/>
          </a:xfrm>
          <a:prstGeom prst="roundRect">
            <a:avLst>
              <a:gd name="adj" fmla="val 2128"/>
            </a:avLst>
          </a:prstGeom>
          <a:solidFill>
            <a:srgbClr val="14302B"/>
          </a:solidFill>
          <a:ln w="12700">
            <a:solidFill>
              <a:srgbClr val="1E4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merancang fitur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23544" y="312724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Dipilih dengan pengukuran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23544" y="4114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EB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sesi didesimasi ke separuh laju kamera. Kinematik bergeser 69%, geometri 1,6%.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83864" y="2514600"/>
            <a:ext cx="2578608" cy="2606040"/>
          </a:xfrm>
          <a:prstGeom prst="roundRect">
            <a:avLst>
              <a:gd name="adj" fmla="val 2128"/>
            </a:avLst>
          </a:prstGeom>
          <a:solidFill>
            <a:srgbClr val="14302B"/>
          </a:solidFill>
          <a:ln w="12700">
            <a:solidFill>
              <a:srgbClr val="1E4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21608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memilih model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721608" y="312724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Menjatuhkan model sendiri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721608" y="4114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EB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0,882 vs regresi 0,823. Bootstrap berpasangan: p = 0,087, korelasi 0,93.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81928" y="2514600"/>
            <a:ext cx="2578608" cy="2606040"/>
          </a:xfrm>
          <a:prstGeom prst="roundRect">
            <a:avLst>
              <a:gd name="adj" fmla="val 2128"/>
            </a:avLst>
          </a:prstGeom>
          <a:solidFill>
            <a:srgbClr val="14302B"/>
          </a:solidFill>
          <a:ln w="12700">
            <a:solidFill>
              <a:srgbClr val="1E4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9672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sesi berjalan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19672" y="312724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Penjaga menolak di perangkat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19672" y="4114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EB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dijalankan tiap sesi. Penjaga menahan keluarannya dan menyebut fiturnya.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79992" y="2514600"/>
            <a:ext cx="2578608" cy="2606040"/>
          </a:xfrm>
          <a:prstGeom prst="roundRect">
            <a:avLst>
              <a:gd name="adj" fmla="val 2128"/>
            </a:avLst>
          </a:prstGeom>
          <a:solidFill>
            <a:srgbClr val="14302B"/>
          </a:solidFill>
          <a:ln w="12700">
            <a:solidFill>
              <a:srgbClr val="1E4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7736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dikompilasi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317736" y="312724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Tata kelola dijaga type checker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317736" y="41148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EB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combinedScore bernilai null. Penggabungan lajur tidak dapat dikompilasi.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85800" y="54406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8CA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Hampir semua ML yang dikerahkan ke lapangan mengandaikan data masuk mirip data latihnya. Ketika andaian itu salah, modelnya tetap mengeluarkan angka — dan tidak memberi tahu siapa pun.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orisinal · degradasi temporal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Kami tidak menebak fitur mana yang bertahan — kami mengukurnya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194560"/>
          <a:ext cx="6858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909560" y="2194560"/>
            <a:ext cx="3566160" cy="2926080"/>
          </a:xfrm>
          <a:prstGeom prst="roundRect">
            <a:avLst>
              <a:gd name="adj" fmla="val 1875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83880" y="2468880"/>
            <a:ext cx="3017520" cy="7964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42×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8183880" y="3320157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drift fitur, bukan akurasi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83880" y="3631053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drift relatif di bawah desimasi waktu: 69,4% untuk fitur kinematik, 1,6% untuk fitur yang dipakai. Kamera Posyandu berjalan 26 fps dan sering lebih lambat.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83880" y="4572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sesi berpasangan Gate B, aliran (x, y, t) nyata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52852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research/hasil/degradasi_temporal.json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Penjaga out-of-distribution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Modelnya jalan. Penjaganya menolak. Di depan kalian.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5760720" cy="2286000"/>
          </a:xfrm>
          <a:prstGeom prst="roundRect">
            <a:avLst>
              <a:gd name="adj" fmla="val 2400"/>
            </a:avLst>
          </a:prstGeom>
          <a:solidFill>
            <a:srgbClr val="0B1E1B"/>
          </a:solidFill>
          <a:ln w="12700">
            <a:solidFill>
              <a:srgbClr val="0B1E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4871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8C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PUTUSAN PENJAGA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51560" y="27889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A1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Ditolak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51560" y="3383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D2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fitur ditandai  ·  cakupan 100%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7673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B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Jarak terjauh 9,1 z  ·  Mahalanobis 87,9  ·  keluaran model ditahan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995160" y="22860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 bukan tangkapan layar yang kami siapkan. Ini yang aplikasi cetak setiap sesi.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995160" y="306324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 logistik 13 fitur dikirim ke tablet dan dijalankan setiap sesi.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Penjaga memutuskan apakah keluarannya boleh dibaca — dan di sini ia menolak.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menyebut fitur mana yang di luar distribusi, beserta jaraknya.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85800" y="4800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Kami tidak menyembunyikan model yang tidak layak. Kami menjalankannya di depan kalian dan menunjukkan sistem menangkapnya.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Kenapa punya batas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Kami memilih titik kerja yang menemukan paling sedikit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104241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1371600"/>
                <a:gridCol w="192024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Titik kerja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Laju rujukan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Rujukan per 1 kasus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 logistik, sensitivitas 0,9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89,1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 logistik, Youden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GeoPref 69% — yang dipakai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827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Gate C (preseden tablet)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3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6177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Kohort 1.000 anak, prevalensi 1%. Baris teratas paling menggoda dipamerkan — sensitivitas 92 persen — dan ia merujuk 740 dari 1.000 anak. Puskesmas mana pun berhenti memakainya di minggu kedua.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726680" y="4572000"/>
            <a:ext cx="3383280" cy="960120"/>
          </a:xfrm>
          <a:prstGeom prst="roundRect">
            <a:avLst>
              <a:gd name="adj" fmla="val 5714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0" y="4718304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 memilihnya bukan karena angkanya paling bagus, tapi karena itu satu-satunya yang muat di kapasitas rujukan yang benar-benar ada.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 integritas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Angka tertinggi di proyek ini, dan kami buang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3840480" cy="11208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7600"/>
              </a:lnSpc>
              <a:buNone/>
            </a:pPr>
            <a:r>
              <a:rPr lang="en-US" sz="7600" b="1" dirty="0">
                <a:solidFill>
                  <a:srgbClr val="B14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0,932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85800" y="3507461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· CNN dataset wajah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818357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Bobotnya tidak ada di repositori.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74920" y="24688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dari enam metadata tata kelola tidak tersedia.</a:t>
            </a:r>
            <a:endParaRPr lang="en-US" sz="145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ID partisipan, jadi kebocoran identitas tidak bisa disingkirkan.</a:t>
            </a:r>
            <a:endParaRPr lang="en-US" sz="1450" dirty="0"/>
          </a:p>
          <a:p>
            <a:pPr marL="342900" indent="-342900">
              <a:lnSpc>
                <a:spcPts val="21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shortcut kami: statistik piksel saja sudah mencapai AUC 0,751, permutasi p = 0,005.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85800" y="4434840"/>
            <a:ext cx="10424160" cy="1051560"/>
          </a:xfrm>
          <a:prstGeom prst="roundRect">
            <a:avLst>
              <a:gd name="adj" fmla="val 5217"/>
            </a:avLst>
          </a:prstGeom>
          <a:solidFill>
            <a:srgbClr val="0B1E1B"/>
          </a:solidFill>
          <a:ln w="12700">
            <a:solidFill>
              <a:srgbClr val="0B1E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471830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21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 yang mengoreksi angkanya sendiri lebih layak dipercaya daripada tim yang angkanya selalu bagus.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dan biaya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Ambil metrik yang paling keras terhadap kami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14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Skenario, bukan hasil terukur: angka per kasus ini berlaku hanya bila titik operasi protokol penuh berhasil direplikasi pada balita Indonesia. Hari ini titik itu ditahan.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32461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0358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9,08 jt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60120" y="36393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Neurogaze · 1 Posyandu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1148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sesi × Rp 13.900 ÷ 1,53 kasus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06240" y="2788920"/>
            <a:ext cx="3246120" cy="1965960"/>
          </a:xfrm>
          <a:prstGeom prst="roundRect">
            <a:avLst>
              <a:gd name="adj" fmla="val 2791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30358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2,29 jt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36393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Neurogaze · dirotasi 4 Posyandu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41148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sesi × Rp 3.500 ÷ 1,53 kasus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26680" y="2788920"/>
            <a:ext cx="324612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1000" y="30358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14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Rp 9,70 jt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001000" y="3639312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EarliPoint · satu pemeriksaan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01000" y="41148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anak, sekali periksa, di klinik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 titik operasinya terreplikasi, menemukan satu kasus harganya kira-kira sekali pemeriksaan EarliPoint — seperempatnya bila satu tablet dirotasi ke empat Posyandu.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5800" y="565099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belum terukur: waktu kader, pelatihan, dukungan, cetak, dudukan, pengulangan sesi, pemeliharaan, penggantian perangkat, dan tindak lanjut klinis.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59436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Asumsi dinyatakan di docs/dampak_dan_adopsi.md · kohort 1.000, prevalensi 1%, cakupan teknis 90%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68151" y="740664"/>
            <a:ext cx="237744" cy="237744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339474" y="811987"/>
            <a:ext cx="95098" cy="9509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85800"/>
            <a:ext cx="102714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0D82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adopsi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99669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0B1E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Penyebarannya adalah mesin pengumpul datanya sendiri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ini tidak menggantikan apa pun. Ia menempel: sesi 67 detik sesudah penimbangan bulanan, laporan satu halaman diserahkan ke Puskesmas, dibaca berdampingan dengan SDIDTK.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926080"/>
            <a:ext cx="3291840" cy="100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800"/>
              </a:lnSpc>
              <a:buNone/>
            </a:pPr>
            <a:r>
              <a:rPr lang="en-US" sz="68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700</a:t>
            </a:r>
            <a:endParaRPr lang="en-US" sz="6800" dirty="0"/>
          </a:p>
        </p:txBody>
      </p:sp>
      <p:sp>
        <p:nvSpPr>
          <p:cNvPr id="8" name="Text 6"/>
          <p:cNvSpPr/>
          <p:nvPr/>
        </p:nvSpPr>
        <p:spPr>
          <a:xfrm>
            <a:off x="685800" y="398383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 balita per tahun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29473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Posyandu, satu tahun penyebaran biasa.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34840" y="2926080"/>
            <a:ext cx="3291840" cy="100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800"/>
              </a:lnSpc>
              <a:buNone/>
            </a:pPr>
            <a:r>
              <a:rPr lang="en-US" sz="6800" b="1" dirty="0">
                <a:solidFill>
                  <a:srgbClr val="4A63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475</a:t>
            </a:r>
            <a:endParaRPr lang="en-US" sz="6800" dirty="0"/>
          </a:p>
        </p:txBody>
      </p:sp>
      <p:sp>
        <p:nvSpPr>
          <p:cNvPr id="11" name="Text 9"/>
          <p:cNvSpPr/>
          <p:nvPr/>
        </p:nvSpPr>
        <p:spPr>
          <a:xfrm>
            <a:off x="4434840" y="398383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kohort Nature Medicine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29473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63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SenseToKnow yang jadi acuan kami.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09560" y="2880360"/>
            <a:ext cx="3200400" cy="2194560"/>
          </a:xfrm>
          <a:prstGeom prst="roundRect">
            <a:avLst>
              <a:gd name="adj" fmla="val 2500"/>
            </a:avLst>
          </a:prstGeom>
          <a:solidFill>
            <a:srgbClr val="E4F2EE"/>
          </a:solidFill>
          <a:ln w="12700">
            <a:solidFill>
              <a:srgbClr val="E4F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0D82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Tanpa biaya marginal perangkat lunak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38160" y="3749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statis. Tidak ada server, basis data, maupun lisensi. Posyandu ke-1 dan ke-1.000 memuat berkas yang sama.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53492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Dalam setahun penyebaran biasa, alat ini mengumpulkan data lebih banyak daripada studi yang jadi acuannya — di populasi yang belum pernah punya instrumennya.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E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371600"/>
            <a:ext cx="310896" cy="310896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5CB9A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9069" y="1464869"/>
            <a:ext cx="124358" cy="124358"/>
          </a:xfrm>
          <a:prstGeom prst="ellipse">
            <a:avLst/>
          </a:prstGeom>
          <a:solidFill>
            <a:srgbClr val="5CB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87452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belum kami punya itu label, bukan sistemnya.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8C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Rantainya sudah berdiri dan sudah terinstrumentasi — kamera ke landmark, landmark ke pandangan</a:t>
            </a:r>
            <a:endParaRPr lang="en-US" sz="15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8C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terkalibrasi, pandangan ke fitur, fitur ke model, model ke penjaga, penjaga ke laporan.</a:t>
            </a:r>
            <a:endParaRPr lang="en-US" sz="15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A8C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di tangan kalian sekarang: jalan, luring, di tablet.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448056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i="1" dirty="0">
                <a:solidFill>
                  <a:srgbClr val="5CB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Sebagian besar tim punya model tanpa jalur ke lapangan. Kami punya jalur ke lapangan yang sudah jalan, menunggu labelnya — dan label itu menuntut mitra berizin etik, persetujuan orang tua, acuan klinis buta, dan validasi prospektif.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kami minta: satu mitra klinis yang mampu menjalankan kaji itu.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58978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Gate C: sensitivitas 88%  ·  spesifisitas 81%  —  ditetapkan dari literatur, bukan dari harapan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Neurogaze — Datathon RISTEK Fasilkom UI 2026</dc:title>
  <dc:subject>PptxGenJS Presentation</dc:subject>
  <dc:creator>Neurogaze</dc:creator>
  <cp:lastModifiedBy>Neurogaze</cp:lastModifiedBy>
  <cp:revision>1</cp:revision>
  <dcterms:created xsi:type="dcterms:W3CDTF">2026-08-21T10:52:06Z</dcterms:created>
  <dcterms:modified xsi:type="dcterms:W3CDTF">2026-08-21T10:52:06Z</dcterms:modified>
</cp:coreProperties>
</file>