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4A635D"/>
                </a:solidFill>
                <a:latin typeface="Calibri"/>
              </a:defRPr>
            </a:pPr>
            <a:r>
              <a:rPr sz="1300" b="0" i="0" u="none" strike="noStrike">
                <a:solidFill>
                  <a:srgbClr val="4A635D"/>
                </a:solidFill>
                <a:latin typeface="Calibri"/>
              </a:rPr>
              <a:t>Pergeseran fitur ketika laju kamera turun 26 Hz → 13 Hz</a:t>
            </a:r>
          </a:p>
        </c:rich>
      </c:tx>
      <c:layout/>
      <c:overlay val="0"/>
    </c:title>
    <c:autoTitleDeleted val="0"/>
    <c:plotArea>
      <c:layout/>
      <c:barChart>
        <c:barDir val="bar"/>
        <c:grouping val="clustered"/>
        <c:varyColors val="0"/>
        <c:ser>
          <c:idx val="0"/>
          <c:order val="0"/>
          <c:tx>
            <c:strRef>
              <c:f>Sheet1!$B$1</c:f>
              <c:strCache>
                <c:ptCount val="1"/>
                <c:pt idx="0">
                  <c:v>Pergeseran median</c:v>
                </c:pt>
              </c:strCache>
            </c:strRef>
          </c:tx>
          <c:spPr>
            <a:solidFill>
              <a:srgbClr val="B1442C"/>
            </a:solidFill>
            <a:effectLst/>
          </c:spPr>
          <c:invertIfNegative val="0"/>
          <c:dLbls>
            <c:numFmt formatCode="0.0&quot;%&quot;" sourceLinked="0"/>
            <c:txPr>
              <a:bodyPr/>
              <a:lstStyle/>
              <a:p>
                <a:pPr>
                  <a:defRPr b="0" i="0" strike="noStrike" sz="1400" u="none">
                    <a:solidFill>
                      <a:srgbClr val="0B1E1B"/>
                    </a:solidFill>
                    <a:latin typeface="Calibri"/>
                  </a:defRPr>
                </a:pPr>
              </a:p>
            </c:txPr>
            <c:showLegendKey val="0"/>
            <c:showVal val="1"/>
            <c:showCatName val="0"/>
            <c:showSerName val="0"/>
            <c:showPercent val="0"/>
            <c:showBubbleSize val="0"/>
            <c:showLeaderLines val="0"/>
          </c:dLbls>
          <c:dPt>
            <c:idx val="0"/>
            <c:invertIfNegative val="0"/>
            <c:bubble3D val="0"/>
            <c:spPr>
              <a:solidFill>
                <a:srgbClr val="B1442C"/>
              </a:solidFill>
              <a:effectLst/>
            </c:spPr>
          </c:dPt>
          <c:dPt>
            <c:idx val="1"/>
            <c:invertIfNegative val="0"/>
            <c:bubble3D val="0"/>
            <c:spPr>
              <a:solidFill>
                <a:srgbClr val="0D8271"/>
              </a:solidFill>
              <a:effectLst/>
            </c:spPr>
          </c:dPt>
          <c:cat>
            <c:multiLvlStrRef>
              <c:f>Sheet1!$A$2:$A$3</c:f>
              <c:multiLvlStrCache>
                <c:ptCount val="2"/>
                <c:lvl>
                  <c:pt idx="0">
                    <c:v>Fitur kinematik</c:v>
                  </c:pt>
                  <c:pt idx="1">
                    <c:v>Fitur geometri</c:v>
                  </c:pt>
                </c:lvl>
              </c:multiLvlStrCache>
            </c:multiLvlStrRef>
          </c:cat>
          <c:val>
            <c:numRef>
              <c:f>Sheet1!$B$2:$B$3</c:f>
              <c:numCache>
                <c:formatCode>General</c:formatCode>
                <c:ptCount val="2"/>
                <c:pt idx="0">
                  <c:v>69.4</c:v>
                </c:pt>
                <c:pt idx="1">
                  <c:v>1.6</c:v>
                </c:pt>
              </c:numCache>
            </c:numRef>
          </c:val>
        </c:ser>
        <c:dLbls>
          <c:numFmt formatCode="0.0&quot;%&quot;" sourceLinked="0"/>
          <c:txPr>
            <a:bodyPr/>
            <a:lstStyle/>
            <a:p>
              <a:pPr>
                <a:defRPr b="0" i="0" strike="noStrike" sz="1400" u="none">
                  <a:solidFill>
                    <a:srgbClr val="0B1E1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4302B"/>
                </a:solidFill>
                <a:latin typeface="Calibri"/>
              </a:defRPr>
            </a:pPr>
            <a:endParaRPr lang="en-US"/>
          </a:p>
        </c:txPr>
        <c:crossAx val="2094734552"/>
        <c:crosses val="autoZero"/>
        <c:auto val="1"/>
        <c:lblAlgn val="ctr"/>
        <c:noMultiLvlLbl val="1"/>
      </c:catAx>
      <c:valAx>
        <c:axId val="2094734552"/>
        <c:scaling>
          <c:orientation val="minMax"/>
          <c:max val="80"/>
        </c:scaling>
        <c:delete val="0"/>
        <c:axPos val="b"/>
        <c:majorGridlines>
          <c:spPr>
            <a:ln w="12700" cap="flat">
              <a:solidFill>
                <a:srgbClr val="DBE4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635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Tesis dibacakan apa adanya. Jangan menambah kalimat pembuka.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Dua angka saja. Sebut sendiri bahwa keduanya lintas negara — sebelum juri menagihnya. Klaim Indonesia yang dibuat di sini hanya soal ketiadaan instrumen. Jangan menambahkan statistik prevalensi.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Kategori barumu didefinisikan di sini, bukan di bagian arsitektur.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 total. Buka /perbandingan lebih dulu: dua kondisi, tiga sinyal, satu layar — tanpa risiko kamera. Baru setelah itu jalankan SATU sesi langsung dan penyajilah pesertanya, bukan relawan. Ucapkan keberatannya sendiri SEBELUM juri memikirkannya. Tawarkan tablet ke juri SESUDAH pitch: 'silakan coba sendiri kalau mau menguji apakah alat ini merujuk semua orang.' Selama 67 detik berjalan, narasikan cermin panggung — jangan diam.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Jual angka 0 dari 9 dan kolom jarak terdekat. Jangan menjual AUC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Ini bagian yang menutup lubang terbesar di rubrik (AI Implementation,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Lambatkan di sini. Ini satu-satunya temuan terukur milik sendiri di seluruh proyek — semua angka lain milik studi orang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Ini kontribusi metodologis yang selama ini cuma catatan kaki. Baris 0,69 yang dijual: 52% jadi 4,8%. Lalu segera sebut baris 0,90 — 99% — supaya tidak terdengar seperti alat yang jadi tumpul.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 sendiri bahwa 544/547 hampir pasti tinggi karena referensinya dikalibrasi di persentil 99,5 — kalau juri yang menemukannya, angka itu berbalik jadi senjata. Yang dijual adalah kontrasnya dengan 1/23, dan parity 23/23.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Ini bagian Impact yang paling kuat di seluruh deck — pelankan. Satu wawancara bukan pengukuran kapasitas, dan narasumber tidak melihat tabel ini; sebut keduanya. Sensitivitas 17% bukan bug, itu bentuk alatnya. Rule-in.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AI Implementation, bukan slide integritas — jual temuannya lebih dulu, penolakannya belakangan. Kalimat kuncinya: setiap makalah pada dataset ini yang tidak menjalankan alas semacam ini berisiko melaporkan performa yang sebagian berasal dari perbedaan pengumpulan data. Dataset wajah cukup satu baris; jangan diceritakan ulang.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Bobot terbesar di rubrik. Sebut sendiri bahwa ini skenario bersyarat, lalu sebut biaya operasi yang belum terukur — sebelum juri menghitungnya.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yang mengubah 'belum ada data' dari kelemahan menjadi rencana. Sebut kata 'studi prospektif berizin etik' dengan suara — kalau slide ini terdengar seperti rencana menyebar produk untuk memanen data balita, seluruh bagian responsible AI runtuh di satu kalimat.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Berhenti di sini. Jangan sebut kaji etik sebagai tanda tangan; permintaannya mitra, bukan izin. Jangan tutup dengan 'lima lembaga menolak kami'.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1B"/>
        </a:solidFill>
      </p:bgPr>
    </p:bg>
    <p:spTree>
      <p:nvGrpSpPr>
        <p:cNvPr id="1" name=""/>
        <p:cNvGrpSpPr/>
        <p:nvPr/>
      </p:nvGrpSpPr>
      <p:grpSpPr>
        <a:xfrm>
          <a:off x="0" y="0"/>
          <a:ext cx="0" cy="0"/>
          <a:chOff x="0" y="0"/>
          <a:chExt cx="0" cy="0"/>
        </a:xfrm>
      </p:grpSpPr>
      <p:sp>
        <p:nvSpPr>
          <p:cNvPr id="2" name="Shape 0"/>
          <p:cNvSpPr/>
          <p:nvPr/>
        </p:nvSpPr>
        <p:spPr>
          <a:xfrm>
            <a:off x="685800" y="1371600"/>
            <a:ext cx="365760" cy="365760"/>
          </a:xfrm>
          <a:prstGeom prst="ellipse">
            <a:avLst/>
          </a:prstGeom>
          <a:solidFill>
            <a:srgbClr val="FFFFFF">
              <a:alpha val="0"/>
            </a:srgbClr>
          </a:solidFill>
          <a:ln w="25400">
            <a:solidFill>
              <a:srgbClr val="5CB9A3"/>
            </a:solidFill>
            <a:prstDash val="solid"/>
          </a:ln>
        </p:spPr>
      </p:sp>
      <p:sp>
        <p:nvSpPr>
          <p:cNvPr id="3" name="Shape 1"/>
          <p:cNvSpPr/>
          <p:nvPr/>
        </p:nvSpPr>
        <p:spPr>
          <a:xfrm>
            <a:off x="795528" y="1481328"/>
            <a:ext cx="146304" cy="146304"/>
          </a:xfrm>
          <a:prstGeom prst="ellipse">
            <a:avLst/>
          </a:prstGeom>
          <a:solidFill>
            <a:srgbClr val="5CB9A3"/>
          </a:solidFill>
          <a:ln w="12700">
            <a:solidFill>
              <a:srgbClr val="333333"/>
            </a:solidFill>
            <a:prstDash val="solid"/>
          </a:ln>
        </p:spPr>
      </p:sp>
      <p:sp>
        <p:nvSpPr>
          <p:cNvPr id="4" name="Text 2"/>
          <p:cNvSpPr/>
          <p:nvPr/>
        </p:nvSpPr>
        <p:spPr>
          <a:xfrm>
            <a:off x="685800" y="1874520"/>
            <a:ext cx="10820095" cy="9144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Neurogaze</a:t>
            </a:r>
            <a:endParaRPr lang="en-US" sz="6000" dirty="0"/>
          </a:p>
        </p:txBody>
      </p:sp>
      <p:sp>
        <p:nvSpPr>
          <p:cNvPr id="5" name="Text 3"/>
          <p:cNvSpPr/>
          <p:nvPr/>
        </p:nvSpPr>
        <p:spPr>
          <a:xfrm>
            <a:off x="685800" y="2834640"/>
            <a:ext cx="8595360" cy="457200"/>
          </a:xfrm>
          <a:prstGeom prst="rect">
            <a:avLst/>
          </a:prstGeom>
          <a:noFill/>
          <a:ln/>
        </p:spPr>
        <p:txBody>
          <a:bodyPr wrap="square" lIns="0" tIns="0" rIns="0" bIns="0" rtlCol="0" anchor="ctr"/>
          <a:lstStyle/>
          <a:p>
            <a:pPr indent="0" marL="0">
              <a:buNone/>
            </a:pPr>
            <a:r>
              <a:rPr lang="en-US" sz="2000" dirty="0">
                <a:solidFill>
                  <a:srgbClr val="5CB9A3"/>
                </a:solidFill>
                <a:latin typeface="Calibri" pitchFamily="34" charset="0"/>
                <a:ea typeface="Calibri" pitchFamily="34" charset="-122"/>
                <a:cs typeface="Calibri" pitchFamily="34" charset="-120"/>
              </a:rPr>
              <a:t>Pengukuran atensi objektif di Posyandu, di tablet yang sudah ada, tanpa jaringan.</a:t>
            </a:r>
            <a:endParaRPr lang="en-US" sz="2000" dirty="0"/>
          </a:p>
        </p:txBody>
      </p:sp>
      <p:sp>
        <p:nvSpPr>
          <p:cNvPr id="6" name="Text 4"/>
          <p:cNvSpPr/>
          <p:nvPr/>
        </p:nvSpPr>
        <p:spPr>
          <a:xfrm>
            <a:off x="685800" y="3657600"/>
            <a:ext cx="8961120" cy="1097280"/>
          </a:xfrm>
          <a:prstGeom prst="rect">
            <a:avLst/>
          </a:prstGeom>
          <a:noFill/>
          <a:ln/>
        </p:spPr>
        <p:txBody>
          <a:bodyPr wrap="square" lIns="0" tIns="0" rIns="0" bIns="0" rtlCol="0" anchor="ctr"/>
          <a:lstStyle/>
          <a:p>
            <a:pPr indent="0" marL="0">
              <a:lnSpc>
                <a:spcPts val="2600"/>
              </a:lnSpc>
              <a:buNone/>
            </a:pPr>
            <a:r>
              <a:rPr lang="en-US" sz="1600" i="1" dirty="0">
                <a:solidFill>
                  <a:srgbClr val="9EBDB4"/>
                </a:solidFill>
                <a:latin typeface="Cambria" pitchFamily="34" charset="0"/>
                <a:ea typeface="Cambria" pitchFamily="34" charset="-122"/>
                <a:cs typeface="Cambria" pitchFamily="34" charset="-120"/>
              </a:rPr>
              <a:t>Yang baru di sini bukan cara mengukur tatapan — itu sudah dipecahkan Nature Medicine.</a:t>
            </a:r>
            <a:endParaRPr lang="en-US" sz="1600" dirty="0"/>
          </a:p>
          <a:p>
            <a:pPr indent="0" marL="0">
              <a:lnSpc>
                <a:spcPts val="2600"/>
              </a:lnSpc>
              <a:buNone/>
            </a:pPr>
            <a:r>
              <a:rPr lang="en-US" sz="1600" i="1" dirty="0">
                <a:solidFill>
                  <a:srgbClr val="9EBDB4"/>
                </a:solidFill>
                <a:latin typeface="Cambria" pitchFamily="34" charset="0"/>
                <a:ea typeface="Cambria" pitchFamily="34" charset="-122"/>
                <a:cs typeface="Cambria" pitchFamily="34" charset="-120"/>
              </a:rPr>
              <a:t>Yang baru adalah arsitektur yang membuat alat ukur itu boleh dipegang relawan Posyandu</a:t>
            </a:r>
            <a:endParaRPr lang="en-US" sz="1600" dirty="0"/>
          </a:p>
          <a:p>
            <a:pPr indent="0" marL="0">
              <a:lnSpc>
                <a:spcPts val="2600"/>
              </a:lnSpc>
              <a:buNone/>
            </a:pPr>
            <a:r>
              <a:rPr lang="en-US" sz="1600" i="1" dirty="0">
                <a:solidFill>
                  <a:srgbClr val="9EBDB4"/>
                </a:solidFill>
                <a:latin typeface="Cambria" pitchFamily="34" charset="0"/>
                <a:ea typeface="Cambria" pitchFamily="34" charset="-122"/>
                <a:cs typeface="Cambria" pitchFamily="34" charset="-120"/>
              </a:rPr>
              <a:t>tanpa mengarang satu angka pun.</a:t>
            </a:r>
            <a:endParaRPr lang="en-US" sz="1600" dirty="0"/>
          </a:p>
        </p:txBody>
      </p:sp>
      <p:sp>
        <p:nvSpPr>
          <p:cNvPr id="7" name="Text 5"/>
          <p:cNvSpPr/>
          <p:nvPr/>
        </p:nvSpPr>
        <p:spPr>
          <a:xfrm>
            <a:off x="685800" y="5943600"/>
            <a:ext cx="10820095" cy="274320"/>
          </a:xfrm>
          <a:prstGeom prst="rect">
            <a:avLst/>
          </a:prstGeom>
          <a:noFill/>
          <a:ln/>
        </p:spPr>
        <p:txBody>
          <a:bodyPr wrap="square" lIns="0" tIns="0" rIns="0" bIns="0" rtlCol="0" anchor="ctr"/>
          <a:lstStyle/>
          <a:p>
            <a:pPr indent="0" marL="0">
              <a:buNone/>
            </a:pPr>
            <a:r>
              <a:rPr lang="en-US" sz="1200" spc="60" kern="0" dirty="0">
                <a:solidFill>
                  <a:srgbClr val="8CAEA5"/>
                </a:solidFill>
                <a:latin typeface="Calibri" pitchFamily="34" charset="0"/>
                <a:ea typeface="Calibri" pitchFamily="34" charset="-122"/>
                <a:cs typeface="Calibri" pitchFamily="34" charset="-120"/>
              </a:rPr>
              <a:t>Datathon RISTEK Fasilkom UI 2026  ·  University Track  ·  Semifinal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8"/>
        </a:solidFill>
      </p:bgPr>
    </p:bg>
    <p:spTree>
      <p:nvGrpSpPr>
        <p:cNvPr id="1" name=""/>
        <p:cNvGrpSpPr/>
        <p:nvPr/>
      </p:nvGrpSpPr>
      <p:grpSpPr>
        <a:xfrm>
          <a:off x="0" y="0"/>
          <a:ext cx="0" cy="0"/>
          <a:chOff x="0" y="0"/>
          <a:chExt cx="0" cy="0"/>
        </a:xfrm>
      </p:grpSpPr>
      <p:sp>
        <p:nvSpPr>
          <p:cNvPr id="2" name="Shape 0"/>
          <p:cNvSpPr/>
          <p:nvPr/>
        </p:nvSpPr>
        <p:spPr>
          <a:xfrm>
            <a:off x="11268151" y="740664"/>
            <a:ext cx="237744" cy="237744"/>
          </a:xfrm>
          <a:prstGeom prst="ellipse">
            <a:avLst/>
          </a:prstGeom>
          <a:solidFill>
            <a:srgbClr val="FFFFFF">
              <a:alpha val="0"/>
            </a:srgbClr>
          </a:solidFill>
          <a:ln w="25400">
            <a:solidFill>
              <a:srgbClr val="5CB9A3"/>
            </a:solidFill>
            <a:prstDash val="solid"/>
          </a:ln>
        </p:spPr>
      </p:sp>
      <p:sp>
        <p:nvSpPr>
          <p:cNvPr id="3" name="Shape 1"/>
          <p:cNvSpPr/>
          <p:nvPr/>
        </p:nvSpPr>
        <p:spPr>
          <a:xfrm>
            <a:off x="11339474" y="811987"/>
            <a:ext cx="95098" cy="95098"/>
          </a:xfrm>
          <a:prstGeom prst="ellipse">
            <a:avLst/>
          </a:prstGeom>
          <a:solidFill>
            <a:srgbClr val="5CB9A3"/>
          </a:solidFill>
          <a:ln w="12700">
            <a:solidFill>
              <a:srgbClr val="333333"/>
            </a:solidFill>
            <a:prstDash val="solid"/>
          </a:ln>
        </p:spPr>
      </p:sp>
      <p:sp>
        <p:nvSpPr>
          <p:cNvPr id="4" name="Text 2"/>
          <p:cNvSpPr/>
          <p:nvPr/>
        </p:nvSpPr>
        <p:spPr>
          <a:xfrm>
            <a:off x="685800" y="685800"/>
            <a:ext cx="10271455" cy="256032"/>
          </a:xfrm>
          <a:prstGeom prst="rect">
            <a:avLst/>
          </a:prstGeom>
          <a:noFill/>
          <a:ln/>
        </p:spPr>
        <p:txBody>
          <a:bodyPr wrap="square" lIns="0" tIns="0" rIns="0" bIns="0" rtlCol="0" anchor="ctr"/>
          <a:lstStyle/>
          <a:p>
            <a:pPr indent="0" marL="0">
              <a:buNone/>
            </a:pPr>
            <a:r>
              <a:rPr lang="en-US" sz="1200" b="1" spc="120" kern="0" dirty="0">
                <a:solidFill>
                  <a:srgbClr val="0D8271"/>
                </a:solidFill>
                <a:latin typeface="Calibri" pitchFamily="34" charset="0"/>
                <a:ea typeface="Calibri" pitchFamily="34" charset="-122"/>
                <a:cs typeface="Calibri" pitchFamily="34" charset="-120"/>
              </a:rPr>
              <a:t>Masalah</a:t>
            </a:r>
            <a:endParaRPr lang="en-US" sz="1200" dirty="0"/>
          </a:p>
        </p:txBody>
      </p:sp>
      <p:sp>
        <p:nvSpPr>
          <p:cNvPr id="5" name="Text 3"/>
          <p:cNvSpPr/>
          <p:nvPr/>
        </p:nvSpPr>
        <p:spPr>
          <a:xfrm>
            <a:off x="685800" y="996696"/>
            <a:ext cx="10271455" cy="822960"/>
          </a:xfrm>
          <a:prstGeom prst="rect">
            <a:avLst/>
          </a:prstGeom>
          <a:noFill/>
          <a:ln/>
        </p:spPr>
        <p:txBody>
          <a:bodyPr wrap="square" lIns="0" tIns="0" rIns="0" bIns="0" rtlCol="0" anchor="ctr"/>
          <a:lstStyle/>
          <a:p>
            <a:pPr indent="0" marL="0">
              <a:lnSpc>
                <a:spcPts val="3600"/>
              </a:lnSpc>
              <a:buNone/>
            </a:pPr>
            <a:r>
              <a:rPr lang="en-US" sz="3200" b="1" dirty="0">
                <a:solidFill>
                  <a:srgbClr val="0B1E1B"/>
                </a:solidFill>
                <a:latin typeface="Cambria" pitchFamily="34" charset="0"/>
                <a:ea typeface="Cambria" pitchFamily="34" charset="-122"/>
                <a:cs typeface="Cambria" pitchFamily="34" charset="-120"/>
              </a:rPr>
              <a:t>32 bulan antara “saya khawatir” dan “ini namanya apa”</a:t>
            </a:r>
            <a:endParaRPr lang="en-US" sz="3200" dirty="0"/>
          </a:p>
        </p:txBody>
      </p:sp>
      <p:sp>
        <p:nvSpPr>
          <p:cNvPr id="6" name="Text 4"/>
          <p:cNvSpPr/>
          <p:nvPr/>
        </p:nvSpPr>
        <p:spPr>
          <a:xfrm>
            <a:off x="685800" y="2286000"/>
            <a:ext cx="3108960" cy="1327355"/>
          </a:xfrm>
          <a:prstGeom prst="rect">
            <a:avLst/>
          </a:prstGeom>
          <a:noFill/>
          <a:ln/>
        </p:spPr>
        <p:txBody>
          <a:bodyPr wrap="square" lIns="0" tIns="0" rIns="0" bIns="0" rtlCol="0" anchor="ctr"/>
          <a:lstStyle/>
          <a:p>
            <a:pPr indent="0" marL="0">
              <a:lnSpc>
                <a:spcPts val="9000"/>
              </a:lnSpc>
              <a:buNone/>
            </a:pPr>
            <a:r>
              <a:rPr lang="en-US" sz="9000" b="1" dirty="0">
                <a:solidFill>
                  <a:srgbClr val="0B1E1B"/>
                </a:solidFill>
                <a:latin typeface="Cambria" pitchFamily="34" charset="0"/>
                <a:ea typeface="Cambria" pitchFamily="34" charset="-122"/>
                <a:cs typeface="Cambria" pitchFamily="34" charset="-120"/>
              </a:rPr>
              <a:t>56</a:t>
            </a:r>
            <a:endParaRPr lang="en-US" sz="9000" dirty="0"/>
          </a:p>
        </p:txBody>
      </p:sp>
      <p:sp>
        <p:nvSpPr>
          <p:cNvPr id="7" name="Text 5"/>
          <p:cNvSpPr/>
          <p:nvPr/>
        </p:nvSpPr>
        <p:spPr>
          <a:xfrm>
            <a:off x="685800" y="3668219"/>
            <a:ext cx="3108960" cy="274320"/>
          </a:xfrm>
          <a:prstGeom prst="rect">
            <a:avLst/>
          </a:prstGeom>
          <a:noFill/>
          <a:ln/>
        </p:spPr>
        <p:txBody>
          <a:bodyPr wrap="square" lIns="0" tIns="0" rIns="0" bIns="0" rtlCol="0" anchor="ctr"/>
          <a:lstStyle/>
          <a:p>
            <a:pPr indent="0" marL="0">
              <a:buNone/>
            </a:pPr>
            <a:r>
              <a:rPr lang="en-US" sz="1400" b="1" dirty="0">
                <a:solidFill>
                  <a:srgbClr val="14302B"/>
                </a:solidFill>
                <a:latin typeface="Calibri" pitchFamily="34" charset="0"/>
                <a:ea typeface="Calibri" pitchFamily="34" charset="-122"/>
                <a:cs typeface="Calibri" pitchFamily="34" charset="-120"/>
              </a:rPr>
              <a:t>bulan</a:t>
            </a:r>
            <a:endParaRPr lang="en-US" sz="1400" dirty="0"/>
          </a:p>
        </p:txBody>
      </p:sp>
      <p:sp>
        <p:nvSpPr>
          <p:cNvPr id="8" name="Text 6"/>
          <p:cNvSpPr/>
          <p:nvPr/>
        </p:nvSpPr>
        <p:spPr>
          <a:xfrm>
            <a:off x="685800" y="3979115"/>
            <a:ext cx="3108960" cy="640080"/>
          </a:xfrm>
          <a:prstGeom prst="rect">
            <a:avLst/>
          </a:prstGeom>
          <a:noFill/>
          <a:ln/>
        </p:spPr>
        <p:txBody>
          <a:bodyPr wrap="square" lIns="0" tIns="0" rIns="0" bIns="0" rtlCol="0" anchor="ctr"/>
          <a:lstStyle/>
          <a:p>
            <a:pPr indent="0" marL="0">
              <a:lnSpc>
                <a:spcPts val="1500"/>
              </a:lnSpc>
              <a:buNone/>
            </a:pPr>
            <a:r>
              <a:rPr lang="en-US" sz="1200" dirty="0">
                <a:solidFill>
                  <a:srgbClr val="4A635D"/>
                </a:solidFill>
                <a:latin typeface="Calibri" pitchFamily="34" charset="0"/>
                <a:ea typeface="Calibri" pitchFamily="34" charset="-122"/>
                <a:cs typeface="Calibri" pitchFamily="34" charset="-120"/>
              </a:rPr>
              <a:t>Usia rata-rata diagnosis ASD — tinjauan lintas negara, bukan estimasi Indonesia.</a:t>
            </a:r>
            <a:endParaRPr lang="en-US" sz="1200" dirty="0"/>
          </a:p>
        </p:txBody>
      </p:sp>
      <p:sp>
        <p:nvSpPr>
          <p:cNvPr id="9" name="Text 7"/>
          <p:cNvSpPr/>
          <p:nvPr/>
        </p:nvSpPr>
        <p:spPr>
          <a:xfrm>
            <a:off x="4251960" y="2286000"/>
            <a:ext cx="3108960" cy="1327355"/>
          </a:xfrm>
          <a:prstGeom prst="rect">
            <a:avLst/>
          </a:prstGeom>
          <a:noFill/>
          <a:ln/>
        </p:spPr>
        <p:txBody>
          <a:bodyPr wrap="square" lIns="0" tIns="0" rIns="0" bIns="0" rtlCol="0" anchor="ctr"/>
          <a:lstStyle/>
          <a:p>
            <a:pPr indent="0" marL="0">
              <a:lnSpc>
                <a:spcPts val="9000"/>
              </a:lnSpc>
              <a:buNone/>
            </a:pPr>
            <a:r>
              <a:rPr lang="en-US" sz="9000" b="1" dirty="0">
                <a:solidFill>
                  <a:srgbClr val="B1442C"/>
                </a:solidFill>
                <a:latin typeface="Cambria" pitchFamily="34" charset="0"/>
                <a:ea typeface="Cambria" pitchFamily="34" charset="-122"/>
                <a:cs typeface="Cambria" pitchFamily="34" charset="-120"/>
              </a:rPr>
              <a:t>32</a:t>
            </a:r>
            <a:endParaRPr lang="en-US" sz="9000" dirty="0"/>
          </a:p>
        </p:txBody>
      </p:sp>
      <p:sp>
        <p:nvSpPr>
          <p:cNvPr id="10" name="Text 8"/>
          <p:cNvSpPr/>
          <p:nvPr/>
        </p:nvSpPr>
        <p:spPr>
          <a:xfrm>
            <a:off x="4251960" y="3668219"/>
            <a:ext cx="3108960" cy="274320"/>
          </a:xfrm>
          <a:prstGeom prst="rect">
            <a:avLst/>
          </a:prstGeom>
          <a:noFill/>
          <a:ln/>
        </p:spPr>
        <p:txBody>
          <a:bodyPr wrap="square" lIns="0" tIns="0" rIns="0" bIns="0" rtlCol="0" anchor="ctr"/>
          <a:lstStyle/>
          <a:p>
            <a:pPr indent="0" marL="0">
              <a:buNone/>
            </a:pPr>
            <a:r>
              <a:rPr lang="en-US" sz="1400" b="1" dirty="0">
                <a:solidFill>
                  <a:srgbClr val="14302B"/>
                </a:solidFill>
                <a:latin typeface="Calibri" pitchFamily="34" charset="0"/>
                <a:ea typeface="Calibri" pitchFamily="34" charset="-122"/>
                <a:cs typeface="Calibri" pitchFamily="34" charset="-120"/>
              </a:rPr>
              <a:t>bulan jeda</a:t>
            </a:r>
            <a:endParaRPr lang="en-US" sz="1400" dirty="0"/>
          </a:p>
        </p:txBody>
      </p:sp>
      <p:sp>
        <p:nvSpPr>
          <p:cNvPr id="11" name="Text 9"/>
          <p:cNvSpPr/>
          <p:nvPr/>
        </p:nvSpPr>
        <p:spPr>
          <a:xfrm>
            <a:off x="4251960" y="3979115"/>
            <a:ext cx="3108960" cy="640080"/>
          </a:xfrm>
          <a:prstGeom prst="rect">
            <a:avLst/>
          </a:prstGeom>
          <a:noFill/>
          <a:ln/>
        </p:spPr>
        <p:txBody>
          <a:bodyPr wrap="square" lIns="0" tIns="0" rIns="0" bIns="0" rtlCol="0" anchor="ctr"/>
          <a:lstStyle/>
          <a:p>
            <a:pPr indent="0" marL="0">
              <a:lnSpc>
                <a:spcPts val="1500"/>
              </a:lnSpc>
              <a:buNone/>
            </a:pPr>
            <a:r>
              <a:rPr lang="en-US" sz="1200" dirty="0">
                <a:solidFill>
                  <a:srgbClr val="4A635D"/>
                </a:solidFill>
                <a:latin typeface="Calibri" pitchFamily="34" charset="0"/>
                <a:ea typeface="Calibri" pitchFamily="34" charset="-122"/>
                <a:cs typeface="Calibri" pitchFamily="34" charset="-120"/>
              </a:rPr>
              <a:t>Sejak orang tua pertama kali merasa ada yang berbeda.</a:t>
            </a:r>
            <a:endParaRPr lang="en-US" sz="1200" dirty="0"/>
          </a:p>
        </p:txBody>
      </p:sp>
      <p:sp>
        <p:nvSpPr>
          <p:cNvPr id="12" name="Shape 10"/>
          <p:cNvSpPr/>
          <p:nvPr/>
        </p:nvSpPr>
        <p:spPr>
          <a:xfrm>
            <a:off x="7818120" y="2240280"/>
            <a:ext cx="3657600" cy="2286000"/>
          </a:xfrm>
          <a:prstGeom prst="roundRect">
            <a:avLst>
              <a:gd name="adj" fmla="val 2400"/>
            </a:avLst>
          </a:prstGeom>
          <a:solidFill>
            <a:srgbClr val="E4F2EE"/>
          </a:solidFill>
          <a:ln w="12700">
            <a:solidFill>
              <a:srgbClr val="E4F2EE"/>
            </a:solidFill>
            <a:prstDash val="solid"/>
          </a:ln>
        </p:spPr>
      </p:sp>
      <p:sp>
        <p:nvSpPr>
          <p:cNvPr id="13" name="Text 11"/>
          <p:cNvSpPr/>
          <p:nvPr/>
        </p:nvSpPr>
        <p:spPr>
          <a:xfrm>
            <a:off x="8092440" y="2514600"/>
            <a:ext cx="3108960" cy="640080"/>
          </a:xfrm>
          <a:prstGeom prst="rect">
            <a:avLst/>
          </a:prstGeom>
          <a:noFill/>
          <a:ln/>
        </p:spPr>
        <p:txBody>
          <a:bodyPr wrap="square" lIns="0" tIns="0" rIns="0" bIns="0" rtlCol="0" anchor="ctr"/>
          <a:lstStyle/>
          <a:p>
            <a:pPr indent="0" marL="0">
              <a:lnSpc>
                <a:spcPts val="2200"/>
              </a:lnSpc>
              <a:buNone/>
            </a:pPr>
            <a:r>
              <a:rPr lang="en-US" sz="1700" b="1" dirty="0">
                <a:solidFill>
                  <a:srgbClr val="0B1E1B"/>
                </a:solidFill>
                <a:latin typeface="Cambria" pitchFamily="34" charset="0"/>
                <a:ea typeface="Cambria" pitchFamily="34" charset="-122"/>
                <a:cs typeface="Cambria" pitchFamily="34" charset="-120"/>
              </a:rPr>
              <a:t>Masalahnya bukan orang tua yang tidak sadar.</a:t>
            </a:r>
            <a:endParaRPr lang="en-US" sz="1700" dirty="0"/>
          </a:p>
        </p:txBody>
      </p:sp>
      <p:sp>
        <p:nvSpPr>
          <p:cNvPr id="14" name="Text 12"/>
          <p:cNvSpPr/>
          <p:nvPr/>
        </p:nvSpPr>
        <p:spPr>
          <a:xfrm>
            <a:off x="8092440" y="3200400"/>
            <a:ext cx="3108960" cy="1188720"/>
          </a:xfrm>
          <a:prstGeom prst="rect">
            <a:avLst/>
          </a:prstGeom>
          <a:noFill/>
          <a:ln/>
        </p:spPr>
        <p:txBody>
          <a:bodyPr wrap="square" lIns="0" tIns="0" rIns="0" bIns="0" rtlCol="0" anchor="ctr"/>
          <a:lstStyle/>
          <a:p>
            <a:pPr indent="0" marL="0">
              <a:lnSpc>
                <a:spcPts val="1800"/>
              </a:lnSpc>
              <a:buNone/>
            </a:pPr>
            <a:r>
              <a:rPr lang="en-US" sz="1300" dirty="0">
                <a:solidFill>
                  <a:srgbClr val="14302B"/>
                </a:solidFill>
                <a:latin typeface="Calibri" pitchFamily="34" charset="0"/>
                <a:ea typeface="Calibri" pitchFamily="34" charset="-122"/>
                <a:cs typeface="Calibri" pitchFamily="34" charset="-120"/>
              </a:rPr>
              <a:t>Sepanjang jeda itu yang tersedia hanya laporan manusia. Laporan tidak bisa diserahkan ke fasilitas berikutnya, tidak bisa diulang, dan tidak bisa dibandingkan.</a:t>
            </a:r>
            <a:endParaRPr lang="en-US" sz="1300" dirty="0"/>
          </a:p>
        </p:txBody>
      </p:sp>
      <p:sp>
        <p:nvSpPr>
          <p:cNvPr id="15" name="Shape 13"/>
          <p:cNvSpPr/>
          <p:nvPr/>
        </p:nvSpPr>
        <p:spPr>
          <a:xfrm>
            <a:off x="685800" y="4937760"/>
            <a:ext cx="6675120" cy="914400"/>
          </a:xfrm>
          <a:prstGeom prst="roundRect">
            <a:avLst>
              <a:gd name="adj" fmla="val 6000"/>
            </a:avLst>
          </a:prstGeom>
          <a:solidFill>
            <a:srgbClr val="FFFFFF"/>
          </a:solidFill>
          <a:ln w="12700">
            <a:solidFill>
              <a:srgbClr val="DBE4E1"/>
            </a:solidFill>
            <a:prstDash val="solid"/>
          </a:ln>
        </p:spPr>
      </p:sp>
      <p:sp>
        <p:nvSpPr>
          <p:cNvPr id="16" name="Text 14"/>
          <p:cNvSpPr/>
          <p:nvPr/>
        </p:nvSpPr>
        <p:spPr>
          <a:xfrm>
            <a:off x="941832" y="5102352"/>
            <a:ext cx="6217920" cy="640080"/>
          </a:xfrm>
          <a:prstGeom prst="rect">
            <a:avLst/>
          </a:prstGeom>
          <a:noFill/>
          <a:ln/>
        </p:spPr>
        <p:txBody>
          <a:bodyPr wrap="square" lIns="0" tIns="0" rIns="0" bIns="0" rtlCol="0" anchor="ctr"/>
          <a:lstStyle/>
          <a:p>
            <a:pPr indent="0" marL="0">
              <a:lnSpc>
                <a:spcPts val="1700"/>
              </a:lnSpc>
              <a:spcBef>
                <a:spcPts val="400"/>
              </a:spcBef>
              <a:buNone/>
            </a:pPr>
            <a:r>
              <a:rPr lang="en-US" sz="1250" dirty="0">
                <a:solidFill>
                  <a:srgbClr val="14302B"/>
                </a:solidFill>
                <a:latin typeface="Calibri" pitchFamily="34" charset="0"/>
                <a:ea typeface="Calibri" pitchFamily="34" charset="-122"/>
                <a:cs typeface="Calibri" pitchFamily="34" charset="-120"/>
              </a:rPr>
              <a:t>“Baru datang sekitar umur 7 tahun. Orang tuanya sudah merasa ada yang berbeda sejak usia 2–3 tahun.”</a:t>
            </a:r>
            <a:endParaRPr lang="en-US" sz="1250" dirty="0"/>
          </a:p>
          <a:p>
            <a:pPr indent="0" marL="0">
              <a:lnSpc>
                <a:spcPts val="1700"/>
              </a:lnSpc>
              <a:spcBef>
                <a:spcPts val="400"/>
              </a:spcBef>
              <a:buNone/>
            </a:pPr>
            <a:r>
              <a:rPr lang="en-US" sz="1050" dirty="0">
                <a:solidFill>
                  <a:srgbClr val="4A635D"/>
                </a:solidFill>
                <a:latin typeface="Calibri" pitchFamily="34" charset="0"/>
                <a:ea typeface="Calibri" pitchFamily="34" charset="-122"/>
                <a:cs typeface="Calibri" pitchFamily="34" charset="-120"/>
              </a:rPr>
              <a:t>Guru SLB di Jambi · wawancara praktisi · 3–4 dari sekitar 20 anak mulai ditangani sebelum usia 3 tahun</a:t>
            </a:r>
            <a:endParaRPr lang="en-US" sz="1250" dirty="0"/>
          </a:p>
        </p:txBody>
      </p:sp>
      <p:sp>
        <p:nvSpPr>
          <p:cNvPr id="17" name="Text 15"/>
          <p:cNvSpPr/>
          <p:nvPr/>
        </p:nvSpPr>
        <p:spPr>
          <a:xfrm>
            <a:off x="685800" y="5989320"/>
            <a:ext cx="10424160" cy="274320"/>
          </a:xfrm>
          <a:prstGeom prst="rect">
            <a:avLst/>
          </a:prstGeom>
          <a:noFill/>
          <a:ln/>
        </p:spPr>
        <p:txBody>
          <a:bodyPr wrap="square" lIns="0" tIns="0" rIns="0" bIns="0" rtlCol="0" anchor="ctr"/>
          <a:lstStyle/>
          <a:p>
            <a:pPr indent="0" marL="0">
              <a:buNone/>
            </a:pPr>
            <a:r>
              <a:rPr lang="en-US" sz="1050" dirty="0">
                <a:solidFill>
                  <a:srgbClr val="4A635D"/>
                </a:solidFill>
                <a:latin typeface="Calibri" pitchFamily="34" charset="0"/>
                <a:ea typeface="Calibri" pitchFamily="34" charset="-122"/>
                <a:cs typeface="Calibri" pitchFamily="34" charset="-120"/>
              </a:rPr>
              <a:t>56 dan 32 bulan: tinjauan lintas negara. Bukan angka Indonesia, dan tidak dipakai sebagai angka Indonesia.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8"/>
        </a:solidFill>
      </p:bgPr>
    </p:bg>
    <p:spTree>
      <p:nvGrpSpPr>
        <p:cNvPr id="1" name=""/>
        <p:cNvGrpSpPr/>
        <p:nvPr/>
      </p:nvGrpSpPr>
      <p:grpSpPr>
        <a:xfrm>
          <a:off x="0" y="0"/>
          <a:ext cx="0" cy="0"/>
          <a:chOff x="0" y="0"/>
          <a:chExt cx="0" cy="0"/>
        </a:xfrm>
      </p:grpSpPr>
      <p:sp>
        <p:nvSpPr>
          <p:cNvPr id="2" name="Shape 0"/>
          <p:cNvSpPr/>
          <p:nvPr/>
        </p:nvSpPr>
        <p:spPr>
          <a:xfrm>
            <a:off x="11268151" y="740664"/>
            <a:ext cx="237744" cy="237744"/>
          </a:xfrm>
          <a:prstGeom prst="ellipse">
            <a:avLst/>
          </a:prstGeom>
          <a:solidFill>
            <a:srgbClr val="FFFFFF">
              <a:alpha val="0"/>
            </a:srgbClr>
          </a:solidFill>
          <a:ln w="25400">
            <a:solidFill>
              <a:srgbClr val="5CB9A3"/>
            </a:solidFill>
            <a:prstDash val="solid"/>
          </a:ln>
        </p:spPr>
      </p:sp>
      <p:sp>
        <p:nvSpPr>
          <p:cNvPr id="3" name="Shape 1"/>
          <p:cNvSpPr/>
          <p:nvPr/>
        </p:nvSpPr>
        <p:spPr>
          <a:xfrm>
            <a:off x="11339474" y="811987"/>
            <a:ext cx="95098" cy="95098"/>
          </a:xfrm>
          <a:prstGeom prst="ellipse">
            <a:avLst/>
          </a:prstGeom>
          <a:solidFill>
            <a:srgbClr val="5CB9A3"/>
          </a:solidFill>
          <a:ln w="12700">
            <a:solidFill>
              <a:srgbClr val="333333"/>
            </a:solidFill>
            <a:prstDash val="solid"/>
          </a:ln>
        </p:spPr>
      </p:sp>
      <p:sp>
        <p:nvSpPr>
          <p:cNvPr id="4" name="Text 2"/>
          <p:cNvSpPr/>
          <p:nvPr/>
        </p:nvSpPr>
        <p:spPr>
          <a:xfrm>
            <a:off x="685800" y="685800"/>
            <a:ext cx="10271455" cy="256032"/>
          </a:xfrm>
          <a:prstGeom prst="rect">
            <a:avLst/>
          </a:prstGeom>
          <a:noFill/>
          <a:ln/>
        </p:spPr>
        <p:txBody>
          <a:bodyPr wrap="square" lIns="0" tIns="0" rIns="0" bIns="0" rtlCol="0" anchor="ctr"/>
          <a:lstStyle/>
          <a:p>
            <a:pPr indent="0" marL="0">
              <a:buNone/>
            </a:pPr>
            <a:r>
              <a:rPr lang="en-US" sz="1200" b="1" spc="120" kern="0" dirty="0">
                <a:solidFill>
                  <a:srgbClr val="0D8271"/>
                </a:solidFill>
                <a:latin typeface="Calibri" pitchFamily="34" charset="0"/>
                <a:ea typeface="Calibri" pitchFamily="34" charset="-122"/>
                <a:cs typeface="Calibri" pitchFamily="34" charset="-120"/>
              </a:rPr>
              <a:t>Kenapa alat yang ada gagal di Posyandu</a:t>
            </a:r>
            <a:endParaRPr lang="en-US" sz="1200" dirty="0"/>
          </a:p>
        </p:txBody>
      </p:sp>
      <p:sp>
        <p:nvSpPr>
          <p:cNvPr id="5" name="Text 3"/>
          <p:cNvSpPr/>
          <p:nvPr/>
        </p:nvSpPr>
        <p:spPr>
          <a:xfrm>
            <a:off x="685800" y="996696"/>
            <a:ext cx="10271455" cy="822960"/>
          </a:xfrm>
          <a:prstGeom prst="rect">
            <a:avLst/>
          </a:prstGeom>
          <a:noFill/>
          <a:ln/>
        </p:spPr>
        <p:txBody>
          <a:bodyPr wrap="square" lIns="0" tIns="0" rIns="0" bIns="0" rtlCol="0" anchor="ctr"/>
          <a:lstStyle/>
          <a:p>
            <a:pPr indent="0" marL="0">
              <a:lnSpc>
                <a:spcPts val="3600"/>
              </a:lnSpc>
              <a:buNone/>
            </a:pPr>
            <a:r>
              <a:rPr lang="en-US" sz="3200" b="1" dirty="0">
                <a:solidFill>
                  <a:srgbClr val="0B1E1B"/>
                </a:solidFill>
                <a:latin typeface="Cambria" pitchFamily="34" charset="0"/>
                <a:ea typeface="Cambria" pitchFamily="34" charset="-122"/>
                <a:cs typeface="Cambria" pitchFamily="34" charset="-120"/>
              </a:rPr>
              <a:t>Yang tidak ada di antara keduanya</a:t>
            </a:r>
            <a:endParaRPr lang="en-US" sz="3200" dirty="0"/>
          </a:p>
        </p:txBody>
      </p:sp>
      <p:sp>
        <p:nvSpPr>
          <p:cNvPr id="6" name="Shape 4"/>
          <p:cNvSpPr/>
          <p:nvPr/>
        </p:nvSpPr>
        <p:spPr>
          <a:xfrm>
            <a:off x="685800" y="2148840"/>
            <a:ext cx="3456432" cy="3017520"/>
          </a:xfrm>
          <a:prstGeom prst="roundRect">
            <a:avLst>
              <a:gd name="adj" fmla="val 1818"/>
            </a:avLst>
          </a:prstGeom>
          <a:solidFill>
            <a:srgbClr val="FFFFFF"/>
          </a:solidFill>
          <a:ln w="12700">
            <a:solidFill>
              <a:srgbClr val="DBE4E1"/>
            </a:solidFill>
            <a:prstDash val="solid"/>
          </a:ln>
        </p:spPr>
      </p:sp>
      <p:sp>
        <p:nvSpPr>
          <p:cNvPr id="7" name="Text 5"/>
          <p:cNvSpPr/>
          <p:nvPr/>
        </p:nvSpPr>
        <p:spPr>
          <a:xfrm>
            <a:off x="978408" y="2395728"/>
            <a:ext cx="2871216" cy="411480"/>
          </a:xfrm>
          <a:prstGeom prst="rect">
            <a:avLst/>
          </a:prstGeom>
          <a:noFill/>
          <a:ln/>
        </p:spPr>
        <p:txBody>
          <a:bodyPr wrap="square" lIns="0" tIns="0" rIns="0" bIns="0" rtlCol="0" anchor="ctr"/>
          <a:lstStyle/>
          <a:p>
            <a:pPr indent="0" marL="0">
              <a:buNone/>
            </a:pPr>
            <a:r>
              <a:rPr lang="en-US" sz="2400" b="1" dirty="0">
                <a:solidFill>
                  <a:srgbClr val="0B1E1B"/>
                </a:solidFill>
                <a:latin typeface="Cambria" pitchFamily="34" charset="0"/>
                <a:ea typeface="Cambria" pitchFamily="34" charset="-122"/>
                <a:cs typeface="Cambria" pitchFamily="34" charset="-120"/>
              </a:rPr>
              <a:t>Ceklis</a:t>
            </a:r>
            <a:endParaRPr lang="en-US" sz="2400" dirty="0"/>
          </a:p>
        </p:txBody>
      </p:sp>
      <p:sp>
        <p:nvSpPr>
          <p:cNvPr id="8" name="Text 6"/>
          <p:cNvSpPr/>
          <p:nvPr/>
        </p:nvSpPr>
        <p:spPr>
          <a:xfrm>
            <a:off x="978408" y="2816352"/>
            <a:ext cx="2871216" cy="274320"/>
          </a:xfrm>
          <a:prstGeom prst="rect">
            <a:avLst/>
          </a:prstGeom>
          <a:noFill/>
          <a:ln/>
        </p:spPr>
        <p:txBody>
          <a:bodyPr wrap="square" lIns="0" tIns="0" rIns="0" bIns="0" rtlCol="0" anchor="ctr"/>
          <a:lstStyle/>
          <a:p>
            <a:pPr indent="0" marL="0">
              <a:buNone/>
            </a:pPr>
            <a:r>
              <a:rPr lang="en-US" sz="1150" b="1" dirty="0">
                <a:solidFill>
                  <a:srgbClr val="4A635D"/>
                </a:solidFill>
                <a:latin typeface="Calibri" pitchFamily="34" charset="0"/>
                <a:ea typeface="Calibri" pitchFamily="34" charset="-122"/>
                <a:cs typeface="Calibri" pitchFamily="34" charset="-120"/>
              </a:rPr>
              <a:t>M-CHAT · KPSP · SDIDTK</a:t>
            </a:r>
            <a:endParaRPr lang="en-US" sz="1150" dirty="0"/>
          </a:p>
        </p:txBody>
      </p:sp>
      <p:sp>
        <p:nvSpPr>
          <p:cNvPr id="9" name="Text 7"/>
          <p:cNvSpPr/>
          <p:nvPr/>
        </p:nvSpPr>
        <p:spPr>
          <a:xfrm>
            <a:off x="978408" y="3246120"/>
            <a:ext cx="2871216" cy="1554480"/>
          </a:xfrm>
          <a:prstGeom prst="rect">
            <a:avLst/>
          </a:prstGeom>
          <a:noFill/>
          <a:ln/>
        </p:spPr>
        <p:txBody>
          <a:bodyPr wrap="square" lIns="0" tIns="0" rIns="0" bIns="0" rtlCol="0" anchor="ctr"/>
          <a:lstStyle/>
          <a:p>
            <a:pPr marL="342900" indent="-342900">
              <a:lnSpc>
                <a:spcPts val="1800"/>
              </a:lnSpc>
              <a:spcAft>
                <a:spcPts val="800"/>
              </a:spcAft>
              <a:buSzPct val="100000"/>
              <a:buChar char="•"/>
            </a:pPr>
            <a:r>
              <a:rPr lang="en-US" sz="1300" dirty="0">
                <a:solidFill>
                  <a:srgbClr val="14302B"/>
                </a:solidFill>
                <a:latin typeface="Calibri" pitchFamily="34" charset="0"/>
                <a:ea typeface="Calibri" pitchFamily="34" charset="-122"/>
                <a:cs typeface="Calibri" pitchFamily="34" charset="-120"/>
              </a:rPr>
              <a:t>Murah dan bisa disebar</a:t>
            </a:r>
            <a:endParaRPr lang="en-US" sz="1300" dirty="0"/>
          </a:p>
          <a:p>
            <a:pPr marL="342900" indent="-342900">
              <a:lnSpc>
                <a:spcPts val="1800"/>
              </a:lnSpc>
              <a:spcAft>
                <a:spcPts val="800"/>
              </a:spcAft>
              <a:buSzPct val="100000"/>
              <a:buChar char="•"/>
            </a:pPr>
            <a:r>
              <a:rPr lang="en-US" sz="1300" dirty="0">
                <a:solidFill>
                  <a:srgbClr val="14302B"/>
                </a:solidFill>
                <a:latin typeface="Calibri" pitchFamily="34" charset="0"/>
                <a:ea typeface="Calibri" pitchFamily="34" charset="-122"/>
                <a:cs typeface="Calibri" pitchFamily="34" charset="-120"/>
              </a:rPr>
              <a:t>Bergantung laporan manusia</a:t>
            </a:r>
            <a:endParaRPr lang="en-US" sz="1300" dirty="0"/>
          </a:p>
          <a:p>
            <a:pPr marL="342900" indent="-342900">
              <a:lnSpc>
                <a:spcPts val="1800"/>
              </a:lnSpc>
              <a:spcAft>
                <a:spcPts val="800"/>
              </a:spcAft>
              <a:buSzPct val="100000"/>
              <a:buChar char="•"/>
            </a:pPr>
            <a:r>
              <a:rPr lang="en-US" sz="1300" dirty="0">
                <a:solidFill>
                  <a:srgbClr val="14302B"/>
                </a:solidFill>
                <a:latin typeface="Calibri" pitchFamily="34" charset="0"/>
                <a:ea typeface="Calibri" pitchFamily="34" charset="-122"/>
                <a:cs typeface="Calibri" pitchFamily="34" charset="-120"/>
              </a:rPr>
              <a:t>Spesifisitas rendah</a:t>
            </a:r>
            <a:endParaRPr lang="en-US" sz="1300" dirty="0"/>
          </a:p>
        </p:txBody>
      </p:sp>
      <p:sp>
        <p:nvSpPr>
          <p:cNvPr id="10" name="Shape 8"/>
          <p:cNvSpPr/>
          <p:nvPr/>
        </p:nvSpPr>
        <p:spPr>
          <a:xfrm>
            <a:off x="4416552" y="2148840"/>
            <a:ext cx="3456432" cy="3017520"/>
          </a:xfrm>
          <a:prstGeom prst="roundRect">
            <a:avLst>
              <a:gd name="adj" fmla="val 1818"/>
            </a:avLst>
          </a:prstGeom>
          <a:solidFill>
            <a:srgbClr val="FFFFFF"/>
          </a:solidFill>
          <a:ln w="12700">
            <a:solidFill>
              <a:srgbClr val="DBE4E1"/>
            </a:solidFill>
            <a:prstDash val="solid"/>
          </a:ln>
        </p:spPr>
      </p:sp>
      <p:sp>
        <p:nvSpPr>
          <p:cNvPr id="11" name="Text 9"/>
          <p:cNvSpPr/>
          <p:nvPr/>
        </p:nvSpPr>
        <p:spPr>
          <a:xfrm>
            <a:off x="4709160" y="2395728"/>
            <a:ext cx="2871216" cy="411480"/>
          </a:xfrm>
          <a:prstGeom prst="rect">
            <a:avLst/>
          </a:prstGeom>
          <a:noFill/>
          <a:ln/>
        </p:spPr>
        <p:txBody>
          <a:bodyPr wrap="square" lIns="0" tIns="0" rIns="0" bIns="0" rtlCol="0" anchor="ctr"/>
          <a:lstStyle/>
          <a:p>
            <a:pPr indent="0" marL="0">
              <a:buNone/>
            </a:pPr>
            <a:r>
              <a:rPr lang="en-US" sz="2400" b="1" dirty="0">
                <a:solidFill>
                  <a:srgbClr val="0B1E1B"/>
                </a:solidFill>
                <a:latin typeface="Cambria" pitchFamily="34" charset="0"/>
                <a:ea typeface="Cambria" pitchFamily="34" charset="-122"/>
                <a:cs typeface="Cambria" pitchFamily="34" charset="-120"/>
              </a:rPr>
              <a:t>EarliPoint</a:t>
            </a:r>
            <a:endParaRPr lang="en-US" sz="2400" dirty="0"/>
          </a:p>
        </p:txBody>
      </p:sp>
      <p:sp>
        <p:nvSpPr>
          <p:cNvPr id="12" name="Text 10"/>
          <p:cNvSpPr/>
          <p:nvPr/>
        </p:nvSpPr>
        <p:spPr>
          <a:xfrm>
            <a:off x="4709160" y="2816352"/>
            <a:ext cx="2871216" cy="274320"/>
          </a:xfrm>
          <a:prstGeom prst="rect">
            <a:avLst/>
          </a:prstGeom>
          <a:noFill/>
          <a:ln/>
        </p:spPr>
        <p:txBody>
          <a:bodyPr wrap="square" lIns="0" tIns="0" rIns="0" bIns="0" rtlCol="0" anchor="ctr"/>
          <a:lstStyle/>
          <a:p>
            <a:pPr indent="0" marL="0">
              <a:buNone/>
            </a:pPr>
            <a:r>
              <a:rPr lang="en-US" sz="1150" b="1" dirty="0">
                <a:solidFill>
                  <a:srgbClr val="4A635D"/>
                </a:solidFill>
                <a:latin typeface="Calibri" pitchFamily="34" charset="0"/>
                <a:ea typeface="Calibri" pitchFamily="34" charset="-122"/>
                <a:cs typeface="Calibri" pitchFamily="34" charset="-120"/>
              </a:rPr>
              <a:t>Izin FDA 510(k), 2022</a:t>
            </a:r>
            <a:endParaRPr lang="en-US" sz="1150" dirty="0"/>
          </a:p>
        </p:txBody>
      </p:sp>
      <p:sp>
        <p:nvSpPr>
          <p:cNvPr id="13" name="Text 11"/>
          <p:cNvSpPr/>
          <p:nvPr/>
        </p:nvSpPr>
        <p:spPr>
          <a:xfrm>
            <a:off x="4709160" y="3246120"/>
            <a:ext cx="2871216" cy="1554480"/>
          </a:xfrm>
          <a:prstGeom prst="rect">
            <a:avLst/>
          </a:prstGeom>
          <a:noFill/>
          <a:ln/>
        </p:spPr>
        <p:txBody>
          <a:bodyPr wrap="square" lIns="0" tIns="0" rIns="0" bIns="0" rtlCol="0" anchor="ctr"/>
          <a:lstStyle/>
          <a:p>
            <a:pPr marL="342900" indent="-342900">
              <a:lnSpc>
                <a:spcPts val="1800"/>
              </a:lnSpc>
              <a:spcAft>
                <a:spcPts val="800"/>
              </a:spcAft>
              <a:buSzPct val="100000"/>
              <a:buChar char="•"/>
            </a:pPr>
            <a:r>
              <a:rPr lang="en-US" sz="1300" dirty="0">
                <a:solidFill>
                  <a:srgbClr val="14302B"/>
                </a:solidFill>
                <a:latin typeface="Calibri" pitchFamily="34" charset="0"/>
                <a:ea typeface="Calibri" pitchFamily="34" charset="-122"/>
                <a:cs typeface="Calibri" pitchFamily="34" charset="-120"/>
              </a:rPr>
              <a:t>Objektif dan tervalidasi</a:t>
            </a:r>
            <a:endParaRPr lang="en-US" sz="1300" dirty="0"/>
          </a:p>
          <a:p>
            <a:pPr marL="342900" indent="-342900">
              <a:lnSpc>
                <a:spcPts val="1800"/>
              </a:lnSpc>
              <a:spcAft>
                <a:spcPts val="800"/>
              </a:spcAft>
              <a:buSzPct val="100000"/>
              <a:buChar char="•"/>
            </a:pPr>
            <a:r>
              <a:rPr lang="en-US" sz="1300" dirty="0">
                <a:solidFill>
                  <a:srgbClr val="14302B"/>
                </a:solidFill>
                <a:latin typeface="Calibri" pitchFamily="34" charset="0"/>
                <a:ea typeface="Calibri" pitchFamily="34" charset="-122"/>
                <a:cs typeface="Calibri" pitchFamily="34" charset="-120"/>
              </a:rPr>
              <a:t>USD 599 per pemeriksaan</a:t>
            </a:r>
            <a:endParaRPr lang="en-US" sz="1300" dirty="0"/>
          </a:p>
          <a:p>
            <a:pPr marL="342900" indent="-342900">
              <a:lnSpc>
                <a:spcPts val="1800"/>
              </a:lnSpc>
              <a:spcAft>
                <a:spcPts val="800"/>
              </a:spcAft>
              <a:buSzPct val="100000"/>
              <a:buChar char="•"/>
            </a:pPr>
            <a:r>
              <a:rPr lang="en-US" sz="1300" dirty="0">
                <a:solidFill>
                  <a:srgbClr val="14302B"/>
                </a:solidFill>
                <a:latin typeface="Calibri" pitchFamily="34" charset="0"/>
                <a:ea typeface="Calibri" pitchFamily="34" charset="-122"/>
                <a:cs typeface="Calibri" pitchFamily="34" charset="-120"/>
              </a:rPr>
              <a:t>Eye-tracker khusus, di klinik</a:t>
            </a:r>
            <a:endParaRPr lang="en-US" sz="1300" dirty="0"/>
          </a:p>
        </p:txBody>
      </p:sp>
      <p:sp>
        <p:nvSpPr>
          <p:cNvPr id="14" name="Shape 12"/>
          <p:cNvSpPr/>
          <p:nvPr/>
        </p:nvSpPr>
        <p:spPr>
          <a:xfrm>
            <a:off x="8147304" y="2148840"/>
            <a:ext cx="3456432" cy="3017520"/>
          </a:xfrm>
          <a:prstGeom prst="roundRect">
            <a:avLst>
              <a:gd name="adj" fmla="val 1818"/>
            </a:avLst>
          </a:prstGeom>
          <a:solidFill>
            <a:srgbClr val="E4F2EE"/>
          </a:solidFill>
          <a:ln w="12700">
            <a:solidFill>
              <a:srgbClr val="E4F2EE"/>
            </a:solidFill>
            <a:prstDash val="solid"/>
          </a:ln>
        </p:spPr>
      </p:sp>
      <p:sp>
        <p:nvSpPr>
          <p:cNvPr id="15" name="Text 13"/>
          <p:cNvSpPr/>
          <p:nvPr/>
        </p:nvSpPr>
        <p:spPr>
          <a:xfrm>
            <a:off x="8439912" y="2395728"/>
            <a:ext cx="2871216" cy="411480"/>
          </a:xfrm>
          <a:prstGeom prst="rect">
            <a:avLst/>
          </a:prstGeom>
          <a:noFill/>
          <a:ln/>
        </p:spPr>
        <p:txBody>
          <a:bodyPr wrap="square" lIns="0" tIns="0" rIns="0" bIns="0" rtlCol="0" anchor="ctr"/>
          <a:lstStyle/>
          <a:p>
            <a:pPr indent="0" marL="0">
              <a:buNone/>
            </a:pPr>
            <a:r>
              <a:rPr lang="en-US" sz="2400" b="1" dirty="0">
                <a:solidFill>
                  <a:srgbClr val="0D8271"/>
                </a:solidFill>
                <a:latin typeface="Cambria" pitchFamily="34" charset="0"/>
                <a:ea typeface="Cambria" pitchFamily="34" charset="-122"/>
                <a:cs typeface="Cambria" pitchFamily="34" charset="-120"/>
              </a:rPr>
              <a:t>Celah</a:t>
            </a:r>
            <a:endParaRPr lang="en-US" sz="2400" dirty="0"/>
          </a:p>
        </p:txBody>
      </p:sp>
      <p:sp>
        <p:nvSpPr>
          <p:cNvPr id="16" name="Text 14"/>
          <p:cNvSpPr/>
          <p:nvPr/>
        </p:nvSpPr>
        <p:spPr>
          <a:xfrm>
            <a:off x="8439912" y="2816352"/>
            <a:ext cx="2871216" cy="274320"/>
          </a:xfrm>
          <a:prstGeom prst="rect">
            <a:avLst/>
          </a:prstGeom>
          <a:noFill/>
          <a:ln/>
        </p:spPr>
        <p:txBody>
          <a:bodyPr wrap="square" lIns="0" tIns="0" rIns="0" bIns="0" rtlCol="0" anchor="ctr"/>
          <a:lstStyle/>
          <a:p>
            <a:pPr indent="0" marL="0">
              <a:buNone/>
            </a:pPr>
            <a:r>
              <a:rPr lang="en-US" sz="1150" b="1" dirty="0">
                <a:solidFill>
                  <a:srgbClr val="0D8271"/>
                </a:solidFill>
                <a:latin typeface="Calibri" pitchFamily="34" charset="0"/>
                <a:ea typeface="Calibri" pitchFamily="34" charset="-122"/>
                <a:cs typeface="Calibri" pitchFamily="34" charset="-120"/>
              </a:rPr>
              <a:t>Belum ada yang mengisinya</a:t>
            </a:r>
            <a:endParaRPr lang="en-US" sz="1150" dirty="0"/>
          </a:p>
        </p:txBody>
      </p:sp>
      <p:sp>
        <p:nvSpPr>
          <p:cNvPr id="17" name="Text 15"/>
          <p:cNvSpPr/>
          <p:nvPr/>
        </p:nvSpPr>
        <p:spPr>
          <a:xfrm>
            <a:off x="8439912" y="3246120"/>
            <a:ext cx="2871216" cy="1554480"/>
          </a:xfrm>
          <a:prstGeom prst="rect">
            <a:avLst/>
          </a:prstGeom>
          <a:noFill/>
          <a:ln/>
        </p:spPr>
        <p:txBody>
          <a:bodyPr wrap="square" lIns="0" tIns="0" rIns="0" bIns="0" rtlCol="0" anchor="ctr"/>
          <a:lstStyle/>
          <a:p>
            <a:pPr marL="342900" indent="-342900">
              <a:lnSpc>
                <a:spcPts val="1800"/>
              </a:lnSpc>
              <a:spcAft>
                <a:spcPts val="800"/>
              </a:spcAft>
              <a:buSzPct val="100000"/>
              <a:buChar char="•"/>
            </a:pPr>
            <a:r>
              <a:rPr lang="en-US" sz="1300" dirty="0">
                <a:solidFill>
                  <a:srgbClr val="14302B"/>
                </a:solidFill>
                <a:latin typeface="Calibri" pitchFamily="34" charset="0"/>
                <a:ea typeface="Calibri" pitchFamily="34" charset="-122"/>
                <a:cs typeface="Calibri" pitchFamily="34" charset="-120"/>
              </a:rPr>
              <a:t>Objektif</a:t>
            </a:r>
            <a:endParaRPr lang="en-US" sz="1300" dirty="0"/>
          </a:p>
          <a:p>
            <a:pPr marL="342900" indent="-342900">
              <a:lnSpc>
                <a:spcPts val="1800"/>
              </a:lnSpc>
              <a:spcAft>
                <a:spcPts val="800"/>
              </a:spcAft>
              <a:buSzPct val="100000"/>
              <a:buChar char="•"/>
            </a:pPr>
            <a:r>
              <a:rPr lang="en-US" sz="1300" dirty="0">
                <a:solidFill>
                  <a:srgbClr val="14302B"/>
                </a:solidFill>
                <a:latin typeface="Calibri" pitchFamily="34" charset="0"/>
                <a:ea typeface="Calibri" pitchFamily="34" charset="-122"/>
                <a:cs typeface="Calibri" pitchFamily="34" charset="-120"/>
              </a:rPr>
              <a:t>Dijalankan kader, bukan klinisi</a:t>
            </a:r>
            <a:endParaRPr lang="en-US" sz="1300" dirty="0"/>
          </a:p>
          <a:p>
            <a:pPr marL="342900" indent="-342900">
              <a:lnSpc>
                <a:spcPts val="1800"/>
              </a:lnSpc>
              <a:spcAft>
                <a:spcPts val="800"/>
              </a:spcAft>
              <a:buSzPct val="100000"/>
              <a:buChar char="•"/>
            </a:pPr>
            <a:r>
              <a:rPr lang="en-US" sz="1300" dirty="0">
                <a:solidFill>
                  <a:srgbClr val="14302B"/>
                </a:solidFill>
                <a:latin typeface="Calibri" pitchFamily="34" charset="0"/>
                <a:ea typeface="Calibri" pitchFamily="34" charset="-122"/>
                <a:cs typeface="Calibri" pitchFamily="34" charset="-120"/>
              </a:rPr>
              <a:t>Tablet Android biasa, luring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E1B"/>
        </a:solidFill>
      </p:bgPr>
    </p:bg>
    <p:spTree>
      <p:nvGrpSpPr>
        <p:cNvPr id="1" name=""/>
        <p:cNvGrpSpPr/>
        <p:nvPr/>
      </p:nvGrpSpPr>
      <p:grpSpPr>
        <a:xfrm>
          <a:off x="0" y="0"/>
          <a:ext cx="0" cy="0"/>
          <a:chOff x="0" y="0"/>
          <a:chExt cx="0" cy="0"/>
        </a:xfrm>
      </p:grpSpPr>
      <p:sp>
        <p:nvSpPr>
          <p:cNvPr id="2" name="Shape 0"/>
          <p:cNvSpPr/>
          <p:nvPr/>
        </p:nvSpPr>
        <p:spPr>
          <a:xfrm>
            <a:off x="685800" y="1234440"/>
            <a:ext cx="310896" cy="310896"/>
          </a:xfrm>
          <a:prstGeom prst="ellipse">
            <a:avLst/>
          </a:prstGeom>
          <a:solidFill>
            <a:srgbClr val="FFFFFF">
              <a:alpha val="0"/>
            </a:srgbClr>
          </a:solidFill>
          <a:ln w="25400">
            <a:solidFill>
              <a:srgbClr val="5CB9A3"/>
            </a:solidFill>
            <a:prstDash val="solid"/>
          </a:ln>
        </p:spPr>
      </p:sp>
      <p:sp>
        <p:nvSpPr>
          <p:cNvPr id="3" name="Shape 1"/>
          <p:cNvSpPr/>
          <p:nvPr/>
        </p:nvSpPr>
        <p:spPr>
          <a:xfrm>
            <a:off x="779069" y="1327709"/>
            <a:ext cx="124358" cy="124358"/>
          </a:xfrm>
          <a:prstGeom prst="ellipse">
            <a:avLst/>
          </a:prstGeom>
          <a:solidFill>
            <a:srgbClr val="5CB9A3"/>
          </a:solidFill>
          <a:ln w="12700">
            <a:solidFill>
              <a:srgbClr val="333333"/>
            </a:solidFill>
            <a:prstDash val="solid"/>
          </a:ln>
        </p:spPr>
      </p:sp>
      <p:sp>
        <p:nvSpPr>
          <p:cNvPr id="4" name="Text 2"/>
          <p:cNvSpPr/>
          <p:nvPr/>
        </p:nvSpPr>
        <p:spPr>
          <a:xfrm>
            <a:off x="685800" y="1737360"/>
            <a:ext cx="10820095" cy="548640"/>
          </a:xfrm>
          <a:prstGeom prst="rect">
            <a:avLst/>
          </a:prstGeom>
          <a:noFill/>
          <a:ln/>
        </p:spPr>
        <p:txBody>
          <a:bodyPr wrap="square" lIns="0" tIns="0" rIns="0" bIns="0" rtlCol="0" anchor="ctr"/>
          <a:lstStyle/>
          <a:p>
            <a:pPr indent="0" marL="0">
              <a:buNone/>
            </a:pPr>
            <a:r>
              <a:rPr lang="en-US" sz="1400" b="1" spc="160" kern="0" dirty="0">
                <a:solidFill>
                  <a:srgbClr val="5CB9A3"/>
                </a:solidFill>
                <a:latin typeface="Calibri" pitchFamily="34" charset="0"/>
                <a:ea typeface="Calibri" pitchFamily="34" charset="-122"/>
                <a:cs typeface="Calibri" pitchFamily="34" charset="-120"/>
              </a:rPr>
              <a:t>Demonstrasi</a:t>
            </a:r>
            <a:endParaRPr lang="en-US" sz="1400" dirty="0"/>
          </a:p>
        </p:txBody>
      </p:sp>
      <p:sp>
        <p:nvSpPr>
          <p:cNvPr id="5" name="Text 3"/>
          <p:cNvSpPr/>
          <p:nvPr/>
        </p:nvSpPr>
        <p:spPr>
          <a:xfrm>
            <a:off x="685800" y="2240280"/>
            <a:ext cx="9692640" cy="128016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Bagaimana kalau alat ini cuma merujuk semua orang?</a:t>
            </a:r>
            <a:endParaRPr lang="en-US" sz="4000" dirty="0"/>
          </a:p>
        </p:txBody>
      </p:sp>
      <p:sp>
        <p:nvSpPr>
          <p:cNvPr id="6" name="Text 4"/>
          <p:cNvSpPr/>
          <p:nvPr/>
        </p:nvSpPr>
        <p:spPr>
          <a:xfrm>
            <a:off x="685800" y="3749040"/>
            <a:ext cx="9326880" cy="914400"/>
          </a:xfrm>
          <a:prstGeom prst="rect">
            <a:avLst/>
          </a:prstGeom>
          <a:noFill/>
          <a:ln/>
        </p:spPr>
        <p:txBody>
          <a:bodyPr wrap="square" lIns="0" tIns="0" rIns="0" bIns="0" rtlCol="0" anchor="ctr"/>
          <a:lstStyle/>
          <a:p>
            <a:pPr indent="0" marL="0">
              <a:lnSpc>
                <a:spcPts val="2700"/>
              </a:lnSpc>
              <a:buNone/>
            </a:pPr>
            <a:r>
              <a:rPr lang="en-US" sz="1700" dirty="0">
                <a:solidFill>
                  <a:srgbClr val="B7D2CA"/>
                </a:solidFill>
                <a:latin typeface="Calibri" pitchFamily="34" charset="0"/>
                <a:ea typeface="Calibri" pitchFamily="34" charset="-122"/>
                <a:cs typeface="Calibri" pitchFamily="34" charset="-120"/>
              </a:rPr>
              <a:t>Alat yang selalu bilang “periksa lebih lanjut” akan lolos demo mana pun tanpa mengukur apa pun.</a:t>
            </a:r>
            <a:endParaRPr lang="en-US" sz="1700" dirty="0"/>
          </a:p>
          <a:p>
            <a:pPr indent="0" marL="0">
              <a:lnSpc>
                <a:spcPts val="2700"/>
              </a:lnSpc>
              <a:buNone/>
            </a:pPr>
            <a:r>
              <a:rPr lang="en-US" sz="1700" dirty="0">
                <a:solidFill>
                  <a:srgbClr val="B7D2CA"/>
                </a:solidFill>
                <a:latin typeface="Calibri" pitchFamily="34" charset="0"/>
                <a:ea typeface="Calibri" pitchFamily="34" charset="-122"/>
                <a:cs typeface="Calibri" pitchFamily="34" charset="-120"/>
              </a:rPr>
              <a:t>Jadi jawabannya bukan satu sesi yang berhasil. Jawabannya dua kondisi, berdampingan, dari 15 sesi yang sudah direkam.</a:t>
            </a:r>
            <a:endParaRPr lang="en-US" sz="1700" dirty="0"/>
          </a:p>
        </p:txBody>
      </p:sp>
      <p:sp>
        <p:nvSpPr>
          <p:cNvPr id="7" name="Text 5"/>
          <p:cNvSpPr/>
          <p:nvPr/>
        </p:nvSpPr>
        <p:spPr>
          <a:xfrm>
            <a:off x="685800" y="5852160"/>
            <a:ext cx="10820095" cy="310896"/>
          </a:xfrm>
          <a:prstGeom prst="rect">
            <a:avLst/>
          </a:prstGeom>
          <a:noFill/>
          <a:ln/>
        </p:spPr>
        <p:txBody>
          <a:bodyPr wrap="square" lIns="0" tIns="0" rIns="0" bIns="0" rtlCol="0" anchor="ctr"/>
          <a:lstStyle/>
          <a:p>
            <a:pPr indent="0" marL="0">
              <a:buNone/>
            </a:pPr>
            <a:r>
              <a:rPr lang="en-US" sz="1300" b="1" dirty="0">
                <a:solidFill>
                  <a:srgbClr val="5CB9A3"/>
                </a:solidFill>
                <a:latin typeface="Calibri" pitchFamily="34" charset="0"/>
                <a:ea typeface="Calibri" pitchFamily="34" charset="-122"/>
                <a:cs typeface="Calibri" pitchFamily="34" charset="-120"/>
              </a:rPr>
              <a:t>Layar perbandingan  ·  lalu satu sesi kamera langsung  ·  pipeline yang sama persis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8"/>
        </a:solidFill>
      </p:bgPr>
    </p:bg>
    <p:spTree>
      <p:nvGrpSpPr>
        <p:cNvPr id="1" name=""/>
        <p:cNvGrpSpPr/>
        <p:nvPr/>
      </p:nvGrpSpPr>
      <p:grpSpPr>
        <a:xfrm>
          <a:off x="0" y="0"/>
          <a:ext cx="0" cy="0"/>
          <a:chOff x="0" y="0"/>
          <a:chExt cx="0" cy="0"/>
        </a:xfrm>
      </p:grpSpPr>
      <p:sp>
        <p:nvSpPr>
          <p:cNvPr id="2" name="Shape 0"/>
          <p:cNvSpPr/>
          <p:nvPr/>
        </p:nvSpPr>
        <p:spPr>
          <a:xfrm>
            <a:off x="11268151" y="740664"/>
            <a:ext cx="237744" cy="237744"/>
          </a:xfrm>
          <a:prstGeom prst="ellipse">
            <a:avLst/>
          </a:prstGeom>
          <a:solidFill>
            <a:srgbClr val="FFFFFF">
              <a:alpha val="0"/>
            </a:srgbClr>
          </a:solidFill>
          <a:ln w="25400">
            <a:solidFill>
              <a:srgbClr val="5CB9A3"/>
            </a:solidFill>
            <a:prstDash val="solid"/>
          </a:ln>
        </p:spPr>
      </p:sp>
      <p:sp>
        <p:nvSpPr>
          <p:cNvPr id="3" name="Shape 1"/>
          <p:cNvSpPr/>
          <p:nvPr/>
        </p:nvSpPr>
        <p:spPr>
          <a:xfrm>
            <a:off x="11339474" y="811987"/>
            <a:ext cx="95098" cy="95098"/>
          </a:xfrm>
          <a:prstGeom prst="ellipse">
            <a:avLst/>
          </a:prstGeom>
          <a:solidFill>
            <a:srgbClr val="5CB9A3"/>
          </a:solidFill>
          <a:ln w="12700">
            <a:solidFill>
              <a:srgbClr val="333333"/>
            </a:solidFill>
            <a:prstDash val="solid"/>
          </a:ln>
        </p:spPr>
      </p:sp>
      <p:sp>
        <p:nvSpPr>
          <p:cNvPr id="4" name="Text 2"/>
          <p:cNvSpPr/>
          <p:nvPr/>
        </p:nvSpPr>
        <p:spPr>
          <a:xfrm>
            <a:off x="685800" y="685800"/>
            <a:ext cx="10271455" cy="256032"/>
          </a:xfrm>
          <a:prstGeom prst="rect">
            <a:avLst/>
          </a:prstGeom>
          <a:noFill/>
          <a:ln/>
        </p:spPr>
        <p:txBody>
          <a:bodyPr wrap="square" lIns="0" tIns="0" rIns="0" bIns="0" rtlCol="0" anchor="ctr"/>
          <a:lstStyle/>
          <a:p>
            <a:pPr indent="0" marL="0">
              <a:buNone/>
            </a:pPr>
            <a:r>
              <a:rPr lang="en-US" sz="1200" b="1" spc="120" kern="0" dirty="0">
                <a:solidFill>
                  <a:srgbClr val="0D8271"/>
                </a:solidFill>
                <a:latin typeface="Calibri" pitchFamily="34" charset="0"/>
                <a:ea typeface="Calibri" pitchFamily="34" charset="-122"/>
                <a:cs typeface="Calibri" pitchFamily="34" charset="-120"/>
              </a:rPr>
              <a:t>Kontrol positif · 19 Agustus 2026</a:t>
            </a:r>
            <a:endParaRPr lang="en-US" sz="1200" dirty="0"/>
          </a:p>
        </p:txBody>
      </p:sp>
      <p:sp>
        <p:nvSpPr>
          <p:cNvPr id="5" name="Text 3"/>
          <p:cNvSpPr/>
          <p:nvPr/>
        </p:nvSpPr>
        <p:spPr>
          <a:xfrm>
            <a:off x="685800" y="996696"/>
            <a:ext cx="10271455" cy="822960"/>
          </a:xfrm>
          <a:prstGeom prst="rect">
            <a:avLst/>
          </a:prstGeom>
          <a:noFill/>
          <a:ln/>
        </p:spPr>
        <p:txBody>
          <a:bodyPr wrap="square" lIns="0" tIns="0" rIns="0" bIns="0" rtlCol="0" anchor="ctr"/>
          <a:lstStyle/>
          <a:p>
            <a:pPr indent="0" marL="0">
              <a:lnSpc>
                <a:spcPts val="3600"/>
              </a:lnSpc>
              <a:buNone/>
            </a:pPr>
            <a:r>
              <a:rPr lang="en-US" sz="3200" b="1" dirty="0">
                <a:solidFill>
                  <a:srgbClr val="0B1E1B"/>
                </a:solidFill>
                <a:latin typeface="Cambria" pitchFamily="34" charset="0"/>
                <a:ea typeface="Cambria" pitchFamily="34" charset="-122"/>
                <a:cs typeface="Cambria" pitchFamily="34" charset="-120"/>
              </a:rPr>
              <a:t>Instrumennya merespons — dan menahan diri</a:t>
            </a:r>
            <a:endParaRPr lang="en-US" sz="3200" dirty="0"/>
          </a:p>
        </p:txBody>
      </p:sp>
      <p:sp>
        <p:nvSpPr>
          <p:cNvPr id="6" name="Shape 4"/>
          <p:cNvSpPr/>
          <p:nvPr/>
        </p:nvSpPr>
        <p:spPr>
          <a:xfrm>
            <a:off x="685800" y="2103120"/>
            <a:ext cx="3200400" cy="3108960"/>
          </a:xfrm>
          <a:prstGeom prst="roundRect">
            <a:avLst>
              <a:gd name="adj" fmla="val 1765"/>
            </a:avLst>
          </a:prstGeom>
          <a:solidFill>
            <a:srgbClr val="E4F2EE"/>
          </a:solidFill>
          <a:ln w="12700">
            <a:solidFill>
              <a:srgbClr val="E4F2EE"/>
            </a:solidFill>
            <a:prstDash val="solid"/>
          </a:ln>
        </p:spPr>
      </p:sp>
      <p:sp>
        <p:nvSpPr>
          <p:cNvPr id="7" name="Text 5"/>
          <p:cNvSpPr/>
          <p:nvPr/>
        </p:nvSpPr>
        <p:spPr>
          <a:xfrm>
            <a:off x="978408" y="2377440"/>
            <a:ext cx="2651760" cy="678426"/>
          </a:xfrm>
          <a:prstGeom prst="rect">
            <a:avLst/>
          </a:prstGeom>
          <a:noFill/>
          <a:ln/>
        </p:spPr>
        <p:txBody>
          <a:bodyPr wrap="square" lIns="0" tIns="0" rIns="0" bIns="0" rtlCol="0" anchor="ctr"/>
          <a:lstStyle/>
          <a:p>
            <a:pPr indent="0" marL="0">
              <a:lnSpc>
                <a:spcPts val="4600"/>
              </a:lnSpc>
              <a:buNone/>
            </a:pPr>
            <a:r>
              <a:rPr lang="en-US" sz="4600" b="1" dirty="0">
                <a:solidFill>
                  <a:srgbClr val="0D8271"/>
                </a:solidFill>
                <a:latin typeface="Cambria" pitchFamily="34" charset="0"/>
                <a:ea typeface="Cambria" pitchFamily="34" charset="-122"/>
                <a:cs typeface="Cambria" pitchFamily="34" charset="-120"/>
              </a:rPr>
              <a:t>0 / 9</a:t>
            </a:r>
            <a:endParaRPr lang="en-US" sz="4600" dirty="0"/>
          </a:p>
        </p:txBody>
      </p:sp>
      <p:sp>
        <p:nvSpPr>
          <p:cNvPr id="8" name="Text 6"/>
          <p:cNvSpPr/>
          <p:nvPr/>
        </p:nvSpPr>
        <p:spPr>
          <a:xfrm>
            <a:off x="978408" y="3110730"/>
            <a:ext cx="2651760" cy="274320"/>
          </a:xfrm>
          <a:prstGeom prst="rect">
            <a:avLst/>
          </a:prstGeom>
          <a:noFill/>
          <a:ln/>
        </p:spPr>
        <p:txBody>
          <a:bodyPr wrap="square" lIns="0" tIns="0" rIns="0" bIns="0" rtlCol="0" anchor="ctr"/>
          <a:lstStyle/>
          <a:p>
            <a:pPr indent="0" marL="0">
              <a:buNone/>
            </a:pPr>
            <a:r>
              <a:rPr lang="en-US" sz="1400" b="1" dirty="0">
                <a:solidFill>
                  <a:srgbClr val="14302B"/>
                </a:solidFill>
                <a:latin typeface="Calibri" pitchFamily="34" charset="0"/>
                <a:ea typeface="Calibri" pitchFamily="34" charset="-122"/>
                <a:cs typeface="Calibri" pitchFamily="34" charset="-120"/>
              </a:rPr>
              <a:t>sesi menonton biasa</a:t>
            </a:r>
            <a:endParaRPr lang="en-US" sz="1400" dirty="0"/>
          </a:p>
        </p:txBody>
      </p:sp>
      <p:sp>
        <p:nvSpPr>
          <p:cNvPr id="9" name="Text 7"/>
          <p:cNvSpPr/>
          <p:nvPr/>
        </p:nvSpPr>
        <p:spPr>
          <a:xfrm>
            <a:off x="978408" y="3421626"/>
            <a:ext cx="2651760" cy="640080"/>
          </a:xfrm>
          <a:prstGeom prst="rect">
            <a:avLst/>
          </a:prstGeom>
          <a:noFill/>
          <a:ln/>
        </p:spPr>
        <p:txBody>
          <a:bodyPr wrap="square" lIns="0" tIns="0" rIns="0" bIns="0" rtlCol="0" anchor="ctr"/>
          <a:lstStyle/>
          <a:p>
            <a:pPr indent="0" marL="0">
              <a:lnSpc>
                <a:spcPts val="1500"/>
              </a:lnSpc>
              <a:buNone/>
            </a:pPr>
            <a:r>
              <a:rPr lang="en-US" sz="1200" dirty="0">
                <a:solidFill>
                  <a:srgbClr val="4A635D"/>
                </a:solidFill>
                <a:latin typeface="Calibri" pitchFamily="34" charset="0"/>
                <a:ea typeface="Calibri" pitchFamily="34" charset="-122"/>
                <a:cs typeface="Calibri" pitchFamily="34" charset="-120"/>
              </a:rPr>
              <a:t>Aturan komposit tidak menyala pada satu pun orang yang sekadar menonton.</a:t>
            </a:r>
            <a:endParaRPr lang="en-US" sz="1200" dirty="0"/>
          </a:p>
        </p:txBody>
      </p:sp>
      <p:sp>
        <p:nvSpPr>
          <p:cNvPr id="10" name="Text 8"/>
          <p:cNvSpPr/>
          <p:nvPr/>
        </p:nvSpPr>
        <p:spPr>
          <a:xfrm>
            <a:off x="978408" y="4224528"/>
            <a:ext cx="2651760" cy="457200"/>
          </a:xfrm>
          <a:prstGeom prst="rect">
            <a:avLst/>
          </a:prstGeom>
          <a:noFill/>
          <a:ln/>
        </p:spPr>
        <p:txBody>
          <a:bodyPr wrap="square" lIns="0" tIns="0" rIns="0" bIns="0" rtlCol="0" anchor="ctr"/>
          <a:lstStyle/>
          <a:p>
            <a:pPr indent="0" marL="0">
              <a:lnSpc>
                <a:spcPts val="1600"/>
              </a:lnSpc>
              <a:buNone/>
            </a:pPr>
            <a:r>
              <a:rPr lang="en-US" sz="1200" dirty="0">
                <a:solidFill>
                  <a:srgbClr val="4A635D"/>
                </a:solidFill>
                <a:latin typeface="Calibri" pitchFamily="34" charset="0"/>
                <a:ea typeface="Calibri" pitchFamily="34" charset="-122"/>
                <a:cs typeface="Calibri" pitchFamily="34" charset="-120"/>
              </a:rPr>
              <a:t>Menyala 4 dari 6 sesi pola diproduksi yang dapat dipakai.</a:t>
            </a:r>
            <a:endParaRPr lang="en-US" sz="1200" dirty="0"/>
          </a:p>
        </p:txBody>
      </p:sp>
      <p:sp>
        <p:nvSpPr>
          <p:cNvPr id="11" name="Text 9"/>
          <p:cNvSpPr/>
          <p:nvPr/>
        </p:nvSpPr>
        <p:spPr>
          <a:xfrm>
            <a:off x="978408" y="4709160"/>
            <a:ext cx="2651760" cy="685800"/>
          </a:xfrm>
          <a:prstGeom prst="rect">
            <a:avLst/>
          </a:prstGeom>
          <a:noFill/>
          <a:ln/>
        </p:spPr>
        <p:txBody>
          <a:bodyPr wrap="square" lIns="0" tIns="0" rIns="0" bIns="0" rtlCol="0" anchor="ctr"/>
          <a:lstStyle/>
          <a:p>
            <a:pPr indent="0" marL="0">
              <a:lnSpc>
                <a:spcPts val="1400"/>
              </a:lnSpc>
              <a:buNone/>
            </a:pPr>
            <a:r>
              <a:rPr lang="en-US" sz="1050" b="1" dirty="0">
                <a:solidFill>
                  <a:srgbClr val="14302B"/>
                </a:solidFill>
                <a:latin typeface="Calibri" pitchFamily="34" charset="0"/>
                <a:ea typeface="Calibri" pitchFamily="34" charset="-122"/>
                <a:cs typeface="Calibri" pitchFamily="34" charset="-120"/>
              </a:rPr>
              <a:t>12 peserta · 23 sesi direkam · 15 lulus mutu · 3 perangkat</a:t>
            </a:r>
            <a:endParaRPr lang="en-US" sz="1050" dirty="0"/>
          </a:p>
          <a:p>
            <a:pPr indent="0" marL="0">
              <a:lnSpc>
                <a:spcPts val="1400"/>
              </a:lnSpc>
              <a:buNone/>
            </a:pPr>
            <a:r>
              <a:rPr lang="en-US" sz="1050" b="1" dirty="0">
                <a:solidFill>
                  <a:srgbClr val="14302B"/>
                </a:solidFill>
                <a:latin typeface="Calibri" pitchFamily="34" charset="0"/>
                <a:ea typeface="Calibri" pitchFamily="34" charset="-122"/>
                <a:cs typeface="Calibri" pitchFamily="34" charset="-120"/>
              </a:rPr>
              <a:t>Dapat dipakai: 9 dari 11 biasa, 6 dari 12 pola diproduksi</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251960" y="2286000"/>
          <a:ext cx="7223760" cy="914400"/>
        </p:xfrm>
        <a:graphic>
          <a:graphicData uri="http://schemas.openxmlformats.org/drawingml/2006/table">
            <a:tbl>
              <a:tblPr/>
              <a:tblGrid>
                <a:gridCol w="2560320"/>
                <a:gridCol w="1600200"/>
                <a:gridCol w="1600200"/>
                <a:gridCol w="1463040"/>
              </a:tblGrid>
              <a:tr h="402336">
                <a:tc>
                  <a:txBody>
                    <a:bodyPr/>
                    <a:lstStyle/>
                    <a:p>
                      <a:pPr indent="0" marL="0">
                        <a:buNone/>
                      </a:pPr>
                      <a:r>
                        <a:rPr lang="en-US" sz="1300" b="1" dirty="0">
                          <a:solidFill>
                            <a:srgbClr val="14302B"/>
                          </a:solidFill>
                          <a:latin typeface="Calibri" pitchFamily="34" charset="0"/>
                          <a:ea typeface="Calibri" pitchFamily="34" charset="-122"/>
                          <a:cs typeface="Calibri" pitchFamily="34" charset="-120"/>
                        </a:rPr>
                        <a:t>Sinyal</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b="1" dirty="0">
                          <a:solidFill>
                            <a:srgbClr val="14302B"/>
                          </a:solidFill>
                          <a:latin typeface="Calibri" pitchFamily="34" charset="0"/>
                          <a:ea typeface="Calibri" pitchFamily="34" charset="-122"/>
                          <a:cs typeface="Calibri" pitchFamily="34" charset="-120"/>
                        </a:rPr>
                        <a:t>Menonton biasa</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b="1" dirty="0">
                          <a:solidFill>
                            <a:srgbClr val="14302B"/>
                          </a:solidFill>
                          <a:latin typeface="Calibri" pitchFamily="34" charset="0"/>
                          <a:ea typeface="Calibri" pitchFamily="34" charset="-122"/>
                          <a:cs typeface="Calibri" pitchFamily="34" charset="-120"/>
                        </a:rPr>
                        <a:t>Pola diproduksi</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b="1" dirty="0">
                          <a:solidFill>
                            <a:srgbClr val="14302B"/>
                          </a:solidFill>
                          <a:latin typeface="Calibri" pitchFamily="34" charset="0"/>
                          <a:ea typeface="Calibri" pitchFamily="34" charset="-122"/>
                          <a:cs typeface="Calibri" pitchFamily="34" charset="-120"/>
                        </a:rPr>
                        <a:t>Jarak terdekat</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Preferensi geometrik</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0,34</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0,94</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+0,16</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Percobaan masuk target</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8 dari 8</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0 dari 8</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4 percobaan</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Sebaran tatapan isyarat</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0,31</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0,05</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+0,008</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r>
            </a:tbl>
          </a:graphicData>
        </a:graphic>
      </p:graphicFrame>
      <p:sp>
        <p:nvSpPr>
          <p:cNvPr id="13" name="Text 10"/>
          <p:cNvSpPr/>
          <p:nvPr/>
        </p:nvSpPr>
        <p:spPr>
          <a:xfrm>
            <a:off x="4251960" y="4160520"/>
            <a:ext cx="7223760" cy="731520"/>
          </a:xfrm>
          <a:prstGeom prst="rect">
            <a:avLst/>
          </a:prstGeom>
          <a:noFill/>
          <a:ln/>
        </p:spPr>
        <p:txBody>
          <a:bodyPr wrap="square" lIns="0" tIns="0" rIns="0" bIns="0" rtlCol="0" anchor="ctr"/>
          <a:lstStyle/>
          <a:p>
            <a:pPr indent="0" marL="0">
              <a:lnSpc>
                <a:spcPts val="1700"/>
              </a:lnSpc>
              <a:buNone/>
            </a:pPr>
            <a:r>
              <a:rPr lang="en-US" sz="1250" dirty="0">
                <a:solidFill>
                  <a:srgbClr val="4A635D"/>
                </a:solidFill>
                <a:latin typeface="Calibri" pitchFamily="34" charset="0"/>
                <a:ea typeface="Calibri" pitchFamily="34" charset="-122"/>
                <a:cs typeface="Calibri" pitchFamily="34" charset="-120"/>
              </a:rPr>
              <a:t>Kolom yang penting adalah jarak terdekat, bukan AUC. Ketiganya ber-AUC 1,00 — tetapi itu hanya berarti tidak ada pasangan yang tertukar urutannya. Sesi biasa tertinggi ada di 0,73; sesi produksi terendah di 0,89.</a:t>
            </a:r>
            <a:endParaRPr lang="en-US" sz="1250" dirty="0"/>
          </a:p>
        </p:txBody>
      </p:sp>
      <p:sp>
        <p:nvSpPr>
          <p:cNvPr id="14" name="Shape 11"/>
          <p:cNvSpPr/>
          <p:nvPr/>
        </p:nvSpPr>
        <p:spPr>
          <a:xfrm>
            <a:off x="4251960" y="4983480"/>
            <a:ext cx="7223760" cy="658368"/>
          </a:xfrm>
          <a:prstGeom prst="roundRect">
            <a:avLst>
              <a:gd name="adj" fmla="val 8333"/>
            </a:avLst>
          </a:prstGeom>
          <a:solidFill>
            <a:srgbClr val="FBEAE5"/>
          </a:solidFill>
          <a:ln w="12700">
            <a:solidFill>
              <a:srgbClr val="FBEAE5"/>
            </a:solidFill>
            <a:prstDash val="solid"/>
          </a:ln>
        </p:spPr>
      </p:sp>
      <p:sp>
        <p:nvSpPr>
          <p:cNvPr id="15" name="Text 12"/>
          <p:cNvSpPr/>
          <p:nvPr/>
        </p:nvSpPr>
        <p:spPr>
          <a:xfrm>
            <a:off x="4480560" y="5120640"/>
            <a:ext cx="6766560" cy="411480"/>
          </a:xfrm>
          <a:prstGeom prst="rect">
            <a:avLst/>
          </a:prstGeom>
          <a:noFill/>
          <a:ln/>
        </p:spPr>
        <p:txBody>
          <a:bodyPr wrap="square" lIns="0" tIns="0" rIns="0" bIns="0" rtlCol="0" anchor="ctr"/>
          <a:lstStyle/>
          <a:p>
            <a:pPr indent="0" marL="0">
              <a:lnSpc>
                <a:spcPts val="1600"/>
              </a:lnSpc>
              <a:buNone/>
            </a:pPr>
            <a:r>
              <a:rPr lang="en-US" sz="1250" b="1" dirty="0">
                <a:solidFill>
                  <a:srgbClr val="B1442C"/>
                </a:solidFill>
                <a:latin typeface="Calibri" pitchFamily="34" charset="0"/>
                <a:ea typeface="Calibri" pitchFamily="34" charset="-122"/>
                <a:cs typeface="Calibri" pitchFamily="34" charset="-120"/>
              </a:rPr>
              <a:t>Yang ini tidak membuktikan apa pun tentang autisme. Pesertanya orang dewasa yang mengikuti naskah — tidak ada sensitivitas, spesifisitas, atau akurasi di dalamnya.</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E1B"/>
        </a:solidFill>
      </p:bgPr>
    </p:bg>
    <p:spTree>
      <p:nvGrpSpPr>
        <p:cNvPr id="1" name=""/>
        <p:cNvGrpSpPr/>
        <p:nvPr/>
      </p:nvGrpSpPr>
      <p:grpSpPr>
        <a:xfrm>
          <a:off x="0" y="0"/>
          <a:ext cx="0" cy="0"/>
          <a:chOff x="0" y="0"/>
          <a:chExt cx="0" cy="0"/>
        </a:xfrm>
      </p:grpSpPr>
      <p:sp>
        <p:nvSpPr>
          <p:cNvPr id="2" name="Shape 0"/>
          <p:cNvSpPr/>
          <p:nvPr/>
        </p:nvSpPr>
        <p:spPr>
          <a:xfrm>
            <a:off x="11268151" y="740664"/>
            <a:ext cx="237744" cy="237744"/>
          </a:xfrm>
          <a:prstGeom prst="ellipse">
            <a:avLst/>
          </a:prstGeom>
          <a:solidFill>
            <a:srgbClr val="FFFFFF">
              <a:alpha val="0"/>
            </a:srgbClr>
          </a:solidFill>
          <a:ln w="25400">
            <a:solidFill>
              <a:srgbClr val="5CB9A3"/>
            </a:solidFill>
            <a:prstDash val="solid"/>
          </a:ln>
        </p:spPr>
      </p:sp>
      <p:sp>
        <p:nvSpPr>
          <p:cNvPr id="3" name="Shape 1"/>
          <p:cNvSpPr/>
          <p:nvPr/>
        </p:nvSpPr>
        <p:spPr>
          <a:xfrm>
            <a:off x="11339474" y="811987"/>
            <a:ext cx="95098" cy="95098"/>
          </a:xfrm>
          <a:prstGeom prst="ellipse">
            <a:avLst/>
          </a:prstGeom>
          <a:solidFill>
            <a:srgbClr val="5CB9A3"/>
          </a:solidFill>
          <a:ln w="12700">
            <a:solidFill>
              <a:srgbClr val="333333"/>
            </a:solidFill>
            <a:prstDash val="solid"/>
          </a:ln>
        </p:spPr>
      </p:sp>
      <p:sp>
        <p:nvSpPr>
          <p:cNvPr id="4" name="Text 2"/>
          <p:cNvSpPr/>
          <p:nvPr/>
        </p:nvSpPr>
        <p:spPr>
          <a:xfrm>
            <a:off x="685800" y="685800"/>
            <a:ext cx="10271455" cy="274320"/>
          </a:xfrm>
          <a:prstGeom prst="rect">
            <a:avLst/>
          </a:prstGeom>
          <a:noFill/>
          <a:ln/>
        </p:spPr>
        <p:txBody>
          <a:bodyPr wrap="square" lIns="0" tIns="0" rIns="0" bIns="0" rtlCol="0" anchor="ctr"/>
          <a:lstStyle/>
          <a:p>
            <a:pPr indent="0" marL="0">
              <a:buNone/>
            </a:pPr>
            <a:r>
              <a:rPr lang="en-US" sz="1200" b="1" spc="120" kern="0" dirty="0">
                <a:solidFill>
                  <a:srgbClr val="5CB9A3"/>
                </a:solidFill>
                <a:latin typeface="Calibri" pitchFamily="34" charset="0"/>
                <a:ea typeface="Calibri" pitchFamily="34" charset="-122"/>
                <a:cs typeface="Calibri" pitchFamily="34" charset="-120"/>
              </a:rPr>
              <a:t>Arsitektur inferensi bergerbang</a:t>
            </a:r>
            <a:endParaRPr lang="en-US" sz="1200" dirty="0"/>
          </a:p>
        </p:txBody>
      </p:sp>
      <p:sp>
        <p:nvSpPr>
          <p:cNvPr id="5" name="Text 3"/>
          <p:cNvSpPr/>
          <p:nvPr/>
        </p:nvSpPr>
        <p:spPr>
          <a:xfrm>
            <a:off x="685800" y="1033272"/>
            <a:ext cx="10241280" cy="5029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Kami tidak membangun satu model yang menebak autisme.</a:t>
            </a:r>
            <a:endParaRPr lang="en-US" sz="3000" dirty="0"/>
          </a:p>
        </p:txBody>
      </p:sp>
      <p:sp>
        <p:nvSpPr>
          <p:cNvPr id="6" name="Text 4"/>
          <p:cNvSpPr/>
          <p:nvPr/>
        </p:nvSpPr>
        <p:spPr>
          <a:xfrm>
            <a:off x="685800" y="1463040"/>
            <a:ext cx="10058400" cy="640080"/>
          </a:xfrm>
          <a:prstGeom prst="rect">
            <a:avLst/>
          </a:prstGeom>
          <a:noFill/>
          <a:ln/>
        </p:spPr>
        <p:txBody>
          <a:bodyPr wrap="square" lIns="0" tIns="0" rIns="0" bIns="0" rtlCol="0" anchor="ctr"/>
          <a:lstStyle/>
          <a:p>
            <a:pPr indent="0" marL="0">
              <a:lnSpc>
                <a:spcPts val="2300"/>
              </a:lnSpc>
              <a:buNone/>
            </a:pPr>
            <a:r>
              <a:rPr lang="en-US" sz="1600" dirty="0">
                <a:solidFill>
                  <a:srgbClr val="A8C6BD"/>
                </a:solidFill>
                <a:latin typeface="Calibri" pitchFamily="34" charset="0"/>
                <a:ea typeface="Calibri" pitchFamily="34" charset="-122"/>
                <a:cs typeface="Calibri" pitchFamily="34" charset="-120"/>
              </a:rPr>
              <a:t>Kami membangun sistem yang menjalankan modelnya di perangkat, lalu memutuskan sendiri apakah keluaran model itu layak dibaca untuk anak yang sedang duduk di depannya.</a:t>
            </a:r>
            <a:endParaRPr lang="en-US" sz="1600" dirty="0"/>
          </a:p>
        </p:txBody>
      </p:sp>
      <p:sp>
        <p:nvSpPr>
          <p:cNvPr id="7" name="Shape 5"/>
          <p:cNvSpPr/>
          <p:nvPr/>
        </p:nvSpPr>
        <p:spPr>
          <a:xfrm>
            <a:off x="685800" y="2514600"/>
            <a:ext cx="2578608" cy="2606040"/>
          </a:xfrm>
          <a:prstGeom prst="roundRect">
            <a:avLst>
              <a:gd name="adj" fmla="val 2128"/>
            </a:avLst>
          </a:prstGeom>
          <a:solidFill>
            <a:srgbClr val="14302B"/>
          </a:solidFill>
          <a:ln w="12700">
            <a:solidFill>
              <a:srgbClr val="1E463D"/>
            </a:solidFill>
            <a:prstDash val="solid"/>
          </a:ln>
        </p:spPr>
      </p:sp>
      <p:sp>
        <p:nvSpPr>
          <p:cNvPr id="8" name="Text 6"/>
          <p:cNvSpPr/>
          <p:nvPr/>
        </p:nvSpPr>
        <p:spPr>
          <a:xfrm>
            <a:off x="923544" y="2743200"/>
            <a:ext cx="2103120" cy="310896"/>
          </a:xfrm>
          <a:prstGeom prst="rect">
            <a:avLst/>
          </a:prstGeom>
          <a:noFill/>
          <a:ln/>
        </p:spPr>
        <p:txBody>
          <a:bodyPr wrap="square" lIns="0" tIns="0" rIns="0" bIns="0" rtlCol="0" anchor="ctr"/>
          <a:lstStyle/>
          <a:p>
            <a:pPr indent="0" marL="0">
              <a:buNone/>
            </a:pPr>
            <a:r>
              <a:rPr lang="en-US" sz="1150" b="1" dirty="0">
                <a:solidFill>
                  <a:srgbClr val="5CB9A3"/>
                </a:solidFill>
                <a:latin typeface="Calibri" pitchFamily="34" charset="0"/>
                <a:ea typeface="Calibri" pitchFamily="34" charset="-122"/>
                <a:cs typeface="Calibri" pitchFamily="34" charset="-120"/>
              </a:rPr>
              <a:t>Saat merancang fitur</a:t>
            </a:r>
            <a:endParaRPr lang="en-US" sz="1150" dirty="0"/>
          </a:p>
        </p:txBody>
      </p:sp>
      <p:sp>
        <p:nvSpPr>
          <p:cNvPr id="9" name="Text 7"/>
          <p:cNvSpPr/>
          <p:nvPr/>
        </p:nvSpPr>
        <p:spPr>
          <a:xfrm>
            <a:off x="923544" y="3127248"/>
            <a:ext cx="2103120" cy="914400"/>
          </a:xfrm>
          <a:prstGeom prst="rect">
            <a:avLst/>
          </a:prstGeom>
          <a:noFill/>
          <a:ln/>
        </p:spPr>
        <p:txBody>
          <a:bodyPr wrap="square" lIns="0" tIns="0" rIns="0" bIns="0" rtlCol="0" anchor="ctr"/>
          <a:lstStyle/>
          <a:p>
            <a:pPr indent="0" marL="0">
              <a:lnSpc>
                <a:spcPts val="2000"/>
              </a:lnSpc>
              <a:buNone/>
            </a:pPr>
            <a:r>
              <a:rPr lang="en-US" sz="1550" b="1" dirty="0">
                <a:solidFill>
                  <a:srgbClr val="FFFFFF"/>
                </a:solidFill>
                <a:latin typeface="Cambria" pitchFamily="34" charset="0"/>
                <a:ea typeface="Cambria" pitchFamily="34" charset="-122"/>
                <a:cs typeface="Cambria" pitchFamily="34" charset="-120"/>
              </a:rPr>
              <a:t>Dipilih dengan pengukuran</a:t>
            </a:r>
            <a:endParaRPr lang="en-US" sz="1550" dirty="0"/>
          </a:p>
        </p:txBody>
      </p:sp>
      <p:sp>
        <p:nvSpPr>
          <p:cNvPr id="10" name="Text 8"/>
          <p:cNvSpPr/>
          <p:nvPr/>
        </p:nvSpPr>
        <p:spPr>
          <a:xfrm>
            <a:off x="923544" y="4114800"/>
            <a:ext cx="2103120" cy="868680"/>
          </a:xfrm>
          <a:prstGeom prst="rect">
            <a:avLst/>
          </a:prstGeom>
          <a:noFill/>
          <a:ln/>
        </p:spPr>
        <p:txBody>
          <a:bodyPr wrap="square" lIns="0" tIns="0" rIns="0" bIns="0" rtlCol="0" anchor="ctr"/>
          <a:lstStyle/>
          <a:p>
            <a:pPr indent="0" marL="0">
              <a:lnSpc>
                <a:spcPts val="1600"/>
              </a:lnSpc>
              <a:buNone/>
            </a:pPr>
            <a:r>
              <a:rPr lang="en-US" sz="1150" dirty="0">
                <a:solidFill>
                  <a:srgbClr val="9EBDB4"/>
                </a:solidFill>
                <a:latin typeface="Calibri" pitchFamily="34" charset="0"/>
                <a:ea typeface="Calibri" pitchFamily="34" charset="-122"/>
                <a:cs typeface="Calibri" pitchFamily="34" charset="-120"/>
              </a:rPr>
              <a:t>27 sesi didesimasi ke separuh laju kamera. Kinematik bergeser 69%, geometri 1,6%.</a:t>
            </a:r>
            <a:endParaRPr lang="en-US" sz="1150" dirty="0"/>
          </a:p>
        </p:txBody>
      </p:sp>
      <p:sp>
        <p:nvSpPr>
          <p:cNvPr id="11" name="Shape 9"/>
          <p:cNvSpPr/>
          <p:nvPr/>
        </p:nvSpPr>
        <p:spPr>
          <a:xfrm>
            <a:off x="3483864" y="2514600"/>
            <a:ext cx="2578608" cy="2606040"/>
          </a:xfrm>
          <a:prstGeom prst="roundRect">
            <a:avLst>
              <a:gd name="adj" fmla="val 2128"/>
            </a:avLst>
          </a:prstGeom>
          <a:solidFill>
            <a:srgbClr val="14302B"/>
          </a:solidFill>
          <a:ln w="12700">
            <a:solidFill>
              <a:srgbClr val="1E463D"/>
            </a:solidFill>
            <a:prstDash val="solid"/>
          </a:ln>
        </p:spPr>
      </p:sp>
      <p:sp>
        <p:nvSpPr>
          <p:cNvPr id="12" name="Text 10"/>
          <p:cNvSpPr/>
          <p:nvPr/>
        </p:nvSpPr>
        <p:spPr>
          <a:xfrm>
            <a:off x="3721608" y="2743200"/>
            <a:ext cx="2103120" cy="310896"/>
          </a:xfrm>
          <a:prstGeom prst="rect">
            <a:avLst/>
          </a:prstGeom>
          <a:noFill/>
          <a:ln/>
        </p:spPr>
        <p:txBody>
          <a:bodyPr wrap="square" lIns="0" tIns="0" rIns="0" bIns="0" rtlCol="0" anchor="ctr"/>
          <a:lstStyle/>
          <a:p>
            <a:pPr indent="0" marL="0">
              <a:buNone/>
            </a:pPr>
            <a:r>
              <a:rPr lang="en-US" sz="1150" b="1" dirty="0">
                <a:solidFill>
                  <a:srgbClr val="5CB9A3"/>
                </a:solidFill>
                <a:latin typeface="Calibri" pitchFamily="34" charset="0"/>
                <a:ea typeface="Calibri" pitchFamily="34" charset="-122"/>
                <a:cs typeface="Calibri" pitchFamily="34" charset="-120"/>
              </a:rPr>
              <a:t>Saat memilih model</a:t>
            </a:r>
            <a:endParaRPr lang="en-US" sz="1150" dirty="0"/>
          </a:p>
        </p:txBody>
      </p:sp>
      <p:sp>
        <p:nvSpPr>
          <p:cNvPr id="13" name="Text 11"/>
          <p:cNvSpPr/>
          <p:nvPr/>
        </p:nvSpPr>
        <p:spPr>
          <a:xfrm>
            <a:off x="3721608" y="3127248"/>
            <a:ext cx="2103120" cy="914400"/>
          </a:xfrm>
          <a:prstGeom prst="rect">
            <a:avLst/>
          </a:prstGeom>
          <a:noFill/>
          <a:ln/>
        </p:spPr>
        <p:txBody>
          <a:bodyPr wrap="square" lIns="0" tIns="0" rIns="0" bIns="0" rtlCol="0" anchor="ctr"/>
          <a:lstStyle/>
          <a:p>
            <a:pPr indent="0" marL="0">
              <a:lnSpc>
                <a:spcPts val="2000"/>
              </a:lnSpc>
              <a:buNone/>
            </a:pPr>
            <a:r>
              <a:rPr lang="en-US" sz="1550" b="1" dirty="0">
                <a:solidFill>
                  <a:srgbClr val="FFFFFF"/>
                </a:solidFill>
                <a:latin typeface="Cambria" pitchFamily="34" charset="0"/>
                <a:ea typeface="Cambria" pitchFamily="34" charset="-122"/>
                <a:cs typeface="Cambria" pitchFamily="34" charset="-120"/>
              </a:rPr>
              <a:t>Menjatuhkan model sendiri</a:t>
            </a:r>
            <a:endParaRPr lang="en-US" sz="1550" dirty="0"/>
          </a:p>
        </p:txBody>
      </p:sp>
      <p:sp>
        <p:nvSpPr>
          <p:cNvPr id="14" name="Text 12"/>
          <p:cNvSpPr/>
          <p:nvPr/>
        </p:nvSpPr>
        <p:spPr>
          <a:xfrm>
            <a:off x="3721608" y="4114800"/>
            <a:ext cx="2103120" cy="868680"/>
          </a:xfrm>
          <a:prstGeom prst="rect">
            <a:avLst/>
          </a:prstGeom>
          <a:noFill/>
          <a:ln/>
        </p:spPr>
        <p:txBody>
          <a:bodyPr wrap="square" lIns="0" tIns="0" rIns="0" bIns="0" rtlCol="0" anchor="ctr"/>
          <a:lstStyle/>
          <a:p>
            <a:pPr indent="0" marL="0">
              <a:lnSpc>
                <a:spcPts val="1600"/>
              </a:lnSpc>
              <a:buNone/>
            </a:pPr>
            <a:r>
              <a:rPr lang="en-US" sz="1150" dirty="0">
                <a:solidFill>
                  <a:srgbClr val="9EBDB4"/>
                </a:solidFill>
                <a:latin typeface="Calibri" pitchFamily="34" charset="0"/>
                <a:ea typeface="Calibri" pitchFamily="34" charset="-122"/>
                <a:cs typeface="Calibri" pitchFamily="34" charset="-120"/>
              </a:rPr>
              <a:t>CNN 0,882 vs regresi 0,823. Bootstrap berpasangan: p = 0,087, korelasi 0,93.</a:t>
            </a:r>
            <a:endParaRPr lang="en-US" sz="1150" dirty="0"/>
          </a:p>
        </p:txBody>
      </p:sp>
      <p:sp>
        <p:nvSpPr>
          <p:cNvPr id="15" name="Shape 13"/>
          <p:cNvSpPr/>
          <p:nvPr/>
        </p:nvSpPr>
        <p:spPr>
          <a:xfrm>
            <a:off x="6281928" y="2514600"/>
            <a:ext cx="2578608" cy="2606040"/>
          </a:xfrm>
          <a:prstGeom prst="roundRect">
            <a:avLst>
              <a:gd name="adj" fmla="val 2128"/>
            </a:avLst>
          </a:prstGeom>
          <a:solidFill>
            <a:srgbClr val="14302B"/>
          </a:solidFill>
          <a:ln w="12700">
            <a:solidFill>
              <a:srgbClr val="1E463D"/>
            </a:solidFill>
            <a:prstDash val="solid"/>
          </a:ln>
        </p:spPr>
      </p:sp>
      <p:sp>
        <p:nvSpPr>
          <p:cNvPr id="16" name="Text 14"/>
          <p:cNvSpPr/>
          <p:nvPr/>
        </p:nvSpPr>
        <p:spPr>
          <a:xfrm>
            <a:off x="6519672" y="2743200"/>
            <a:ext cx="2103120" cy="310896"/>
          </a:xfrm>
          <a:prstGeom prst="rect">
            <a:avLst/>
          </a:prstGeom>
          <a:noFill/>
          <a:ln/>
        </p:spPr>
        <p:txBody>
          <a:bodyPr wrap="square" lIns="0" tIns="0" rIns="0" bIns="0" rtlCol="0" anchor="ctr"/>
          <a:lstStyle/>
          <a:p>
            <a:pPr indent="0" marL="0">
              <a:buNone/>
            </a:pPr>
            <a:r>
              <a:rPr lang="en-US" sz="1150" b="1" dirty="0">
                <a:solidFill>
                  <a:srgbClr val="5CB9A3"/>
                </a:solidFill>
                <a:latin typeface="Calibri" pitchFamily="34" charset="0"/>
                <a:ea typeface="Calibri" pitchFamily="34" charset="-122"/>
                <a:cs typeface="Calibri" pitchFamily="34" charset="-120"/>
              </a:rPr>
              <a:t>Saat sesi berjalan</a:t>
            </a:r>
            <a:endParaRPr lang="en-US" sz="1150" dirty="0"/>
          </a:p>
        </p:txBody>
      </p:sp>
      <p:sp>
        <p:nvSpPr>
          <p:cNvPr id="17" name="Text 15"/>
          <p:cNvSpPr/>
          <p:nvPr/>
        </p:nvSpPr>
        <p:spPr>
          <a:xfrm>
            <a:off x="6519672" y="3127248"/>
            <a:ext cx="2103120" cy="914400"/>
          </a:xfrm>
          <a:prstGeom prst="rect">
            <a:avLst/>
          </a:prstGeom>
          <a:noFill/>
          <a:ln/>
        </p:spPr>
        <p:txBody>
          <a:bodyPr wrap="square" lIns="0" tIns="0" rIns="0" bIns="0" rtlCol="0" anchor="ctr"/>
          <a:lstStyle/>
          <a:p>
            <a:pPr indent="0" marL="0">
              <a:lnSpc>
                <a:spcPts val="2000"/>
              </a:lnSpc>
              <a:buNone/>
            </a:pPr>
            <a:r>
              <a:rPr lang="en-US" sz="1550" b="1" dirty="0">
                <a:solidFill>
                  <a:srgbClr val="FFFFFF"/>
                </a:solidFill>
                <a:latin typeface="Cambria" pitchFamily="34" charset="0"/>
                <a:ea typeface="Cambria" pitchFamily="34" charset="-122"/>
                <a:cs typeface="Cambria" pitchFamily="34" charset="-120"/>
              </a:rPr>
              <a:t>Penjaga menolak di perangkat</a:t>
            </a:r>
            <a:endParaRPr lang="en-US" sz="1550" dirty="0"/>
          </a:p>
        </p:txBody>
      </p:sp>
      <p:sp>
        <p:nvSpPr>
          <p:cNvPr id="18" name="Text 16"/>
          <p:cNvSpPr/>
          <p:nvPr/>
        </p:nvSpPr>
        <p:spPr>
          <a:xfrm>
            <a:off x="6519672" y="4114800"/>
            <a:ext cx="2103120" cy="868680"/>
          </a:xfrm>
          <a:prstGeom prst="rect">
            <a:avLst/>
          </a:prstGeom>
          <a:noFill/>
          <a:ln/>
        </p:spPr>
        <p:txBody>
          <a:bodyPr wrap="square" lIns="0" tIns="0" rIns="0" bIns="0" rtlCol="0" anchor="ctr"/>
          <a:lstStyle/>
          <a:p>
            <a:pPr indent="0" marL="0">
              <a:lnSpc>
                <a:spcPts val="1600"/>
              </a:lnSpc>
              <a:buNone/>
            </a:pPr>
            <a:r>
              <a:rPr lang="en-US" sz="1150" dirty="0">
                <a:solidFill>
                  <a:srgbClr val="9EBDB4"/>
                </a:solidFill>
                <a:latin typeface="Calibri" pitchFamily="34" charset="0"/>
                <a:ea typeface="Calibri" pitchFamily="34" charset="-122"/>
                <a:cs typeface="Calibri" pitchFamily="34" charset="-120"/>
              </a:rPr>
              <a:t>Model dijalankan tiap sesi. Penjaga menahan keluarannya dan menyebut fiturnya.</a:t>
            </a:r>
            <a:endParaRPr lang="en-US" sz="1150" dirty="0"/>
          </a:p>
        </p:txBody>
      </p:sp>
      <p:sp>
        <p:nvSpPr>
          <p:cNvPr id="19" name="Shape 17"/>
          <p:cNvSpPr/>
          <p:nvPr/>
        </p:nvSpPr>
        <p:spPr>
          <a:xfrm>
            <a:off x="9079992" y="2514600"/>
            <a:ext cx="2578608" cy="2606040"/>
          </a:xfrm>
          <a:prstGeom prst="roundRect">
            <a:avLst>
              <a:gd name="adj" fmla="val 2128"/>
            </a:avLst>
          </a:prstGeom>
          <a:solidFill>
            <a:srgbClr val="14302B"/>
          </a:solidFill>
          <a:ln w="12700">
            <a:solidFill>
              <a:srgbClr val="1E463D"/>
            </a:solidFill>
            <a:prstDash val="solid"/>
          </a:ln>
        </p:spPr>
      </p:sp>
      <p:sp>
        <p:nvSpPr>
          <p:cNvPr id="20" name="Text 18"/>
          <p:cNvSpPr/>
          <p:nvPr/>
        </p:nvSpPr>
        <p:spPr>
          <a:xfrm>
            <a:off x="9317736" y="2743200"/>
            <a:ext cx="2103120" cy="310896"/>
          </a:xfrm>
          <a:prstGeom prst="rect">
            <a:avLst/>
          </a:prstGeom>
          <a:noFill/>
          <a:ln/>
        </p:spPr>
        <p:txBody>
          <a:bodyPr wrap="square" lIns="0" tIns="0" rIns="0" bIns="0" rtlCol="0" anchor="ctr"/>
          <a:lstStyle/>
          <a:p>
            <a:pPr indent="0" marL="0">
              <a:buNone/>
            </a:pPr>
            <a:r>
              <a:rPr lang="en-US" sz="1150" b="1" dirty="0">
                <a:solidFill>
                  <a:srgbClr val="5CB9A3"/>
                </a:solidFill>
                <a:latin typeface="Calibri" pitchFamily="34" charset="0"/>
                <a:ea typeface="Calibri" pitchFamily="34" charset="-122"/>
                <a:cs typeface="Calibri" pitchFamily="34" charset="-120"/>
              </a:rPr>
              <a:t>Saat dikompilasi</a:t>
            </a:r>
            <a:endParaRPr lang="en-US" sz="1150" dirty="0"/>
          </a:p>
        </p:txBody>
      </p:sp>
      <p:sp>
        <p:nvSpPr>
          <p:cNvPr id="21" name="Text 19"/>
          <p:cNvSpPr/>
          <p:nvPr/>
        </p:nvSpPr>
        <p:spPr>
          <a:xfrm>
            <a:off x="9317736" y="3127248"/>
            <a:ext cx="2103120" cy="914400"/>
          </a:xfrm>
          <a:prstGeom prst="rect">
            <a:avLst/>
          </a:prstGeom>
          <a:noFill/>
          <a:ln/>
        </p:spPr>
        <p:txBody>
          <a:bodyPr wrap="square" lIns="0" tIns="0" rIns="0" bIns="0" rtlCol="0" anchor="ctr"/>
          <a:lstStyle/>
          <a:p>
            <a:pPr indent="0" marL="0">
              <a:lnSpc>
                <a:spcPts val="2000"/>
              </a:lnSpc>
              <a:buNone/>
            </a:pPr>
            <a:r>
              <a:rPr lang="en-US" sz="1550" b="1" dirty="0">
                <a:solidFill>
                  <a:srgbClr val="FFFFFF"/>
                </a:solidFill>
                <a:latin typeface="Cambria" pitchFamily="34" charset="0"/>
                <a:ea typeface="Cambria" pitchFamily="34" charset="-122"/>
                <a:cs typeface="Cambria" pitchFamily="34" charset="-120"/>
              </a:rPr>
              <a:t>Tata kelola dijaga type checker</a:t>
            </a:r>
            <a:endParaRPr lang="en-US" sz="1550" dirty="0"/>
          </a:p>
        </p:txBody>
      </p:sp>
      <p:sp>
        <p:nvSpPr>
          <p:cNvPr id="22" name="Text 20"/>
          <p:cNvSpPr/>
          <p:nvPr/>
        </p:nvSpPr>
        <p:spPr>
          <a:xfrm>
            <a:off x="9317736" y="4114800"/>
            <a:ext cx="2103120" cy="868680"/>
          </a:xfrm>
          <a:prstGeom prst="rect">
            <a:avLst/>
          </a:prstGeom>
          <a:noFill/>
          <a:ln/>
        </p:spPr>
        <p:txBody>
          <a:bodyPr wrap="square" lIns="0" tIns="0" rIns="0" bIns="0" rtlCol="0" anchor="ctr"/>
          <a:lstStyle/>
          <a:p>
            <a:pPr indent="0" marL="0">
              <a:lnSpc>
                <a:spcPts val="1600"/>
              </a:lnSpc>
              <a:buNone/>
            </a:pPr>
            <a:r>
              <a:rPr lang="en-US" sz="1150" dirty="0">
                <a:solidFill>
                  <a:srgbClr val="9EBDB4"/>
                </a:solidFill>
                <a:latin typeface="Calibri" pitchFamily="34" charset="0"/>
                <a:ea typeface="Calibri" pitchFamily="34" charset="-122"/>
                <a:cs typeface="Calibri" pitchFamily="34" charset="-120"/>
              </a:rPr>
              <a:t>combinedScore bernilai null. Penggabungan lajur tidak dapat dikompilasi.</a:t>
            </a:r>
            <a:endParaRPr lang="en-US" sz="1150" dirty="0"/>
          </a:p>
        </p:txBody>
      </p:sp>
      <p:sp>
        <p:nvSpPr>
          <p:cNvPr id="23" name="Text 21"/>
          <p:cNvSpPr/>
          <p:nvPr/>
        </p:nvSpPr>
        <p:spPr>
          <a:xfrm>
            <a:off x="685800" y="5440680"/>
            <a:ext cx="10424160" cy="548640"/>
          </a:xfrm>
          <a:prstGeom prst="rect">
            <a:avLst/>
          </a:prstGeom>
          <a:noFill/>
          <a:ln/>
        </p:spPr>
        <p:txBody>
          <a:bodyPr wrap="square" lIns="0" tIns="0" rIns="0" bIns="0" rtlCol="0" anchor="ctr"/>
          <a:lstStyle/>
          <a:p>
            <a:pPr indent="0" marL="0">
              <a:lnSpc>
                <a:spcPts val="2000"/>
              </a:lnSpc>
              <a:buNone/>
            </a:pPr>
            <a:r>
              <a:rPr lang="en-US" sz="1400" i="1" dirty="0">
                <a:solidFill>
                  <a:srgbClr val="8CAEA5"/>
                </a:solidFill>
                <a:latin typeface="Cambria" pitchFamily="34" charset="0"/>
                <a:ea typeface="Cambria" pitchFamily="34" charset="-122"/>
                <a:cs typeface="Cambria" pitchFamily="34" charset="-120"/>
              </a:rPr>
              <a:t>Hampir semua ML yang dikerahkan ke lapangan mengandaikan data masuk mirip data latihnya. Ketika andaian itu salah, modelnya tetap mengeluarkan angka — dan tidak memberi tahu siapa pun.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8"/>
        </a:solidFill>
      </p:bgPr>
    </p:bg>
    <p:spTree>
      <p:nvGrpSpPr>
        <p:cNvPr id="1" name=""/>
        <p:cNvGrpSpPr/>
        <p:nvPr/>
      </p:nvGrpSpPr>
      <p:grpSpPr>
        <a:xfrm>
          <a:off x="0" y="0"/>
          <a:ext cx="0" cy="0"/>
          <a:chOff x="0" y="0"/>
          <a:chExt cx="0" cy="0"/>
        </a:xfrm>
      </p:grpSpPr>
      <p:sp>
        <p:nvSpPr>
          <p:cNvPr id="2" name="Shape 0"/>
          <p:cNvSpPr/>
          <p:nvPr/>
        </p:nvSpPr>
        <p:spPr>
          <a:xfrm>
            <a:off x="11268151" y="740664"/>
            <a:ext cx="237744" cy="237744"/>
          </a:xfrm>
          <a:prstGeom prst="ellipse">
            <a:avLst/>
          </a:prstGeom>
          <a:solidFill>
            <a:srgbClr val="FFFFFF">
              <a:alpha val="0"/>
            </a:srgbClr>
          </a:solidFill>
          <a:ln w="25400">
            <a:solidFill>
              <a:srgbClr val="5CB9A3"/>
            </a:solidFill>
            <a:prstDash val="solid"/>
          </a:ln>
        </p:spPr>
      </p:sp>
      <p:sp>
        <p:nvSpPr>
          <p:cNvPr id="3" name="Shape 1"/>
          <p:cNvSpPr/>
          <p:nvPr/>
        </p:nvSpPr>
        <p:spPr>
          <a:xfrm>
            <a:off x="11339474" y="811987"/>
            <a:ext cx="95098" cy="95098"/>
          </a:xfrm>
          <a:prstGeom prst="ellipse">
            <a:avLst/>
          </a:prstGeom>
          <a:solidFill>
            <a:srgbClr val="5CB9A3"/>
          </a:solidFill>
          <a:ln w="12700">
            <a:solidFill>
              <a:srgbClr val="333333"/>
            </a:solidFill>
            <a:prstDash val="solid"/>
          </a:ln>
        </p:spPr>
      </p:sp>
      <p:sp>
        <p:nvSpPr>
          <p:cNvPr id="4" name="Text 2"/>
          <p:cNvSpPr/>
          <p:nvPr/>
        </p:nvSpPr>
        <p:spPr>
          <a:xfrm>
            <a:off x="685800" y="685800"/>
            <a:ext cx="10271455" cy="256032"/>
          </a:xfrm>
          <a:prstGeom prst="rect">
            <a:avLst/>
          </a:prstGeom>
          <a:noFill/>
          <a:ln/>
        </p:spPr>
        <p:txBody>
          <a:bodyPr wrap="square" lIns="0" tIns="0" rIns="0" bIns="0" rtlCol="0" anchor="ctr"/>
          <a:lstStyle/>
          <a:p>
            <a:pPr indent="0" marL="0">
              <a:buNone/>
            </a:pPr>
            <a:r>
              <a:rPr lang="en-US" sz="1200" b="1" spc="120" kern="0" dirty="0">
                <a:solidFill>
                  <a:srgbClr val="0D8271"/>
                </a:solidFill>
                <a:latin typeface="Calibri" pitchFamily="34" charset="0"/>
                <a:ea typeface="Calibri" pitchFamily="34" charset="-122"/>
                <a:cs typeface="Calibri" pitchFamily="34" charset="-120"/>
              </a:rPr>
              <a:t>Temuan orisinal · degradasi temporal</a:t>
            </a:r>
            <a:endParaRPr lang="en-US" sz="1200" dirty="0"/>
          </a:p>
        </p:txBody>
      </p:sp>
      <p:sp>
        <p:nvSpPr>
          <p:cNvPr id="5" name="Text 3"/>
          <p:cNvSpPr/>
          <p:nvPr/>
        </p:nvSpPr>
        <p:spPr>
          <a:xfrm>
            <a:off x="685800" y="996696"/>
            <a:ext cx="10271455" cy="822960"/>
          </a:xfrm>
          <a:prstGeom prst="rect">
            <a:avLst/>
          </a:prstGeom>
          <a:noFill/>
          <a:ln/>
        </p:spPr>
        <p:txBody>
          <a:bodyPr wrap="square" lIns="0" tIns="0" rIns="0" bIns="0" rtlCol="0" anchor="ctr"/>
          <a:lstStyle/>
          <a:p>
            <a:pPr indent="0" marL="0">
              <a:lnSpc>
                <a:spcPts val="3600"/>
              </a:lnSpc>
              <a:buNone/>
            </a:pPr>
            <a:r>
              <a:rPr lang="en-US" sz="3200" b="1" dirty="0">
                <a:solidFill>
                  <a:srgbClr val="0B1E1B"/>
                </a:solidFill>
                <a:latin typeface="Cambria" pitchFamily="34" charset="0"/>
                <a:ea typeface="Cambria" pitchFamily="34" charset="-122"/>
                <a:cs typeface="Cambria" pitchFamily="34" charset="-120"/>
              </a:rPr>
              <a:t>Kami tidak menebak fitur mana yang bertahan — kami mengukurnya</a:t>
            </a:r>
            <a:endParaRPr lang="en-US" sz="3200" dirty="0"/>
          </a:p>
        </p:txBody>
      </p:sp>
      <p:graphicFrame>
        <p:nvGraphicFramePr>
          <p:cNvPr id="6" name="Chart 0" descr=""/>
          <p:cNvGraphicFramePr/>
          <p:nvPr/>
        </p:nvGraphicFramePr>
        <p:xfrm>
          <a:off x="685800" y="2194560"/>
          <a:ext cx="6858000" cy="29260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909560" y="2194560"/>
            <a:ext cx="3566160" cy="2926080"/>
          </a:xfrm>
          <a:prstGeom prst="roundRect">
            <a:avLst>
              <a:gd name="adj" fmla="val 1875"/>
            </a:avLst>
          </a:prstGeom>
          <a:solidFill>
            <a:srgbClr val="E4F2EE"/>
          </a:solidFill>
          <a:ln w="12700">
            <a:solidFill>
              <a:srgbClr val="E4F2EE"/>
            </a:solidFill>
            <a:prstDash val="solid"/>
          </a:ln>
        </p:spPr>
      </p:sp>
      <p:sp>
        <p:nvSpPr>
          <p:cNvPr id="8" name="Text 5"/>
          <p:cNvSpPr/>
          <p:nvPr/>
        </p:nvSpPr>
        <p:spPr>
          <a:xfrm>
            <a:off x="8183880" y="2468880"/>
            <a:ext cx="3017520" cy="796413"/>
          </a:xfrm>
          <a:prstGeom prst="rect">
            <a:avLst/>
          </a:prstGeom>
          <a:noFill/>
          <a:ln/>
        </p:spPr>
        <p:txBody>
          <a:bodyPr wrap="square" lIns="0" tIns="0" rIns="0" bIns="0" rtlCol="0" anchor="ctr"/>
          <a:lstStyle/>
          <a:p>
            <a:pPr indent="0" marL="0">
              <a:lnSpc>
                <a:spcPts val="5400"/>
              </a:lnSpc>
              <a:buNone/>
            </a:pPr>
            <a:r>
              <a:rPr lang="en-US" sz="5400" b="1" dirty="0">
                <a:solidFill>
                  <a:srgbClr val="0D8271"/>
                </a:solidFill>
                <a:latin typeface="Cambria" pitchFamily="34" charset="0"/>
                <a:ea typeface="Cambria" pitchFamily="34" charset="-122"/>
                <a:cs typeface="Cambria" pitchFamily="34" charset="-120"/>
              </a:rPr>
              <a:t>42×</a:t>
            </a:r>
            <a:endParaRPr lang="en-US" sz="5400" dirty="0"/>
          </a:p>
        </p:txBody>
      </p:sp>
      <p:sp>
        <p:nvSpPr>
          <p:cNvPr id="9" name="Text 6"/>
          <p:cNvSpPr/>
          <p:nvPr/>
        </p:nvSpPr>
        <p:spPr>
          <a:xfrm>
            <a:off x="8183880" y="3320157"/>
            <a:ext cx="3017520" cy="274320"/>
          </a:xfrm>
          <a:prstGeom prst="rect">
            <a:avLst/>
          </a:prstGeom>
          <a:noFill/>
          <a:ln/>
        </p:spPr>
        <p:txBody>
          <a:bodyPr wrap="square" lIns="0" tIns="0" rIns="0" bIns="0" rtlCol="0" anchor="ctr"/>
          <a:lstStyle/>
          <a:p>
            <a:pPr indent="0" marL="0">
              <a:buNone/>
            </a:pPr>
            <a:r>
              <a:rPr lang="en-US" sz="1400" b="1" dirty="0">
                <a:solidFill>
                  <a:srgbClr val="14302B"/>
                </a:solidFill>
                <a:latin typeface="Calibri" pitchFamily="34" charset="0"/>
                <a:ea typeface="Calibri" pitchFamily="34" charset="-122"/>
                <a:cs typeface="Calibri" pitchFamily="34" charset="-120"/>
              </a:rPr>
              <a:t>selisih drift fitur, bukan akurasi</a:t>
            </a:r>
            <a:endParaRPr lang="en-US" sz="1400" dirty="0"/>
          </a:p>
        </p:txBody>
      </p:sp>
      <p:sp>
        <p:nvSpPr>
          <p:cNvPr id="10" name="Text 7"/>
          <p:cNvSpPr/>
          <p:nvPr/>
        </p:nvSpPr>
        <p:spPr>
          <a:xfrm>
            <a:off x="8183880" y="3631053"/>
            <a:ext cx="3017520" cy="640080"/>
          </a:xfrm>
          <a:prstGeom prst="rect">
            <a:avLst/>
          </a:prstGeom>
          <a:noFill/>
          <a:ln/>
        </p:spPr>
        <p:txBody>
          <a:bodyPr wrap="square" lIns="0" tIns="0" rIns="0" bIns="0" rtlCol="0" anchor="ctr"/>
          <a:lstStyle/>
          <a:p>
            <a:pPr indent="0" marL="0">
              <a:lnSpc>
                <a:spcPts val="1500"/>
              </a:lnSpc>
              <a:buNone/>
            </a:pPr>
            <a:r>
              <a:rPr lang="en-US" sz="1200" dirty="0">
                <a:solidFill>
                  <a:srgbClr val="4A635D"/>
                </a:solidFill>
                <a:latin typeface="Calibri" pitchFamily="34" charset="0"/>
                <a:ea typeface="Calibri" pitchFamily="34" charset="-122"/>
                <a:cs typeface="Calibri" pitchFamily="34" charset="-120"/>
              </a:rPr>
              <a:t>Median drift relatif di bawah desimasi waktu: 69,4% untuk fitur kinematik, 1,6% untuk fitur yang dipakai. Kamera Posyandu berjalan 26 fps dan sering lebih lambat.</a:t>
            </a:r>
            <a:endParaRPr lang="en-US" sz="1200" dirty="0"/>
          </a:p>
        </p:txBody>
      </p:sp>
      <p:sp>
        <p:nvSpPr>
          <p:cNvPr id="11" name="Text 8"/>
          <p:cNvSpPr/>
          <p:nvPr/>
        </p:nvSpPr>
        <p:spPr>
          <a:xfrm>
            <a:off x="8183880" y="4572000"/>
            <a:ext cx="3017520" cy="365760"/>
          </a:xfrm>
          <a:prstGeom prst="rect">
            <a:avLst/>
          </a:prstGeom>
          <a:noFill/>
          <a:ln/>
        </p:spPr>
        <p:txBody>
          <a:bodyPr wrap="square" lIns="0" tIns="0" rIns="0" bIns="0" rtlCol="0" anchor="ctr"/>
          <a:lstStyle/>
          <a:p>
            <a:pPr indent="0" marL="0">
              <a:lnSpc>
                <a:spcPts val="1500"/>
              </a:lnSpc>
              <a:buNone/>
            </a:pPr>
            <a:r>
              <a:rPr lang="en-US" sz="1100" b="1" dirty="0">
                <a:solidFill>
                  <a:srgbClr val="14302B"/>
                </a:solidFill>
                <a:latin typeface="Calibri" pitchFamily="34" charset="0"/>
                <a:ea typeface="Calibri" pitchFamily="34" charset="-122"/>
                <a:cs typeface="Calibri" pitchFamily="34" charset="-120"/>
              </a:rPr>
              <a:t>27 sesi berpasangan Gate B, aliran (x, y, t) nyata</a:t>
            </a:r>
            <a:endParaRPr lang="en-US" sz="1100" dirty="0"/>
          </a:p>
        </p:txBody>
      </p:sp>
      <p:sp>
        <p:nvSpPr>
          <p:cNvPr id="12" name="Text 9"/>
          <p:cNvSpPr/>
          <p:nvPr/>
        </p:nvSpPr>
        <p:spPr>
          <a:xfrm>
            <a:off x="685800" y="5285232"/>
            <a:ext cx="6858000" cy="274320"/>
          </a:xfrm>
          <a:prstGeom prst="rect">
            <a:avLst/>
          </a:prstGeom>
          <a:noFill/>
          <a:ln/>
        </p:spPr>
        <p:txBody>
          <a:bodyPr wrap="square" lIns="0" tIns="0" rIns="0" bIns="0" rtlCol="0" anchor="ctr"/>
          <a:lstStyle/>
          <a:p>
            <a:pPr indent="0" marL="0">
              <a:buNone/>
            </a:pPr>
            <a:r>
              <a:rPr lang="en-US" sz="1100" dirty="0">
                <a:solidFill>
                  <a:srgbClr val="4A635D"/>
                </a:solidFill>
                <a:latin typeface="Calibri" pitchFamily="34" charset="0"/>
                <a:ea typeface="Calibri" pitchFamily="34" charset="-122"/>
                <a:cs typeface="Calibri" pitchFamily="34" charset="-120"/>
              </a:rPr>
              <a:t>Sumber: research/hasil/degradasi_temporal.json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8"/>
        </a:solidFill>
      </p:bgPr>
    </p:bg>
    <p:spTree>
      <p:nvGrpSpPr>
        <p:cNvPr id="1" name=""/>
        <p:cNvGrpSpPr/>
        <p:nvPr/>
      </p:nvGrpSpPr>
      <p:grpSpPr>
        <a:xfrm>
          <a:off x="0" y="0"/>
          <a:ext cx="0" cy="0"/>
          <a:chOff x="0" y="0"/>
          <a:chExt cx="0" cy="0"/>
        </a:xfrm>
      </p:grpSpPr>
      <p:sp>
        <p:nvSpPr>
          <p:cNvPr id="2" name="Shape 0"/>
          <p:cNvSpPr/>
          <p:nvPr/>
        </p:nvSpPr>
        <p:spPr>
          <a:xfrm>
            <a:off x="11268151" y="740664"/>
            <a:ext cx="237744" cy="237744"/>
          </a:xfrm>
          <a:prstGeom prst="ellipse">
            <a:avLst/>
          </a:prstGeom>
          <a:solidFill>
            <a:srgbClr val="FFFFFF">
              <a:alpha val="0"/>
            </a:srgbClr>
          </a:solidFill>
          <a:ln w="25400">
            <a:solidFill>
              <a:srgbClr val="5CB9A3"/>
            </a:solidFill>
            <a:prstDash val="solid"/>
          </a:ln>
        </p:spPr>
      </p:sp>
      <p:sp>
        <p:nvSpPr>
          <p:cNvPr id="3" name="Shape 1"/>
          <p:cNvSpPr/>
          <p:nvPr/>
        </p:nvSpPr>
        <p:spPr>
          <a:xfrm>
            <a:off x="11339474" y="811987"/>
            <a:ext cx="95098" cy="95098"/>
          </a:xfrm>
          <a:prstGeom prst="ellipse">
            <a:avLst/>
          </a:prstGeom>
          <a:solidFill>
            <a:srgbClr val="5CB9A3"/>
          </a:solidFill>
          <a:ln w="12700">
            <a:solidFill>
              <a:srgbClr val="333333"/>
            </a:solidFill>
            <a:prstDash val="solid"/>
          </a:ln>
        </p:spPr>
      </p:sp>
      <p:sp>
        <p:nvSpPr>
          <p:cNvPr id="4" name="Text 2"/>
          <p:cNvSpPr/>
          <p:nvPr/>
        </p:nvSpPr>
        <p:spPr>
          <a:xfrm>
            <a:off x="685800" y="685800"/>
            <a:ext cx="10271455" cy="256032"/>
          </a:xfrm>
          <a:prstGeom prst="rect">
            <a:avLst/>
          </a:prstGeom>
          <a:noFill/>
          <a:ln/>
        </p:spPr>
        <p:txBody>
          <a:bodyPr wrap="square" lIns="0" tIns="0" rIns="0" bIns="0" rtlCol="0" anchor="ctr"/>
          <a:lstStyle/>
          <a:p>
            <a:pPr indent="0" marL="0">
              <a:buNone/>
            </a:pPr>
            <a:r>
              <a:rPr lang="en-US" sz="1200" b="1" spc="120" kern="0" dirty="0">
                <a:solidFill>
                  <a:srgbClr val="0D8271"/>
                </a:solidFill>
                <a:latin typeface="Calibri" pitchFamily="34" charset="0"/>
                <a:ea typeface="Calibri" pitchFamily="34" charset="-122"/>
                <a:cs typeface="Calibri" pitchFamily="34" charset="-120"/>
              </a:rPr>
              <a:t>Kontribusi metodologis</a:t>
            </a:r>
            <a:endParaRPr lang="en-US" sz="1200" dirty="0"/>
          </a:p>
        </p:txBody>
      </p:sp>
      <p:sp>
        <p:nvSpPr>
          <p:cNvPr id="5" name="Text 3"/>
          <p:cNvSpPr/>
          <p:nvPr/>
        </p:nvSpPr>
        <p:spPr>
          <a:xfrm>
            <a:off x="685800" y="996696"/>
            <a:ext cx="10271455" cy="822960"/>
          </a:xfrm>
          <a:prstGeom prst="rect">
            <a:avLst/>
          </a:prstGeom>
          <a:noFill/>
          <a:ln/>
        </p:spPr>
        <p:txBody>
          <a:bodyPr wrap="square" lIns="0" tIns="0" rIns="0" bIns="0" rtlCol="0" anchor="ctr"/>
          <a:lstStyle/>
          <a:p>
            <a:pPr indent="0" marL="0">
              <a:lnSpc>
                <a:spcPts val="3600"/>
              </a:lnSpc>
              <a:buNone/>
            </a:pPr>
            <a:r>
              <a:rPr lang="en-US" sz="3200" b="1" dirty="0">
                <a:solidFill>
                  <a:srgbClr val="0B1E1B"/>
                </a:solidFill>
                <a:latin typeface="Cambria" pitchFamily="34" charset="0"/>
                <a:ea typeface="Cambria" pitchFamily="34" charset="-122"/>
                <a:cs typeface="Cambria" pitchFamily="34" charset="-120"/>
              </a:rPr>
              <a:t>Kami membandingkan ambang terhadap selang, bukan terhadap satu angka</a:t>
            </a:r>
            <a:endParaRPr lang="en-US" sz="3200" dirty="0"/>
          </a:p>
        </p:txBody>
      </p:sp>
      <p:sp>
        <p:nvSpPr>
          <p:cNvPr id="6" name="Text 4"/>
          <p:cNvSpPr/>
          <p:nvPr/>
        </p:nvSpPr>
        <p:spPr>
          <a:xfrm>
            <a:off x="685800" y="2103120"/>
            <a:ext cx="10424160" cy="777240"/>
          </a:xfrm>
          <a:prstGeom prst="rect">
            <a:avLst/>
          </a:prstGeom>
          <a:noFill/>
          <a:ln/>
        </p:spPr>
        <p:txBody>
          <a:bodyPr wrap="square" lIns="0" tIns="0" rIns="0" bIns="0" rtlCol="0" anchor="ctr"/>
          <a:lstStyle/>
          <a:p>
            <a:pPr indent="0" marL="0">
              <a:lnSpc>
                <a:spcPts val="2000"/>
              </a:lnSpc>
              <a:buNone/>
            </a:pPr>
            <a:r>
              <a:rPr lang="en-US" sz="1400" dirty="0">
                <a:solidFill>
                  <a:srgbClr val="14302B"/>
                </a:solidFill>
                <a:latin typeface="Calibri" pitchFamily="34" charset="0"/>
                <a:ea typeface="Calibri" pitchFamily="34" charset="-122"/>
                <a:cs typeface="Calibri" pitchFamily="34" charset="-120"/>
              </a:rPr>
              <a:t>Hampir setiap penerapan ambang terbit membandingkan estimasi titik sesi dengan cutoff. Klip 16,75 detik hanya menghasilkan sekitar 300 sampel di dalam AOI, dan galat pencuplikan pada angka sebesar itu berjalan belasan poin. Jadi kami bandingkan selang kepercayaan 95% sesi — dan sesi yang selangnya melintasi ambang berstatus tidak dapat dinilai, bukan positif.</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3063240"/>
          <a:ext cx="6400800" cy="914400"/>
        </p:xfrm>
        <a:graphic>
          <a:graphicData uri="http://schemas.openxmlformats.org/drawingml/2006/table">
            <a:tbl>
              <a:tblPr/>
              <a:tblGrid>
                <a:gridCol w="2743200"/>
                <a:gridCol w="1828800"/>
                <a:gridCol w="1828800"/>
              </a:tblGrid>
              <a:tr h="402336">
                <a:tc>
                  <a:txBody>
                    <a:bodyPr/>
                    <a:lstStyle/>
                    <a:p>
                      <a:pPr indent="0" marL="0">
                        <a:buNone/>
                      </a:pPr>
                      <a:r>
                        <a:rPr lang="en-US" sz="1300" b="1" dirty="0">
                          <a:solidFill>
                            <a:srgbClr val="14302B"/>
                          </a:solidFill>
                          <a:latin typeface="Calibri" pitchFamily="34" charset="0"/>
                          <a:ea typeface="Calibri" pitchFamily="34" charset="-122"/>
                          <a:cs typeface="Calibri" pitchFamily="34" charset="-120"/>
                        </a:rPr>
                        <a:t>Preferensi sebenarnya</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b="1" dirty="0">
                          <a:solidFill>
                            <a:srgbClr val="14302B"/>
                          </a:solidFill>
                          <a:latin typeface="Calibri" pitchFamily="34" charset="0"/>
                          <a:ea typeface="Calibri" pitchFamily="34" charset="-122"/>
                          <a:cs typeface="Calibri" pitchFamily="34" charset="-120"/>
                        </a:rPr>
                        <a:t>Aturan titik lama</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b="1" dirty="0">
                          <a:solidFill>
                            <a:srgbClr val="14302B"/>
                          </a:solidFill>
                          <a:latin typeface="Calibri" pitchFamily="34" charset="0"/>
                          <a:ea typeface="Calibri" pitchFamily="34" charset="-122"/>
                          <a:cs typeface="Calibri" pitchFamily="34" charset="-120"/>
                        </a:rPr>
                        <a:t>Aturan selang sekarang</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4302B"/>
                          </a:solidFill>
                          <a:latin typeface="Calibri" pitchFamily="34" charset="0"/>
                          <a:ea typeface="Calibri" pitchFamily="34" charset="-122"/>
                          <a:cs typeface="Calibri" pitchFamily="34" charset="-120"/>
                        </a:rPr>
                        <a:t>0,69 — persis di ambang</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b="1" dirty="0">
                          <a:solidFill>
                            <a:srgbClr val="B1442C"/>
                          </a:solidFill>
                          <a:latin typeface="Calibri" pitchFamily="34" charset="0"/>
                          <a:ea typeface="Calibri" pitchFamily="34" charset="-122"/>
                          <a:cs typeface="Calibri" pitchFamily="34" charset="-120"/>
                        </a:rPr>
                        <a:t>52,2%</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b="1" dirty="0">
                          <a:solidFill>
                            <a:srgbClr val="0D8271"/>
                          </a:solidFill>
                          <a:latin typeface="Calibri" pitchFamily="34" charset="0"/>
                          <a:ea typeface="Calibri" pitchFamily="34" charset="-122"/>
                          <a:cs typeface="Calibri" pitchFamily="34" charset="-120"/>
                        </a:rPr>
                        <a:t>4,8%</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0,75</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89,5%</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24,2%</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0,80</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98,8%</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59,5%</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4302B"/>
                          </a:solidFill>
                          <a:latin typeface="Calibri" pitchFamily="34" charset="0"/>
                          <a:ea typeface="Calibri" pitchFamily="34" charset="-122"/>
                          <a:cs typeface="Calibri" pitchFamily="34" charset="-120"/>
                        </a:rPr>
                        <a:t>0,90 — preferensi tinggi</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b="1" dirty="0">
                          <a:solidFill>
                            <a:srgbClr val="14302B"/>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b="1" dirty="0">
                          <a:solidFill>
                            <a:srgbClr val="0D8271"/>
                          </a:solidFill>
                          <a:latin typeface="Calibri" pitchFamily="34" charset="0"/>
                          <a:ea typeface="Calibri" pitchFamily="34" charset="-122"/>
                          <a:cs typeface="Calibri" pitchFamily="34" charset="-120"/>
                        </a:rPr>
                        <a:t>99,0%</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r>
            </a:tbl>
          </a:graphicData>
        </a:graphic>
      </p:graphicFrame>
      <p:sp>
        <p:nvSpPr>
          <p:cNvPr id="8" name="Text 5"/>
          <p:cNvSpPr/>
          <p:nvPr/>
        </p:nvSpPr>
        <p:spPr>
          <a:xfrm>
            <a:off x="685800" y="5166360"/>
            <a:ext cx="6400800" cy="274320"/>
          </a:xfrm>
          <a:prstGeom prst="rect">
            <a:avLst/>
          </a:prstGeom>
          <a:noFill/>
          <a:ln/>
        </p:spPr>
        <p:txBody>
          <a:bodyPr wrap="square" lIns="0" tIns="0" rIns="0" bIns="0" rtlCol="0" anchor="ctr"/>
          <a:lstStyle/>
          <a:p>
            <a:pPr indent="0" marL="0">
              <a:buNone/>
            </a:pPr>
            <a:r>
              <a:rPr lang="en-US" sz="1000" dirty="0">
                <a:solidFill>
                  <a:srgbClr val="4A635D"/>
                </a:solidFill>
                <a:latin typeface="Calibri" pitchFamily="34" charset="0"/>
                <a:ea typeface="Calibri" pitchFamily="34" charset="-122"/>
                <a:cs typeface="Calibri" pitchFamily="34" charset="-120"/>
              </a:rPr>
              <a:t>Peluang aturan menyala · simulasi 400 sesi per titik, 17 jendela · research/simulate_geopref_interval.py</a:t>
            </a:r>
            <a:endParaRPr lang="en-US" sz="1000" dirty="0"/>
          </a:p>
        </p:txBody>
      </p:sp>
      <p:sp>
        <p:nvSpPr>
          <p:cNvPr id="9" name="Shape 6"/>
          <p:cNvSpPr/>
          <p:nvPr/>
        </p:nvSpPr>
        <p:spPr>
          <a:xfrm>
            <a:off x="7360920" y="3017520"/>
            <a:ext cx="3749040" cy="2331720"/>
          </a:xfrm>
          <a:prstGeom prst="roundRect">
            <a:avLst>
              <a:gd name="adj" fmla="val 2353"/>
            </a:avLst>
          </a:prstGeom>
          <a:solidFill>
            <a:srgbClr val="E4F2EE"/>
          </a:solidFill>
          <a:ln w="12700">
            <a:solidFill>
              <a:srgbClr val="E4F2EE"/>
            </a:solidFill>
            <a:prstDash val="solid"/>
          </a:ln>
        </p:spPr>
      </p:sp>
      <p:sp>
        <p:nvSpPr>
          <p:cNvPr id="10" name="Text 7"/>
          <p:cNvSpPr/>
          <p:nvPr/>
        </p:nvSpPr>
        <p:spPr>
          <a:xfrm>
            <a:off x="7616952" y="3246120"/>
            <a:ext cx="3246120" cy="731520"/>
          </a:xfrm>
          <a:prstGeom prst="rect">
            <a:avLst/>
          </a:prstGeom>
          <a:noFill/>
          <a:ln/>
        </p:spPr>
        <p:txBody>
          <a:bodyPr wrap="square" lIns="0" tIns="0" rIns="0" bIns="0" rtlCol="0" anchor="ctr"/>
          <a:lstStyle/>
          <a:p>
            <a:pPr indent="0" marL="0">
              <a:lnSpc>
                <a:spcPts val="2300"/>
              </a:lnSpc>
              <a:buNone/>
            </a:pPr>
            <a:r>
              <a:rPr lang="en-US" sz="1800" b="1" dirty="0">
                <a:solidFill>
                  <a:srgbClr val="0D8271"/>
                </a:solidFill>
                <a:latin typeface="Cambria" pitchFamily="34" charset="0"/>
                <a:ea typeface="Cambria" pitchFamily="34" charset="-122"/>
                <a:cs typeface="Cambria" pitchFamily="34" charset="-120"/>
              </a:rPr>
              <a:t>Kami membuang lemparan koinnya, bukan sensitivitasnya.</a:t>
            </a:r>
            <a:endParaRPr lang="en-US" sz="1800" dirty="0"/>
          </a:p>
        </p:txBody>
      </p:sp>
      <p:sp>
        <p:nvSpPr>
          <p:cNvPr id="11" name="Text 8"/>
          <p:cNvSpPr/>
          <p:nvPr/>
        </p:nvSpPr>
        <p:spPr>
          <a:xfrm>
            <a:off x="7616952" y="4069080"/>
            <a:ext cx="3246120" cy="1188720"/>
          </a:xfrm>
          <a:prstGeom prst="rect">
            <a:avLst/>
          </a:prstGeom>
          <a:noFill/>
          <a:ln/>
        </p:spPr>
        <p:txBody>
          <a:bodyPr wrap="square" lIns="0" tIns="0" rIns="0" bIns="0" rtlCol="0" anchor="ctr"/>
          <a:lstStyle/>
          <a:p>
            <a:pPr indent="0" marL="0">
              <a:lnSpc>
                <a:spcPts val="1700"/>
              </a:lnSpc>
              <a:buNone/>
            </a:pPr>
            <a:r>
              <a:rPr lang="en-US" sz="1250" dirty="0">
                <a:solidFill>
                  <a:srgbClr val="14302B"/>
                </a:solidFill>
                <a:latin typeface="Calibri" pitchFamily="34" charset="0"/>
                <a:ea typeface="Calibri" pitchFamily="34" charset="-122"/>
                <a:cs typeface="Calibri" pitchFamily="34" charset="-120"/>
              </a:rPr>
              <a:t>Anak yang preferensinya persis di ambang dulu memicu rujukan separuh waktu — koin yang disajikan sebagai pengukuran. Sekarang 4,8%. Yang preferensinya benar-benar tinggi tetap terbaca 99%.</a:t>
            </a:r>
            <a:endParaRPr lang="en-US" sz="1250" dirty="0"/>
          </a:p>
        </p:txBody>
      </p:sp>
      <p:sp>
        <p:nvSpPr>
          <p:cNvPr id="12" name="Text 9"/>
          <p:cNvSpPr/>
          <p:nvPr/>
        </p:nvSpPr>
        <p:spPr>
          <a:xfrm>
            <a:off x="685800" y="5577840"/>
            <a:ext cx="10424160" cy="548640"/>
          </a:xfrm>
          <a:prstGeom prst="rect">
            <a:avLst/>
          </a:prstGeom>
          <a:noFill/>
          <a:ln/>
        </p:spPr>
        <p:txBody>
          <a:bodyPr wrap="square" lIns="0" tIns="0" rIns="0" bIns="0" rtlCol="0" anchor="ctr"/>
          <a:lstStyle/>
          <a:p>
            <a:pPr indent="0" marL="0">
              <a:lnSpc>
                <a:spcPts val="2100"/>
              </a:lnSpc>
              <a:buNone/>
            </a:pPr>
            <a:r>
              <a:rPr lang="en-US" sz="1500" i="1" dirty="0">
                <a:solidFill>
                  <a:srgbClr val="14302B"/>
                </a:solidFill>
                <a:latin typeface="Cambria" pitchFamily="34" charset="0"/>
                <a:ea typeface="Cambria" pitchFamily="34" charset="-122"/>
                <a:cs typeface="Cambria" pitchFamily="34" charset="-120"/>
              </a:rPr>
              <a:t>Standar buktinya jadi sama untuk kedua sinyal: mengikuti isyarat sudah memakai uji tanda sejak awal. Yang tidak dapat menempatkan dirinya di satu sisi ambang belum mengukur apa pun tentang ambang itu.</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8"/>
        </a:solidFill>
      </p:bgPr>
    </p:bg>
    <p:spTree>
      <p:nvGrpSpPr>
        <p:cNvPr id="1" name=""/>
        <p:cNvGrpSpPr/>
        <p:nvPr/>
      </p:nvGrpSpPr>
      <p:grpSpPr>
        <a:xfrm>
          <a:off x="0" y="0"/>
          <a:ext cx="0" cy="0"/>
          <a:chOff x="0" y="0"/>
          <a:chExt cx="0" cy="0"/>
        </a:xfrm>
      </p:grpSpPr>
      <p:sp>
        <p:nvSpPr>
          <p:cNvPr id="2" name="Shape 0"/>
          <p:cNvSpPr/>
          <p:nvPr/>
        </p:nvSpPr>
        <p:spPr>
          <a:xfrm>
            <a:off x="11268151" y="740664"/>
            <a:ext cx="237744" cy="237744"/>
          </a:xfrm>
          <a:prstGeom prst="ellipse">
            <a:avLst/>
          </a:prstGeom>
          <a:solidFill>
            <a:srgbClr val="FFFFFF">
              <a:alpha val="0"/>
            </a:srgbClr>
          </a:solidFill>
          <a:ln w="25400">
            <a:solidFill>
              <a:srgbClr val="5CB9A3"/>
            </a:solidFill>
            <a:prstDash val="solid"/>
          </a:ln>
        </p:spPr>
      </p:sp>
      <p:sp>
        <p:nvSpPr>
          <p:cNvPr id="3" name="Shape 1"/>
          <p:cNvSpPr/>
          <p:nvPr/>
        </p:nvSpPr>
        <p:spPr>
          <a:xfrm>
            <a:off x="11339474" y="811987"/>
            <a:ext cx="95098" cy="95098"/>
          </a:xfrm>
          <a:prstGeom prst="ellipse">
            <a:avLst/>
          </a:prstGeom>
          <a:solidFill>
            <a:srgbClr val="5CB9A3"/>
          </a:solidFill>
          <a:ln w="12700">
            <a:solidFill>
              <a:srgbClr val="333333"/>
            </a:solidFill>
            <a:prstDash val="solid"/>
          </a:ln>
        </p:spPr>
      </p:sp>
      <p:sp>
        <p:nvSpPr>
          <p:cNvPr id="4" name="Text 2"/>
          <p:cNvSpPr/>
          <p:nvPr/>
        </p:nvSpPr>
        <p:spPr>
          <a:xfrm>
            <a:off x="685800" y="685800"/>
            <a:ext cx="10271455" cy="256032"/>
          </a:xfrm>
          <a:prstGeom prst="rect">
            <a:avLst/>
          </a:prstGeom>
          <a:noFill/>
          <a:ln/>
        </p:spPr>
        <p:txBody>
          <a:bodyPr wrap="square" lIns="0" tIns="0" rIns="0" bIns="0" rtlCol="0" anchor="ctr"/>
          <a:lstStyle/>
          <a:p>
            <a:pPr indent="0" marL="0">
              <a:buNone/>
            </a:pPr>
            <a:r>
              <a:rPr lang="en-US" sz="1200" b="1" spc="120" kern="0" dirty="0">
                <a:solidFill>
                  <a:srgbClr val="0D8271"/>
                </a:solidFill>
                <a:latin typeface="Calibri" pitchFamily="34" charset="0"/>
                <a:ea typeface="Calibri" pitchFamily="34" charset="-122"/>
                <a:cs typeface="Calibri" pitchFamily="34" charset="-120"/>
              </a:rPr>
              <a:t>Penjaga out-of-distribution</a:t>
            </a:r>
            <a:endParaRPr lang="en-US" sz="1200" dirty="0"/>
          </a:p>
        </p:txBody>
      </p:sp>
      <p:sp>
        <p:nvSpPr>
          <p:cNvPr id="5" name="Text 3"/>
          <p:cNvSpPr/>
          <p:nvPr/>
        </p:nvSpPr>
        <p:spPr>
          <a:xfrm>
            <a:off x="685800" y="996696"/>
            <a:ext cx="10271455" cy="822960"/>
          </a:xfrm>
          <a:prstGeom prst="rect">
            <a:avLst/>
          </a:prstGeom>
          <a:noFill/>
          <a:ln/>
        </p:spPr>
        <p:txBody>
          <a:bodyPr wrap="square" lIns="0" tIns="0" rIns="0" bIns="0" rtlCol="0" anchor="ctr"/>
          <a:lstStyle/>
          <a:p>
            <a:pPr indent="0" marL="0">
              <a:lnSpc>
                <a:spcPts val="3600"/>
              </a:lnSpc>
              <a:buNone/>
            </a:pPr>
            <a:r>
              <a:rPr lang="en-US" sz="3200" b="1" dirty="0">
                <a:solidFill>
                  <a:srgbClr val="0B1E1B"/>
                </a:solidFill>
                <a:latin typeface="Cambria" pitchFamily="34" charset="0"/>
                <a:ea typeface="Cambria" pitchFamily="34" charset="-122"/>
                <a:cs typeface="Cambria" pitchFamily="34" charset="-120"/>
              </a:rPr>
              <a:t>Modelnya jalan. Penjaganya menolak — dan kami buktikan ia tidak menolak semuanya.</a:t>
            </a:r>
            <a:endParaRPr lang="en-US" sz="3200" dirty="0"/>
          </a:p>
        </p:txBody>
      </p:sp>
      <p:sp>
        <p:nvSpPr>
          <p:cNvPr id="6" name="Shape 4"/>
          <p:cNvSpPr/>
          <p:nvPr/>
        </p:nvSpPr>
        <p:spPr>
          <a:xfrm>
            <a:off x="685800" y="2194560"/>
            <a:ext cx="5760720" cy="2286000"/>
          </a:xfrm>
          <a:prstGeom prst="roundRect">
            <a:avLst>
              <a:gd name="adj" fmla="val 2400"/>
            </a:avLst>
          </a:prstGeom>
          <a:solidFill>
            <a:srgbClr val="0B1E1B"/>
          </a:solidFill>
          <a:ln w="12700">
            <a:solidFill>
              <a:srgbClr val="0B1E1B"/>
            </a:solidFill>
            <a:prstDash val="solid"/>
          </a:ln>
        </p:spPr>
      </p:sp>
      <p:sp>
        <p:nvSpPr>
          <p:cNvPr id="7" name="Text 5"/>
          <p:cNvSpPr/>
          <p:nvPr/>
        </p:nvSpPr>
        <p:spPr>
          <a:xfrm>
            <a:off x="1051560" y="2487168"/>
            <a:ext cx="5029200" cy="274320"/>
          </a:xfrm>
          <a:prstGeom prst="rect">
            <a:avLst/>
          </a:prstGeom>
          <a:noFill/>
          <a:ln/>
        </p:spPr>
        <p:txBody>
          <a:bodyPr wrap="square" lIns="0" tIns="0" rIns="0" bIns="0" rtlCol="0" anchor="ctr"/>
          <a:lstStyle/>
          <a:p>
            <a:pPr indent="0" marL="0">
              <a:buNone/>
            </a:pPr>
            <a:r>
              <a:rPr lang="en-US" sz="1150" b="1" spc="120" kern="0" dirty="0">
                <a:solidFill>
                  <a:srgbClr val="8CAEA5"/>
                </a:solidFill>
                <a:latin typeface="Calibri" pitchFamily="34" charset="0"/>
                <a:ea typeface="Calibri" pitchFamily="34" charset="-122"/>
                <a:cs typeface="Calibri" pitchFamily="34" charset="-120"/>
              </a:rPr>
              <a:t>PUTUSAN PENJAGA</a:t>
            </a:r>
            <a:endParaRPr lang="en-US" sz="1150" dirty="0"/>
          </a:p>
        </p:txBody>
      </p:sp>
      <p:sp>
        <p:nvSpPr>
          <p:cNvPr id="8" name="Text 6"/>
          <p:cNvSpPr/>
          <p:nvPr/>
        </p:nvSpPr>
        <p:spPr>
          <a:xfrm>
            <a:off x="1051560" y="2788920"/>
            <a:ext cx="2743200" cy="548640"/>
          </a:xfrm>
          <a:prstGeom prst="rect">
            <a:avLst/>
          </a:prstGeom>
          <a:noFill/>
          <a:ln/>
        </p:spPr>
        <p:txBody>
          <a:bodyPr wrap="square" lIns="0" tIns="0" rIns="0" bIns="0" rtlCol="0" anchor="ctr"/>
          <a:lstStyle/>
          <a:p>
            <a:pPr indent="0" marL="0">
              <a:buNone/>
            </a:pPr>
            <a:r>
              <a:rPr lang="en-US" sz="3400" b="1" dirty="0">
                <a:solidFill>
                  <a:srgbClr val="F0A189"/>
                </a:solidFill>
                <a:latin typeface="Cambria" pitchFamily="34" charset="0"/>
                <a:ea typeface="Cambria" pitchFamily="34" charset="-122"/>
                <a:cs typeface="Cambria" pitchFamily="34" charset="-120"/>
              </a:rPr>
              <a:t>Ditolak</a:t>
            </a:r>
            <a:endParaRPr lang="en-US" sz="3400" dirty="0"/>
          </a:p>
        </p:txBody>
      </p:sp>
      <p:sp>
        <p:nvSpPr>
          <p:cNvPr id="9" name="Text 7"/>
          <p:cNvSpPr/>
          <p:nvPr/>
        </p:nvSpPr>
        <p:spPr>
          <a:xfrm>
            <a:off x="1051560" y="3383280"/>
            <a:ext cx="5029200" cy="274320"/>
          </a:xfrm>
          <a:prstGeom prst="rect">
            <a:avLst/>
          </a:prstGeom>
          <a:noFill/>
          <a:ln/>
        </p:spPr>
        <p:txBody>
          <a:bodyPr wrap="square" lIns="0" tIns="0" rIns="0" bIns="0" rtlCol="0" anchor="ctr"/>
          <a:lstStyle/>
          <a:p>
            <a:pPr indent="0" marL="0">
              <a:buNone/>
            </a:pPr>
            <a:r>
              <a:rPr lang="en-US" sz="1300" dirty="0">
                <a:solidFill>
                  <a:srgbClr val="B7D2CA"/>
                </a:solidFill>
                <a:latin typeface="Calibri" pitchFamily="34" charset="0"/>
                <a:ea typeface="Calibri" pitchFamily="34" charset="-122"/>
                <a:cs typeface="Calibri" pitchFamily="34" charset="-120"/>
              </a:rPr>
              <a:t>3 fitur ditandai  ·  cakupan 100%</a:t>
            </a:r>
            <a:endParaRPr lang="en-US" sz="1300" dirty="0"/>
          </a:p>
        </p:txBody>
      </p:sp>
      <p:sp>
        <p:nvSpPr>
          <p:cNvPr id="10" name="Text 8"/>
          <p:cNvSpPr/>
          <p:nvPr/>
        </p:nvSpPr>
        <p:spPr>
          <a:xfrm>
            <a:off x="1051560" y="3767328"/>
            <a:ext cx="5029200" cy="457200"/>
          </a:xfrm>
          <a:prstGeom prst="rect">
            <a:avLst/>
          </a:prstGeom>
          <a:noFill/>
          <a:ln/>
        </p:spPr>
        <p:txBody>
          <a:bodyPr wrap="square" lIns="0" tIns="0" rIns="0" bIns="0" rtlCol="0" anchor="ctr"/>
          <a:lstStyle/>
          <a:p>
            <a:pPr indent="0" marL="0">
              <a:lnSpc>
                <a:spcPts val="1700"/>
              </a:lnSpc>
              <a:buNone/>
            </a:pPr>
            <a:r>
              <a:rPr lang="en-US" sz="1250" dirty="0">
                <a:solidFill>
                  <a:srgbClr val="5CB9A3"/>
                </a:solidFill>
                <a:latin typeface="Calibri" pitchFamily="34" charset="0"/>
                <a:ea typeface="Calibri" pitchFamily="34" charset="-122"/>
                <a:cs typeface="Calibri" pitchFamily="34" charset="-120"/>
              </a:rPr>
              <a:t>Jarak terjauh 9,1 z  ·  Mahalanobis 87,9  ·  keluaran model ditahan</a:t>
            </a:r>
            <a:endParaRPr lang="en-US" sz="1250" dirty="0"/>
          </a:p>
        </p:txBody>
      </p:sp>
      <p:sp>
        <p:nvSpPr>
          <p:cNvPr id="11" name="Text 9"/>
          <p:cNvSpPr/>
          <p:nvPr/>
        </p:nvSpPr>
        <p:spPr>
          <a:xfrm>
            <a:off x="6995160" y="2286000"/>
            <a:ext cx="4480560" cy="822960"/>
          </a:xfrm>
          <a:prstGeom prst="rect">
            <a:avLst/>
          </a:prstGeom>
          <a:noFill/>
          <a:ln/>
        </p:spPr>
        <p:txBody>
          <a:bodyPr wrap="square" lIns="0" tIns="0" rIns="0" bIns="0" rtlCol="0" anchor="ctr"/>
          <a:lstStyle/>
          <a:p>
            <a:pPr indent="0" marL="0">
              <a:lnSpc>
                <a:spcPts val="2400"/>
              </a:lnSpc>
              <a:buNone/>
            </a:pPr>
            <a:r>
              <a:rPr lang="en-US" sz="1800" b="1" dirty="0">
                <a:solidFill>
                  <a:srgbClr val="0B1E1B"/>
                </a:solidFill>
                <a:latin typeface="Cambria" pitchFamily="34" charset="0"/>
                <a:ea typeface="Cambria" pitchFamily="34" charset="-122"/>
                <a:cs typeface="Cambria" pitchFamily="34" charset="-120"/>
              </a:rPr>
              <a:t>Penjaga yang selalu menolak sama saja dengan false yang dipasang tetap. Jadi kami jalankan dua arah.</a:t>
            </a:r>
            <a:endParaRPr lang="en-US" sz="1800" dirty="0"/>
          </a:p>
        </p:txBody>
      </p:sp>
      <p:sp>
        <p:nvSpPr>
          <p:cNvPr id="12" name="Text 10"/>
          <p:cNvSpPr/>
          <p:nvPr/>
        </p:nvSpPr>
        <p:spPr>
          <a:xfrm>
            <a:off x="6995160" y="3200400"/>
            <a:ext cx="2743200" cy="274320"/>
          </a:xfrm>
          <a:prstGeom prst="rect">
            <a:avLst/>
          </a:prstGeom>
          <a:noFill/>
          <a:ln/>
        </p:spPr>
        <p:txBody>
          <a:bodyPr wrap="square" lIns="0" tIns="0" rIns="0" bIns="0" rtlCol="0" anchor="ctr"/>
          <a:lstStyle/>
          <a:p>
            <a:pPr indent="0" marL="0">
              <a:buNone/>
            </a:pPr>
            <a:r>
              <a:rPr lang="en-US" sz="1200" dirty="0">
                <a:solidFill>
                  <a:srgbClr val="4A635D"/>
                </a:solidFill>
                <a:latin typeface="Calibri" pitchFamily="34" charset="0"/>
                <a:ea typeface="Calibri" pitchFamily="34" charset="-122"/>
                <a:cs typeface="Calibri" pitchFamily="34" charset="-120"/>
              </a:rPr>
              <a:t>Domain sumber (Carette)</a:t>
            </a:r>
            <a:endParaRPr lang="en-US" sz="1200" dirty="0"/>
          </a:p>
        </p:txBody>
      </p:sp>
      <p:sp>
        <p:nvSpPr>
          <p:cNvPr id="13" name="Text 11"/>
          <p:cNvSpPr/>
          <p:nvPr/>
        </p:nvSpPr>
        <p:spPr>
          <a:xfrm>
            <a:off x="9738360" y="3145536"/>
            <a:ext cx="1737360" cy="329184"/>
          </a:xfrm>
          <a:prstGeom prst="rect">
            <a:avLst/>
          </a:prstGeom>
          <a:noFill/>
          <a:ln/>
        </p:spPr>
        <p:txBody>
          <a:bodyPr wrap="square" lIns="0" tIns="0" rIns="0" bIns="0" rtlCol="0" anchor="ctr"/>
          <a:lstStyle/>
          <a:p>
            <a:pPr algn="r" indent="0" marL="0">
              <a:buNone/>
            </a:pPr>
            <a:r>
              <a:rPr lang="en-US" sz="1450" b="1" dirty="0">
                <a:solidFill>
                  <a:srgbClr val="0D8271"/>
                </a:solidFill>
                <a:latin typeface="Calibri" pitchFamily="34" charset="0"/>
                <a:ea typeface="Calibri" pitchFamily="34" charset="-122"/>
                <a:cs typeface="Calibri" pitchFamily="34" charset="-120"/>
              </a:rPr>
              <a:t>544 / 547 diterima</a:t>
            </a:r>
            <a:endParaRPr lang="en-US" sz="1450" dirty="0"/>
          </a:p>
        </p:txBody>
      </p:sp>
      <p:sp>
        <p:nvSpPr>
          <p:cNvPr id="14" name="Text 12"/>
          <p:cNvSpPr/>
          <p:nvPr/>
        </p:nvSpPr>
        <p:spPr>
          <a:xfrm>
            <a:off x="6995160" y="3767328"/>
            <a:ext cx="2743200" cy="274320"/>
          </a:xfrm>
          <a:prstGeom prst="rect">
            <a:avLst/>
          </a:prstGeom>
          <a:noFill/>
          <a:ln/>
        </p:spPr>
        <p:txBody>
          <a:bodyPr wrap="square" lIns="0" tIns="0" rIns="0" bIns="0" rtlCol="0" anchor="ctr"/>
          <a:lstStyle/>
          <a:p>
            <a:pPr indent="0" marL="0">
              <a:buNone/>
            </a:pPr>
            <a:r>
              <a:rPr lang="en-US" sz="1200" dirty="0">
                <a:solidFill>
                  <a:srgbClr val="4A635D"/>
                </a:solidFill>
                <a:latin typeface="Calibri" pitchFamily="34" charset="0"/>
                <a:ea typeface="Calibri" pitchFamily="34" charset="-122"/>
                <a:cs typeface="Calibri" pitchFamily="34" charset="-120"/>
              </a:rPr>
              <a:t>Stimulus yang dikirim</a:t>
            </a:r>
            <a:endParaRPr lang="en-US" sz="1200" dirty="0"/>
          </a:p>
        </p:txBody>
      </p:sp>
      <p:sp>
        <p:nvSpPr>
          <p:cNvPr id="15" name="Text 13"/>
          <p:cNvSpPr/>
          <p:nvPr/>
        </p:nvSpPr>
        <p:spPr>
          <a:xfrm>
            <a:off x="9738360" y="3712464"/>
            <a:ext cx="1737360" cy="329184"/>
          </a:xfrm>
          <a:prstGeom prst="rect">
            <a:avLst/>
          </a:prstGeom>
          <a:noFill/>
          <a:ln/>
        </p:spPr>
        <p:txBody>
          <a:bodyPr wrap="square" lIns="0" tIns="0" rIns="0" bIns="0" rtlCol="0" anchor="ctr"/>
          <a:lstStyle/>
          <a:p>
            <a:pPr algn="r" indent="0" marL="0">
              <a:buNone/>
            </a:pPr>
            <a:r>
              <a:rPr lang="en-US" sz="1450" b="1" dirty="0">
                <a:solidFill>
                  <a:srgbClr val="B1442C"/>
                </a:solidFill>
                <a:latin typeface="Calibri" pitchFamily="34" charset="0"/>
                <a:ea typeface="Calibri" pitchFamily="34" charset="-122"/>
                <a:cs typeface="Calibri" pitchFamily="34" charset="-120"/>
              </a:rPr>
              <a:t>1 / 23 diterima</a:t>
            </a:r>
            <a:endParaRPr lang="en-US" sz="1450" dirty="0"/>
          </a:p>
        </p:txBody>
      </p:sp>
      <p:sp>
        <p:nvSpPr>
          <p:cNvPr id="16" name="Text 14"/>
          <p:cNvSpPr/>
          <p:nvPr/>
        </p:nvSpPr>
        <p:spPr>
          <a:xfrm>
            <a:off x="6995160" y="4334256"/>
            <a:ext cx="2743200" cy="274320"/>
          </a:xfrm>
          <a:prstGeom prst="rect">
            <a:avLst/>
          </a:prstGeom>
          <a:noFill/>
          <a:ln/>
        </p:spPr>
        <p:txBody>
          <a:bodyPr wrap="square" lIns="0" tIns="0" rIns="0" bIns="0" rtlCol="0" anchor="ctr"/>
          <a:lstStyle/>
          <a:p>
            <a:pPr indent="0" marL="0">
              <a:buNone/>
            </a:pPr>
            <a:r>
              <a:rPr lang="en-US" sz="1200" dirty="0">
                <a:solidFill>
                  <a:srgbClr val="4A635D"/>
                </a:solidFill>
                <a:latin typeface="Calibri" pitchFamily="34" charset="0"/>
                <a:ea typeface="Calibri" pitchFamily="34" charset="-122"/>
                <a:cs typeface="Calibri" pitchFamily="34" charset="-120"/>
              </a:rPr>
              <a:t>Keputusan direproduksi Python</a:t>
            </a:r>
            <a:endParaRPr lang="en-US" sz="1200" dirty="0"/>
          </a:p>
        </p:txBody>
      </p:sp>
      <p:sp>
        <p:nvSpPr>
          <p:cNvPr id="17" name="Text 15"/>
          <p:cNvSpPr/>
          <p:nvPr/>
        </p:nvSpPr>
        <p:spPr>
          <a:xfrm>
            <a:off x="9738360" y="4279392"/>
            <a:ext cx="1737360" cy="329184"/>
          </a:xfrm>
          <a:prstGeom prst="rect">
            <a:avLst/>
          </a:prstGeom>
          <a:noFill/>
          <a:ln/>
        </p:spPr>
        <p:txBody>
          <a:bodyPr wrap="square" lIns="0" tIns="0" rIns="0" bIns="0" rtlCol="0" anchor="ctr"/>
          <a:lstStyle/>
          <a:p>
            <a:pPr algn="r" indent="0" marL="0">
              <a:buNone/>
            </a:pPr>
            <a:r>
              <a:rPr lang="en-US" sz="1450" b="1" dirty="0">
                <a:solidFill>
                  <a:srgbClr val="14302B"/>
                </a:solidFill>
                <a:latin typeface="Calibri" pitchFamily="34" charset="0"/>
                <a:ea typeface="Calibri" pitchFamily="34" charset="-122"/>
                <a:cs typeface="Calibri" pitchFamily="34" charset="-120"/>
              </a:rPr>
              <a:t>23 / 23</a:t>
            </a:r>
            <a:endParaRPr lang="en-US" sz="1450" dirty="0"/>
          </a:p>
        </p:txBody>
      </p:sp>
      <p:sp>
        <p:nvSpPr>
          <p:cNvPr id="18" name="Text 16"/>
          <p:cNvSpPr/>
          <p:nvPr/>
        </p:nvSpPr>
        <p:spPr>
          <a:xfrm>
            <a:off x="685800" y="4846320"/>
            <a:ext cx="10424160" cy="548640"/>
          </a:xfrm>
          <a:prstGeom prst="rect">
            <a:avLst/>
          </a:prstGeom>
          <a:noFill/>
          <a:ln/>
        </p:spPr>
        <p:txBody>
          <a:bodyPr wrap="square" lIns="0" tIns="0" rIns="0" bIns="0" rtlCol="0" anchor="ctr"/>
          <a:lstStyle/>
          <a:p>
            <a:pPr indent="0" marL="0">
              <a:lnSpc>
                <a:spcPts val="1800"/>
              </a:lnSpc>
              <a:buNone/>
            </a:pPr>
            <a:r>
              <a:rPr lang="en-US" sz="1300" dirty="0">
                <a:solidFill>
                  <a:srgbClr val="14302B"/>
                </a:solidFill>
                <a:latin typeface="Calibri" pitchFamily="34" charset="0"/>
                <a:ea typeface="Calibri" pitchFamily="34" charset="-122"/>
                <a:cs typeface="Calibri" pitchFamily="34" charset="-120"/>
              </a:rPr>
              <a:t>Ia menerima hampir semua yang berasal dari kohort yang membangunnya, dan menolak setiap sesi pada stimulus sekarang — sambil menyebut fiturnya: ink_frac di 22 dari 23 sesi.</a:t>
            </a:r>
            <a:endParaRPr lang="en-US" sz="1300" dirty="0"/>
          </a:p>
        </p:txBody>
      </p:sp>
      <p:sp>
        <p:nvSpPr>
          <p:cNvPr id="19" name="Text 17"/>
          <p:cNvSpPr/>
          <p:nvPr/>
        </p:nvSpPr>
        <p:spPr>
          <a:xfrm>
            <a:off x="685800" y="5440680"/>
            <a:ext cx="10424160" cy="457200"/>
          </a:xfrm>
          <a:prstGeom prst="rect">
            <a:avLst/>
          </a:prstGeom>
          <a:noFill/>
          <a:ln/>
        </p:spPr>
        <p:txBody>
          <a:bodyPr wrap="square" lIns="0" tIns="0" rIns="0" bIns="0" rtlCol="0" anchor="ctr"/>
          <a:lstStyle/>
          <a:p>
            <a:pPr indent="0" marL="0">
              <a:lnSpc>
                <a:spcPts val="2100"/>
              </a:lnSpc>
              <a:buNone/>
            </a:pPr>
            <a:r>
              <a:rPr lang="en-US" sz="1500" i="1" dirty="0">
                <a:solidFill>
                  <a:srgbClr val="0D8271"/>
                </a:solidFill>
                <a:latin typeface="Cambria" pitchFamily="34" charset="0"/>
                <a:ea typeface="Cambria" pitchFamily="34" charset="-122"/>
                <a:cs typeface="Cambria" pitchFamily="34" charset="-120"/>
              </a:rPr>
              <a:t>Keputusan itu dibuat TypeScript di peramban saat sesi berjalan. Python menghitungnya ulang dari log dan mendapat verdict yang sama, 23 dari 23.</a:t>
            </a:r>
            <a:endParaRPr lang="en-US" sz="1500" dirty="0"/>
          </a:p>
        </p:txBody>
      </p:sp>
      <p:sp>
        <p:nvSpPr>
          <p:cNvPr id="20" name="Text 18"/>
          <p:cNvSpPr/>
          <p:nvPr/>
        </p:nvSpPr>
        <p:spPr>
          <a:xfrm>
            <a:off x="685800" y="5943600"/>
            <a:ext cx="10424160" cy="274320"/>
          </a:xfrm>
          <a:prstGeom prst="rect">
            <a:avLst/>
          </a:prstGeom>
          <a:noFill/>
          <a:ln/>
        </p:spPr>
        <p:txBody>
          <a:bodyPr wrap="square" lIns="0" tIns="0" rIns="0" bIns="0" rtlCol="0" anchor="ctr"/>
          <a:lstStyle/>
          <a:p>
            <a:pPr indent="0" marL="0">
              <a:buNone/>
            </a:pPr>
            <a:r>
              <a:rPr lang="en-US" sz="1000" dirty="0">
                <a:solidFill>
                  <a:srgbClr val="4A635D"/>
                </a:solidFill>
                <a:latin typeface="Calibri" pitchFamily="34" charset="0"/>
                <a:ea typeface="Calibri" pitchFamily="34" charset="-122"/>
                <a:cs typeface="Calibri" pitchFamily="34" charset="-120"/>
              </a:rPr>
              <a:t>Sumber: research/hasil/ood_dua_arah.json · kalibrasi referensi persentil 99,5 sehingga tingkat penerimaan domain sumber adalah pemeriksaan kewarasan, bukan uji generalisasi</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8"/>
        </a:solidFill>
      </p:bgPr>
    </p:bg>
    <p:spTree>
      <p:nvGrpSpPr>
        <p:cNvPr id="1" name=""/>
        <p:cNvGrpSpPr/>
        <p:nvPr/>
      </p:nvGrpSpPr>
      <p:grpSpPr>
        <a:xfrm>
          <a:off x="0" y="0"/>
          <a:ext cx="0" cy="0"/>
          <a:chOff x="0" y="0"/>
          <a:chExt cx="0" cy="0"/>
        </a:xfrm>
      </p:grpSpPr>
      <p:sp>
        <p:nvSpPr>
          <p:cNvPr id="2" name="Shape 0"/>
          <p:cNvSpPr/>
          <p:nvPr/>
        </p:nvSpPr>
        <p:spPr>
          <a:xfrm>
            <a:off x="11268151" y="740664"/>
            <a:ext cx="237744" cy="237744"/>
          </a:xfrm>
          <a:prstGeom prst="ellipse">
            <a:avLst/>
          </a:prstGeom>
          <a:solidFill>
            <a:srgbClr val="FFFFFF">
              <a:alpha val="0"/>
            </a:srgbClr>
          </a:solidFill>
          <a:ln w="25400">
            <a:solidFill>
              <a:srgbClr val="5CB9A3"/>
            </a:solidFill>
            <a:prstDash val="solid"/>
          </a:ln>
        </p:spPr>
      </p:sp>
      <p:sp>
        <p:nvSpPr>
          <p:cNvPr id="3" name="Shape 1"/>
          <p:cNvSpPr/>
          <p:nvPr/>
        </p:nvSpPr>
        <p:spPr>
          <a:xfrm>
            <a:off x="11339474" y="811987"/>
            <a:ext cx="95098" cy="95098"/>
          </a:xfrm>
          <a:prstGeom prst="ellipse">
            <a:avLst/>
          </a:prstGeom>
          <a:solidFill>
            <a:srgbClr val="5CB9A3"/>
          </a:solidFill>
          <a:ln w="12700">
            <a:solidFill>
              <a:srgbClr val="333333"/>
            </a:solidFill>
            <a:prstDash val="solid"/>
          </a:ln>
        </p:spPr>
      </p:sp>
      <p:sp>
        <p:nvSpPr>
          <p:cNvPr id="4" name="Text 2"/>
          <p:cNvSpPr/>
          <p:nvPr/>
        </p:nvSpPr>
        <p:spPr>
          <a:xfrm>
            <a:off x="685800" y="685800"/>
            <a:ext cx="10271455" cy="256032"/>
          </a:xfrm>
          <a:prstGeom prst="rect">
            <a:avLst/>
          </a:prstGeom>
          <a:noFill/>
          <a:ln/>
        </p:spPr>
        <p:txBody>
          <a:bodyPr wrap="square" lIns="0" tIns="0" rIns="0" bIns="0" rtlCol="0" anchor="ctr"/>
          <a:lstStyle/>
          <a:p>
            <a:pPr indent="0" marL="0">
              <a:buNone/>
            </a:pPr>
            <a:r>
              <a:rPr lang="en-US" sz="1200" b="1" spc="120" kern="0" dirty="0">
                <a:solidFill>
                  <a:srgbClr val="0D8271"/>
                </a:solidFill>
                <a:latin typeface="Calibri" pitchFamily="34" charset="0"/>
                <a:ea typeface="Calibri" pitchFamily="34" charset="-122"/>
                <a:cs typeface="Calibri" pitchFamily="34" charset="-120"/>
              </a:rPr>
              <a:t>Kenapa punya batas</a:t>
            </a:r>
            <a:endParaRPr lang="en-US" sz="1200" dirty="0"/>
          </a:p>
        </p:txBody>
      </p:sp>
      <p:sp>
        <p:nvSpPr>
          <p:cNvPr id="5" name="Text 3"/>
          <p:cNvSpPr/>
          <p:nvPr/>
        </p:nvSpPr>
        <p:spPr>
          <a:xfrm>
            <a:off x="685800" y="996696"/>
            <a:ext cx="10271455" cy="822960"/>
          </a:xfrm>
          <a:prstGeom prst="rect">
            <a:avLst/>
          </a:prstGeom>
          <a:noFill/>
          <a:ln/>
        </p:spPr>
        <p:txBody>
          <a:bodyPr wrap="square" lIns="0" tIns="0" rIns="0" bIns="0" rtlCol="0" anchor="ctr"/>
          <a:lstStyle/>
          <a:p>
            <a:pPr indent="0" marL="0">
              <a:lnSpc>
                <a:spcPts val="3600"/>
              </a:lnSpc>
              <a:buNone/>
            </a:pPr>
            <a:r>
              <a:rPr lang="en-US" sz="3200" b="1" dirty="0">
                <a:solidFill>
                  <a:srgbClr val="0B1E1B"/>
                </a:solidFill>
                <a:latin typeface="Cambria" pitchFamily="34" charset="0"/>
                <a:ea typeface="Cambria" pitchFamily="34" charset="-122"/>
                <a:cs typeface="Cambria" pitchFamily="34" charset="-120"/>
              </a:rPr>
              <a:t>Kami memilih titik kerja yang menemukan paling sedikit</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2194560"/>
          <a:ext cx="10424160" cy="914400"/>
        </p:xfrm>
        <a:graphic>
          <a:graphicData uri="http://schemas.openxmlformats.org/drawingml/2006/table">
            <a:tbl>
              <a:tblPr/>
              <a:tblGrid>
                <a:gridCol w="3657600"/>
                <a:gridCol w="1371600"/>
                <a:gridCol w="1371600"/>
                <a:gridCol w="1920240"/>
                <a:gridCol w="2103120"/>
              </a:tblGrid>
              <a:tr h="402336">
                <a:tc>
                  <a:txBody>
                    <a:bodyPr/>
                    <a:lstStyle/>
                    <a:p>
                      <a:pPr indent="0" marL="0">
                        <a:buNone/>
                      </a:pPr>
                      <a:r>
                        <a:rPr lang="en-US" sz="1300" b="1" dirty="0">
                          <a:solidFill>
                            <a:srgbClr val="14302B"/>
                          </a:solidFill>
                          <a:latin typeface="Calibri" pitchFamily="34" charset="0"/>
                          <a:ea typeface="Calibri" pitchFamily="34" charset="-122"/>
                          <a:cs typeface="Calibri" pitchFamily="34" charset="-120"/>
                        </a:rPr>
                        <a:t>Titik kerja</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b="1" dirty="0">
                          <a:solidFill>
                            <a:srgbClr val="14302B"/>
                          </a:solidFill>
                          <a:latin typeface="Calibri" pitchFamily="34" charset="0"/>
                          <a:ea typeface="Calibri" pitchFamily="34" charset="-122"/>
                          <a:cs typeface="Calibri" pitchFamily="34" charset="-120"/>
                        </a:rPr>
                        <a:t>Sens</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b="1" dirty="0">
                          <a:solidFill>
                            <a:srgbClr val="14302B"/>
                          </a:solidFill>
                          <a:latin typeface="Calibri" pitchFamily="34" charset="0"/>
                          <a:ea typeface="Calibri" pitchFamily="34" charset="-122"/>
                          <a:cs typeface="Calibri" pitchFamily="34" charset="-120"/>
                        </a:rPr>
                        <a:t>Spec</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b="1" dirty="0">
                          <a:solidFill>
                            <a:srgbClr val="14302B"/>
                          </a:solidFill>
                          <a:latin typeface="Calibri" pitchFamily="34" charset="0"/>
                          <a:ea typeface="Calibri" pitchFamily="34" charset="-122"/>
                          <a:cs typeface="Calibri" pitchFamily="34" charset="-120"/>
                        </a:rPr>
                        <a:t>Laju rujukan</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b="1" dirty="0">
                          <a:solidFill>
                            <a:srgbClr val="14302B"/>
                          </a:solidFill>
                          <a:latin typeface="Calibri" pitchFamily="34" charset="0"/>
                          <a:ea typeface="Calibri" pitchFamily="34" charset="-122"/>
                          <a:cs typeface="Calibri" pitchFamily="34" charset="-120"/>
                        </a:rPr>
                        <a:t>Rujukan per 1 kasus</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Regresi logistik, sensitivitas 0,9</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0,923</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0,179</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82,2%</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89,1</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Regresi logistik, Youden</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0,731</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0,821</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18,4%</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25,2</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0D8271"/>
                          </a:solidFill>
                          <a:latin typeface="Calibri" pitchFamily="34" charset="0"/>
                          <a:ea typeface="Calibri" pitchFamily="34" charset="-122"/>
                          <a:cs typeface="Calibri" pitchFamily="34" charset="-120"/>
                        </a:rPr>
                        <a:t>GeoPref 69% — yang dipakai</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b="1" dirty="0">
                          <a:solidFill>
                            <a:srgbClr val="0D8271"/>
                          </a:solidFill>
                          <a:latin typeface="Calibri" pitchFamily="34" charset="0"/>
                          <a:ea typeface="Calibri" pitchFamily="34" charset="-122"/>
                          <a:cs typeface="Calibri" pitchFamily="34" charset="-120"/>
                        </a:rPr>
                        <a:t>0,170</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b="1" dirty="0">
                          <a:solidFill>
                            <a:srgbClr val="0D8271"/>
                          </a:solidFill>
                          <a:latin typeface="Calibri" pitchFamily="34" charset="0"/>
                          <a:ea typeface="Calibri" pitchFamily="34" charset="-122"/>
                          <a:cs typeface="Calibri" pitchFamily="34" charset="-120"/>
                        </a:rPr>
                        <a:t>0,980</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b="1" dirty="0">
                          <a:solidFill>
                            <a:srgbClr val="0D8271"/>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b="1" dirty="0">
                          <a:solidFill>
                            <a:srgbClr val="0D8271"/>
                          </a:solidFill>
                          <a:latin typeface="Calibri" pitchFamily="34" charset="0"/>
                          <a:ea typeface="Calibri" pitchFamily="34" charset="-122"/>
                          <a:cs typeface="Calibri" pitchFamily="34" charset="-120"/>
                        </a:rPr>
                        <a:t>12,6</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Target Gate C (preseden tablet)</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0,878</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0,808</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19,9%</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c>
                  <a:txBody>
                    <a:bodyPr/>
                    <a:lstStyle/>
                    <a:p>
                      <a:pPr indent="0" marL="0">
                        <a:buNone/>
                      </a:pPr>
                      <a:r>
                        <a:rPr lang="en-US" sz="1300" dirty="0">
                          <a:solidFill>
                            <a:srgbClr val="14302B"/>
                          </a:solidFill>
                          <a:latin typeface="Calibri" pitchFamily="34" charset="0"/>
                          <a:ea typeface="Calibri" pitchFamily="34" charset="-122"/>
                          <a:cs typeface="Calibri" pitchFamily="34" charset="-120"/>
                        </a:rPr>
                        <a:t>22,6</a:t>
                      </a:r>
                      <a:endParaRPr lang="en-US" sz="1300" dirty="0">
                        <a:latin typeface="Calibri" charset="0"/>
                        <a:ea typeface="Calibri" charset="0"/>
                        <a:cs typeface="Calibri" charset="0"/>
                      </a:endParaRPr>
                    </a:p>
                  </a:txBody>
                  <a:tcPr marL="82296" marR="82296" marT="82296" marB="82296" anchor="ctr">
                    <a:lnL w="12700" cap="flat" cmpd="sng" algn="ctr">
                      <a:solidFill>
                        <a:srgbClr val="DBE4E1"/>
                      </a:solidFill>
                      <a:prstDash val="solid"/>
                      <a:round/>
                      <a:headEnd type="none" w="med" len="med"/>
                      <a:tailEnd type="none" w="med" len="med"/>
                    </a:lnL>
                    <a:lnR w="12700" cap="flat" cmpd="sng" algn="ctr">
                      <a:solidFill>
                        <a:srgbClr val="DBE4E1"/>
                      </a:solidFill>
                      <a:prstDash val="solid"/>
                      <a:round/>
                      <a:headEnd type="none" w="med" len="med"/>
                      <a:tailEnd type="none" w="med" len="med"/>
                    </a:lnR>
                    <a:lnT w="12700" cap="flat" cmpd="sng" algn="ctr">
                      <a:solidFill>
                        <a:srgbClr val="DBE4E1"/>
                      </a:solidFill>
                      <a:prstDash val="solid"/>
                      <a:round/>
                      <a:headEnd type="none" w="med" len="med"/>
                      <a:tailEnd type="none" w="med" len="med"/>
                    </a:lnT>
                    <a:lnB w="12700" cap="flat" cmpd="sng" algn="ctr">
                      <a:solidFill>
                        <a:srgbClr val="DBE4E1"/>
                      </a:solidFill>
                      <a:prstDash val="solid"/>
                      <a:round/>
                      <a:headEnd type="none" w="med" len="med"/>
                      <a:tailEnd type="none" w="med" len="med"/>
                    </a:lnB>
                    <a:solidFill>
                      <a:srgbClr val="FFFFFF"/>
                    </a:solidFill>
                  </a:tcPr>
                </a:tc>
              </a:tr>
            </a:tbl>
          </a:graphicData>
        </a:graphic>
      </p:graphicFrame>
      <p:sp>
        <p:nvSpPr>
          <p:cNvPr id="7" name="Shape 4"/>
          <p:cNvSpPr/>
          <p:nvPr/>
        </p:nvSpPr>
        <p:spPr>
          <a:xfrm>
            <a:off x="685800" y="4572000"/>
            <a:ext cx="6766560" cy="1051560"/>
          </a:xfrm>
          <a:prstGeom prst="roundRect">
            <a:avLst>
              <a:gd name="adj" fmla="val 5217"/>
            </a:avLst>
          </a:prstGeom>
          <a:solidFill>
            <a:srgbClr val="FFFFFF"/>
          </a:solidFill>
          <a:ln w="12700">
            <a:solidFill>
              <a:srgbClr val="DBE4E1"/>
            </a:solidFill>
            <a:prstDash val="solid"/>
          </a:ln>
        </p:spPr>
      </p:sp>
      <p:sp>
        <p:nvSpPr>
          <p:cNvPr id="8" name="Text 5"/>
          <p:cNvSpPr/>
          <p:nvPr/>
        </p:nvSpPr>
        <p:spPr>
          <a:xfrm>
            <a:off x="941832" y="4754880"/>
            <a:ext cx="6309360" cy="731520"/>
          </a:xfrm>
          <a:prstGeom prst="rect">
            <a:avLst/>
          </a:prstGeom>
          <a:noFill/>
          <a:ln/>
        </p:spPr>
        <p:txBody>
          <a:bodyPr wrap="square" lIns="0" tIns="0" rIns="0" bIns="0" rtlCol="0" anchor="ctr"/>
          <a:lstStyle/>
          <a:p>
            <a:pPr indent="0" marL="0">
              <a:lnSpc>
                <a:spcPts val="1700"/>
              </a:lnSpc>
              <a:spcBef>
                <a:spcPts val="400"/>
              </a:spcBef>
              <a:buNone/>
            </a:pPr>
            <a:r>
              <a:rPr lang="en-US" sz="1250" dirty="0">
                <a:solidFill>
                  <a:srgbClr val="14302B"/>
                </a:solidFill>
                <a:latin typeface="Calibri" pitchFamily="34" charset="0"/>
                <a:ea typeface="Calibri" pitchFamily="34" charset="-122"/>
                <a:cs typeface="Calibri" pitchFamily="34" charset="-120"/>
              </a:rPr>
              <a:t>“Kalau semua langsung dirujuk, tenaga dan jadwal yang tersedia mungkin kewalahan.”</a:t>
            </a:r>
            <a:endParaRPr lang="en-US" sz="1250" dirty="0"/>
          </a:p>
          <a:p>
            <a:pPr indent="0" marL="0">
              <a:lnSpc>
                <a:spcPts val="1700"/>
              </a:lnSpc>
              <a:spcBef>
                <a:spcPts val="400"/>
              </a:spcBef>
              <a:buNone/>
            </a:pPr>
            <a:r>
              <a:rPr lang="en-US" sz="1050" dirty="0">
                <a:solidFill>
                  <a:srgbClr val="4A635D"/>
                </a:solidFill>
                <a:latin typeface="Calibri" pitchFamily="34" charset="0"/>
                <a:ea typeface="Calibri" pitchFamily="34" charset="-122"/>
                <a:cs typeface="Calibri" pitchFamily="34" charset="-120"/>
              </a:rPr>
              <a:t>Guru SLB di Jambi, ditanya apakah layanan sanggup menampung tiga kali lipat rujukan</a:t>
            </a:r>
            <a:endParaRPr lang="en-US" sz="1250" dirty="0"/>
          </a:p>
        </p:txBody>
      </p:sp>
      <p:sp>
        <p:nvSpPr>
          <p:cNvPr id="9" name="Shape 6"/>
          <p:cNvSpPr/>
          <p:nvPr/>
        </p:nvSpPr>
        <p:spPr>
          <a:xfrm>
            <a:off x="7726680" y="4572000"/>
            <a:ext cx="3383280" cy="1051560"/>
          </a:xfrm>
          <a:prstGeom prst="roundRect">
            <a:avLst>
              <a:gd name="adj" fmla="val 5217"/>
            </a:avLst>
          </a:prstGeom>
          <a:solidFill>
            <a:srgbClr val="FBEAE5"/>
          </a:solidFill>
          <a:ln w="12700">
            <a:solidFill>
              <a:srgbClr val="FBEAE5"/>
            </a:solidFill>
            <a:prstDash val="solid"/>
          </a:ln>
        </p:spPr>
      </p:sp>
      <p:sp>
        <p:nvSpPr>
          <p:cNvPr id="10" name="Text 7"/>
          <p:cNvSpPr/>
          <p:nvPr/>
        </p:nvSpPr>
        <p:spPr>
          <a:xfrm>
            <a:off x="7955280" y="4681728"/>
            <a:ext cx="2926080" cy="442452"/>
          </a:xfrm>
          <a:prstGeom prst="rect">
            <a:avLst/>
          </a:prstGeom>
          <a:noFill/>
          <a:ln/>
        </p:spPr>
        <p:txBody>
          <a:bodyPr wrap="square" lIns="0" tIns="0" rIns="0" bIns="0" rtlCol="0" anchor="ctr"/>
          <a:lstStyle/>
          <a:p>
            <a:pPr indent="0" marL="0">
              <a:lnSpc>
                <a:spcPts val="3000"/>
              </a:lnSpc>
              <a:buNone/>
            </a:pPr>
            <a:r>
              <a:rPr lang="en-US" sz="3000" b="1" dirty="0">
                <a:solidFill>
                  <a:srgbClr val="B1442C"/>
                </a:solidFill>
                <a:latin typeface="Cambria" pitchFamily="34" charset="0"/>
                <a:ea typeface="Cambria" pitchFamily="34" charset="-122"/>
                <a:cs typeface="Cambria" pitchFamily="34" charset="-120"/>
              </a:rPr>
              <a:t>38,3×</a:t>
            </a:r>
            <a:endParaRPr lang="en-US" sz="3000" dirty="0"/>
          </a:p>
        </p:txBody>
      </p:sp>
      <p:sp>
        <p:nvSpPr>
          <p:cNvPr id="11" name="Text 8"/>
          <p:cNvSpPr/>
          <p:nvPr/>
        </p:nvSpPr>
        <p:spPr>
          <a:xfrm>
            <a:off x="7955280" y="5179044"/>
            <a:ext cx="2926080" cy="274320"/>
          </a:xfrm>
          <a:prstGeom prst="rect">
            <a:avLst/>
          </a:prstGeom>
          <a:noFill/>
          <a:ln/>
        </p:spPr>
        <p:txBody>
          <a:bodyPr wrap="square" lIns="0" tIns="0" rIns="0" bIns="0" rtlCol="0" anchor="ctr"/>
          <a:lstStyle/>
          <a:p>
            <a:pPr indent="0" marL="0">
              <a:buNone/>
            </a:pPr>
            <a:r>
              <a:rPr lang="en-US" sz="1400" b="1" dirty="0">
                <a:solidFill>
                  <a:srgbClr val="14302B"/>
                </a:solidFill>
                <a:latin typeface="Calibri" pitchFamily="34" charset="0"/>
                <a:ea typeface="Calibri" pitchFamily="34" charset="-122"/>
                <a:cs typeface="Calibri" pitchFamily="34" charset="-120"/>
              </a:rPr>
              <a:t>beban rujukan baris teratas</a:t>
            </a:r>
            <a:endParaRPr lang="en-US" sz="1400" dirty="0"/>
          </a:p>
        </p:txBody>
      </p:sp>
      <p:sp>
        <p:nvSpPr>
          <p:cNvPr id="12" name="Text 9"/>
          <p:cNvSpPr/>
          <p:nvPr/>
        </p:nvSpPr>
        <p:spPr>
          <a:xfrm>
            <a:off x="7955280" y="5489940"/>
            <a:ext cx="2926080" cy="640080"/>
          </a:xfrm>
          <a:prstGeom prst="rect">
            <a:avLst/>
          </a:prstGeom>
          <a:noFill/>
          <a:ln/>
        </p:spPr>
        <p:txBody>
          <a:bodyPr wrap="square" lIns="0" tIns="0" rIns="0" bIns="0" rtlCol="0" anchor="ctr"/>
          <a:lstStyle/>
          <a:p>
            <a:pPr indent="0" marL="0">
              <a:lnSpc>
                <a:spcPts val="1500"/>
              </a:lnSpc>
              <a:buNone/>
            </a:pPr>
            <a:r>
              <a:rPr lang="en-US" sz="1200" dirty="0">
                <a:solidFill>
                  <a:srgbClr val="4A635D"/>
                </a:solidFill>
                <a:latin typeface="Calibri" pitchFamily="34" charset="0"/>
                <a:ea typeface="Calibri" pitchFamily="34" charset="-122"/>
                <a:cs typeface="Calibri" pitchFamily="34" charset="-120"/>
              </a:rPr>
              <a:t>dibanding titik kerja yang dikirim</a:t>
            </a:r>
            <a:endParaRPr lang="en-US" sz="1200" dirty="0"/>
          </a:p>
        </p:txBody>
      </p:sp>
      <p:sp>
        <p:nvSpPr>
          <p:cNvPr id="13" name="Text 10"/>
          <p:cNvSpPr/>
          <p:nvPr/>
        </p:nvSpPr>
        <p:spPr>
          <a:xfrm>
            <a:off x="685800" y="5760720"/>
            <a:ext cx="10424160" cy="502920"/>
          </a:xfrm>
          <a:prstGeom prst="rect">
            <a:avLst/>
          </a:prstGeom>
          <a:noFill/>
          <a:ln/>
        </p:spPr>
        <p:txBody>
          <a:bodyPr wrap="square" lIns="0" tIns="0" rIns="0" bIns="0" rtlCol="0" anchor="ctr"/>
          <a:lstStyle/>
          <a:p>
            <a:pPr indent="0" marL="0">
              <a:lnSpc>
                <a:spcPts val="2100"/>
              </a:lnSpc>
              <a:buNone/>
            </a:pPr>
            <a:r>
              <a:rPr lang="en-US" sz="1500" b="1" i="1" dirty="0">
                <a:solidFill>
                  <a:srgbClr val="0B1E1B"/>
                </a:solidFill>
                <a:latin typeface="Cambria" pitchFamily="34" charset="0"/>
                <a:ea typeface="Cambria" pitchFamily="34" charset="-122"/>
                <a:cs typeface="Cambria" pitchFamily="34" charset="-120"/>
              </a:rPr>
              <a:t>Tiga kali lipat sudah dinilai sulit. Baris bersensitivitas 92 persen bukan tiga kali — ia 38 kali. Kami memilih baris yang paling sedikit menemukan karena itu satu-satunya yang muat.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8"/>
        </a:solidFill>
      </p:bgPr>
    </p:bg>
    <p:spTree>
      <p:nvGrpSpPr>
        <p:cNvPr id="1" name=""/>
        <p:cNvGrpSpPr/>
        <p:nvPr/>
      </p:nvGrpSpPr>
      <p:grpSpPr>
        <a:xfrm>
          <a:off x="0" y="0"/>
          <a:ext cx="0" cy="0"/>
          <a:chOff x="0" y="0"/>
          <a:chExt cx="0" cy="0"/>
        </a:xfrm>
      </p:grpSpPr>
      <p:sp>
        <p:nvSpPr>
          <p:cNvPr id="2" name="Shape 0"/>
          <p:cNvSpPr/>
          <p:nvPr/>
        </p:nvSpPr>
        <p:spPr>
          <a:xfrm>
            <a:off x="11268151" y="740664"/>
            <a:ext cx="237744" cy="237744"/>
          </a:xfrm>
          <a:prstGeom prst="ellipse">
            <a:avLst/>
          </a:prstGeom>
          <a:solidFill>
            <a:srgbClr val="FFFFFF">
              <a:alpha val="0"/>
            </a:srgbClr>
          </a:solidFill>
          <a:ln w="25400">
            <a:solidFill>
              <a:srgbClr val="5CB9A3"/>
            </a:solidFill>
            <a:prstDash val="solid"/>
          </a:ln>
        </p:spPr>
      </p:sp>
      <p:sp>
        <p:nvSpPr>
          <p:cNvPr id="3" name="Shape 1"/>
          <p:cNvSpPr/>
          <p:nvPr/>
        </p:nvSpPr>
        <p:spPr>
          <a:xfrm>
            <a:off x="11339474" y="811987"/>
            <a:ext cx="95098" cy="95098"/>
          </a:xfrm>
          <a:prstGeom prst="ellipse">
            <a:avLst/>
          </a:prstGeom>
          <a:solidFill>
            <a:srgbClr val="5CB9A3"/>
          </a:solidFill>
          <a:ln w="12700">
            <a:solidFill>
              <a:srgbClr val="333333"/>
            </a:solidFill>
            <a:prstDash val="solid"/>
          </a:ln>
        </p:spPr>
      </p:sp>
      <p:sp>
        <p:nvSpPr>
          <p:cNvPr id="4" name="Text 2"/>
          <p:cNvSpPr/>
          <p:nvPr/>
        </p:nvSpPr>
        <p:spPr>
          <a:xfrm>
            <a:off x="685800" y="685800"/>
            <a:ext cx="10271455" cy="256032"/>
          </a:xfrm>
          <a:prstGeom prst="rect">
            <a:avLst/>
          </a:prstGeom>
          <a:noFill/>
          <a:ln/>
        </p:spPr>
        <p:txBody>
          <a:bodyPr wrap="square" lIns="0" tIns="0" rIns="0" bIns="0" rtlCol="0" anchor="ctr"/>
          <a:lstStyle/>
          <a:p>
            <a:pPr indent="0" marL="0">
              <a:buNone/>
            </a:pPr>
            <a:r>
              <a:rPr lang="en-US" sz="1200" b="1" spc="120" kern="0" dirty="0">
                <a:solidFill>
                  <a:srgbClr val="0D8271"/>
                </a:solidFill>
                <a:latin typeface="Calibri" pitchFamily="34" charset="0"/>
                <a:ea typeface="Calibri" pitchFamily="34" charset="-122"/>
                <a:cs typeface="Calibri" pitchFamily="34" charset="-120"/>
              </a:rPr>
              <a:t>Lapis bobot · hasil negatif</a:t>
            </a:r>
            <a:endParaRPr lang="en-US" sz="1200" dirty="0"/>
          </a:p>
        </p:txBody>
      </p:sp>
      <p:sp>
        <p:nvSpPr>
          <p:cNvPr id="5" name="Text 3"/>
          <p:cNvSpPr/>
          <p:nvPr/>
        </p:nvSpPr>
        <p:spPr>
          <a:xfrm>
            <a:off x="685800" y="996696"/>
            <a:ext cx="10271455" cy="822960"/>
          </a:xfrm>
          <a:prstGeom prst="rect">
            <a:avLst/>
          </a:prstGeom>
          <a:noFill/>
          <a:ln/>
        </p:spPr>
        <p:txBody>
          <a:bodyPr wrap="square" lIns="0" tIns="0" rIns="0" bIns="0" rtlCol="0" anchor="ctr"/>
          <a:lstStyle/>
          <a:p>
            <a:pPr indent="0" marL="0">
              <a:lnSpc>
                <a:spcPts val="3600"/>
              </a:lnSpc>
              <a:buNone/>
            </a:pPr>
            <a:r>
              <a:rPr lang="en-US" sz="3200" b="1" dirty="0">
                <a:solidFill>
                  <a:srgbClr val="0B1E1B"/>
                </a:solidFill>
                <a:latin typeface="Cambria" pitchFamily="34" charset="0"/>
                <a:ea typeface="Cambria" pitchFamily="34" charset="-122"/>
                <a:cs typeface="Cambria" pitchFamily="34" charset="-120"/>
              </a:rPr>
              <a:t>Kami unduh data anak yang terbit, pasang bobotnya, lalu auditnya membunuhnya</a:t>
            </a:r>
            <a:endParaRPr lang="en-US" sz="3200" dirty="0"/>
          </a:p>
        </p:txBody>
      </p:sp>
      <p:sp>
        <p:nvSpPr>
          <p:cNvPr id="6" name="Text 4"/>
          <p:cNvSpPr/>
          <p:nvPr/>
        </p:nvSpPr>
        <p:spPr>
          <a:xfrm>
            <a:off x="685800" y="2103120"/>
            <a:ext cx="10424160" cy="548640"/>
          </a:xfrm>
          <a:prstGeom prst="rect">
            <a:avLst/>
          </a:prstGeom>
          <a:noFill/>
          <a:ln/>
        </p:spPr>
        <p:txBody>
          <a:bodyPr wrap="square" lIns="0" tIns="0" rIns="0" bIns="0" rtlCol="0" anchor="ctr"/>
          <a:lstStyle/>
          <a:p>
            <a:pPr indent="0" marL="0">
              <a:lnSpc>
                <a:spcPts val="2000"/>
              </a:lnSpc>
              <a:buNone/>
            </a:pPr>
            <a:r>
              <a:rPr lang="en-US" sz="1400" dirty="0">
                <a:solidFill>
                  <a:srgbClr val="14302B"/>
                </a:solidFill>
                <a:latin typeface="Calibri" pitchFamily="34" charset="0"/>
                <a:ea typeface="Calibri" pitchFamily="34" charset="-122"/>
                <a:cs typeface="Calibri" pitchFamily="34" charset="-120"/>
              </a:rPr>
              <a:t>Cilia dkk. 2022, CC BY 4.0: 59 anak berlabel, 2,25 juta baris koordinat. Data anak sungguhan tanpa merekam satu pun anak sendiri. Empat audit ditulis sebelum fitting dijalankan. Dua gagal.</a:t>
            </a:r>
            <a:endParaRPr lang="en-US" sz="1400" dirty="0"/>
          </a:p>
        </p:txBody>
      </p:sp>
      <p:sp>
        <p:nvSpPr>
          <p:cNvPr id="7" name="Text 5"/>
          <p:cNvSpPr/>
          <p:nvPr/>
        </p:nvSpPr>
        <p:spPr>
          <a:xfrm>
            <a:off x="685800" y="2743200"/>
            <a:ext cx="6035040" cy="274320"/>
          </a:xfrm>
          <a:prstGeom prst="rect">
            <a:avLst/>
          </a:prstGeom>
          <a:noFill/>
          <a:ln/>
        </p:spPr>
        <p:txBody>
          <a:bodyPr wrap="square" lIns="0" tIns="0" rIns="0" bIns="0" rtlCol="0" anchor="ctr"/>
          <a:lstStyle/>
          <a:p>
            <a:pPr indent="0" marL="0">
              <a:buNone/>
            </a:pPr>
            <a:r>
              <a:rPr lang="en-US" sz="1100" b="1" dirty="0">
                <a:solidFill>
                  <a:srgbClr val="4A635D"/>
                </a:solidFill>
                <a:latin typeface="Calibri" pitchFamily="34" charset="0"/>
                <a:ea typeface="Calibri" pitchFamily="34" charset="-122"/>
                <a:cs typeface="Calibri" pitchFamily="34" charset="-120"/>
              </a:rPr>
              <a:t>AUC prediktor tunggal terhadap label ASD</a:t>
            </a:r>
            <a:endParaRPr lang="en-US" sz="1100" dirty="0"/>
          </a:p>
        </p:txBody>
      </p:sp>
      <p:sp>
        <p:nvSpPr>
          <p:cNvPr id="8" name="Text 6"/>
          <p:cNvSpPr/>
          <p:nvPr/>
        </p:nvSpPr>
        <p:spPr>
          <a:xfrm>
            <a:off x="685800" y="3127248"/>
            <a:ext cx="2286000" cy="292608"/>
          </a:xfrm>
          <a:prstGeom prst="rect">
            <a:avLst/>
          </a:prstGeom>
          <a:noFill/>
          <a:ln/>
        </p:spPr>
        <p:txBody>
          <a:bodyPr wrap="square" lIns="0" tIns="0" rIns="0" bIns="0" rtlCol="0" anchor="ctr"/>
          <a:lstStyle/>
          <a:p>
            <a:pPr indent="0" marL="0">
              <a:buNone/>
            </a:pPr>
            <a:r>
              <a:rPr lang="en-US" sz="1200" dirty="0">
                <a:solidFill>
                  <a:srgbClr val="14302B"/>
                </a:solidFill>
                <a:latin typeface="Calibri" pitchFamily="34" charset="0"/>
                <a:ea typeface="Calibri" pitchFamily="34" charset="-122"/>
                <a:cs typeface="Calibri" pitchFamily="34" charset="-120"/>
              </a:rPr>
              <a:t>Rasio pelacakan alat</a:t>
            </a:r>
            <a:endParaRPr lang="en-US" sz="1200" dirty="0"/>
          </a:p>
        </p:txBody>
      </p:sp>
      <p:sp>
        <p:nvSpPr>
          <p:cNvPr id="9" name="Shape 7"/>
          <p:cNvSpPr/>
          <p:nvPr/>
        </p:nvSpPr>
        <p:spPr>
          <a:xfrm>
            <a:off x="3063240" y="3182112"/>
            <a:ext cx="2495946" cy="182880"/>
          </a:xfrm>
          <a:prstGeom prst="rect">
            <a:avLst/>
          </a:prstGeom>
          <a:solidFill>
            <a:srgbClr val="B1442C"/>
          </a:solidFill>
          <a:ln w="12700">
            <a:solidFill>
              <a:srgbClr val="333333"/>
            </a:solidFill>
            <a:prstDash val="solid"/>
          </a:ln>
        </p:spPr>
      </p:sp>
      <p:sp>
        <p:nvSpPr>
          <p:cNvPr id="10" name="Text 8"/>
          <p:cNvSpPr/>
          <p:nvPr/>
        </p:nvSpPr>
        <p:spPr>
          <a:xfrm>
            <a:off x="6126480" y="3127248"/>
            <a:ext cx="640080" cy="292608"/>
          </a:xfrm>
          <a:prstGeom prst="rect">
            <a:avLst/>
          </a:prstGeom>
          <a:noFill/>
          <a:ln/>
        </p:spPr>
        <p:txBody>
          <a:bodyPr wrap="square" lIns="0" tIns="0" rIns="0" bIns="0" rtlCol="0" anchor="ctr"/>
          <a:lstStyle/>
          <a:p>
            <a:pPr indent="0" marL="0">
              <a:buNone/>
            </a:pPr>
            <a:r>
              <a:rPr lang="en-US" sz="1200" b="1" dirty="0">
                <a:solidFill>
                  <a:srgbClr val="B1442C"/>
                </a:solidFill>
                <a:latin typeface="Calibri" pitchFamily="34" charset="0"/>
                <a:ea typeface="Calibri" pitchFamily="34" charset="-122"/>
                <a:cs typeface="Calibri" pitchFamily="34" charset="-120"/>
              </a:rPr>
              <a:t>0,853</a:t>
            </a:r>
            <a:endParaRPr lang="en-US" sz="1200" dirty="0"/>
          </a:p>
        </p:txBody>
      </p:sp>
      <p:sp>
        <p:nvSpPr>
          <p:cNvPr id="11" name="Text 9"/>
          <p:cNvSpPr/>
          <p:nvPr/>
        </p:nvSpPr>
        <p:spPr>
          <a:xfrm>
            <a:off x="685800" y="3584448"/>
            <a:ext cx="2286000" cy="292608"/>
          </a:xfrm>
          <a:prstGeom prst="rect">
            <a:avLst/>
          </a:prstGeom>
          <a:noFill/>
          <a:ln/>
        </p:spPr>
        <p:txBody>
          <a:bodyPr wrap="square" lIns="0" tIns="0" rIns="0" bIns="0" rtlCol="0" anchor="ctr"/>
          <a:lstStyle/>
          <a:p>
            <a:pPr indent="0" marL="0">
              <a:buNone/>
            </a:pPr>
            <a:r>
              <a:rPr lang="en-US" sz="1200" dirty="0">
                <a:solidFill>
                  <a:srgbClr val="14302B"/>
                </a:solidFill>
                <a:latin typeface="Calibri" pitchFamily="34" charset="0"/>
                <a:ea typeface="Calibri" pitchFamily="34" charset="-122"/>
                <a:cs typeface="Calibri" pitchFamily="34" charset="-120"/>
              </a:rPr>
              <a:t>Fraksi kedip</a:t>
            </a:r>
            <a:endParaRPr lang="en-US" sz="1200" dirty="0"/>
          </a:p>
        </p:txBody>
      </p:sp>
      <p:sp>
        <p:nvSpPr>
          <p:cNvPr id="12" name="Shape 10"/>
          <p:cNvSpPr/>
          <p:nvPr/>
        </p:nvSpPr>
        <p:spPr>
          <a:xfrm>
            <a:off x="3063240" y="3639312"/>
            <a:ext cx="2478390" cy="182880"/>
          </a:xfrm>
          <a:prstGeom prst="rect">
            <a:avLst/>
          </a:prstGeom>
          <a:solidFill>
            <a:srgbClr val="B1442C"/>
          </a:solidFill>
          <a:ln w="12700">
            <a:solidFill>
              <a:srgbClr val="333333"/>
            </a:solidFill>
            <a:prstDash val="solid"/>
          </a:ln>
        </p:spPr>
      </p:sp>
      <p:sp>
        <p:nvSpPr>
          <p:cNvPr id="13" name="Text 11"/>
          <p:cNvSpPr/>
          <p:nvPr/>
        </p:nvSpPr>
        <p:spPr>
          <a:xfrm>
            <a:off x="6126480" y="3584448"/>
            <a:ext cx="640080" cy="292608"/>
          </a:xfrm>
          <a:prstGeom prst="rect">
            <a:avLst/>
          </a:prstGeom>
          <a:noFill/>
          <a:ln/>
        </p:spPr>
        <p:txBody>
          <a:bodyPr wrap="square" lIns="0" tIns="0" rIns="0" bIns="0" rtlCol="0" anchor="ctr"/>
          <a:lstStyle/>
          <a:p>
            <a:pPr indent="0" marL="0">
              <a:buNone/>
            </a:pPr>
            <a:r>
              <a:rPr lang="en-US" sz="1200" b="1" dirty="0">
                <a:solidFill>
                  <a:srgbClr val="B1442C"/>
                </a:solidFill>
                <a:latin typeface="Calibri" pitchFamily="34" charset="0"/>
                <a:ea typeface="Calibri" pitchFamily="34" charset="-122"/>
                <a:cs typeface="Calibri" pitchFamily="34" charset="-120"/>
              </a:rPr>
              <a:t>0,847</a:t>
            </a:r>
            <a:endParaRPr lang="en-US" sz="1200" dirty="0"/>
          </a:p>
        </p:txBody>
      </p:sp>
      <p:sp>
        <p:nvSpPr>
          <p:cNvPr id="14" name="Text 12"/>
          <p:cNvSpPr/>
          <p:nvPr/>
        </p:nvSpPr>
        <p:spPr>
          <a:xfrm>
            <a:off x="685800" y="4041648"/>
            <a:ext cx="2286000" cy="292608"/>
          </a:xfrm>
          <a:prstGeom prst="rect">
            <a:avLst/>
          </a:prstGeom>
          <a:noFill/>
          <a:ln/>
        </p:spPr>
        <p:txBody>
          <a:bodyPr wrap="square" lIns="0" tIns="0" rIns="0" bIns="0" rtlCol="0" anchor="ctr"/>
          <a:lstStyle/>
          <a:p>
            <a:pPr indent="0" marL="0">
              <a:buNone/>
            </a:pPr>
            <a:r>
              <a:rPr lang="en-US" sz="1200" dirty="0">
                <a:solidFill>
                  <a:srgbClr val="14302B"/>
                </a:solidFill>
                <a:latin typeface="Calibri" pitchFamily="34" charset="0"/>
                <a:ea typeface="Calibri" pitchFamily="34" charset="-122"/>
                <a:cs typeface="Calibri" pitchFamily="34" charset="-120"/>
              </a:rPr>
              <a:t>Fraksi fiksasi</a:t>
            </a:r>
            <a:endParaRPr lang="en-US" sz="1200" dirty="0"/>
          </a:p>
        </p:txBody>
      </p:sp>
      <p:sp>
        <p:nvSpPr>
          <p:cNvPr id="15" name="Shape 13"/>
          <p:cNvSpPr/>
          <p:nvPr/>
        </p:nvSpPr>
        <p:spPr>
          <a:xfrm>
            <a:off x="3063240" y="4096512"/>
            <a:ext cx="2416942" cy="182880"/>
          </a:xfrm>
          <a:prstGeom prst="rect">
            <a:avLst/>
          </a:prstGeom>
          <a:solidFill>
            <a:srgbClr val="B1442C"/>
          </a:solidFill>
          <a:ln w="12700">
            <a:solidFill>
              <a:srgbClr val="333333"/>
            </a:solidFill>
            <a:prstDash val="solid"/>
          </a:ln>
        </p:spPr>
      </p:sp>
      <p:sp>
        <p:nvSpPr>
          <p:cNvPr id="16" name="Text 14"/>
          <p:cNvSpPr/>
          <p:nvPr/>
        </p:nvSpPr>
        <p:spPr>
          <a:xfrm>
            <a:off x="6126480" y="4041648"/>
            <a:ext cx="640080" cy="292608"/>
          </a:xfrm>
          <a:prstGeom prst="rect">
            <a:avLst/>
          </a:prstGeom>
          <a:noFill/>
          <a:ln/>
        </p:spPr>
        <p:txBody>
          <a:bodyPr wrap="square" lIns="0" tIns="0" rIns="0" bIns="0" rtlCol="0" anchor="ctr"/>
          <a:lstStyle/>
          <a:p>
            <a:pPr indent="0" marL="0">
              <a:buNone/>
            </a:pPr>
            <a:r>
              <a:rPr lang="en-US" sz="1200" b="1" dirty="0">
                <a:solidFill>
                  <a:srgbClr val="B1442C"/>
                </a:solidFill>
                <a:latin typeface="Calibri" pitchFamily="34" charset="0"/>
                <a:ea typeface="Calibri" pitchFamily="34" charset="-122"/>
                <a:cs typeface="Calibri" pitchFamily="34" charset="-120"/>
              </a:rPr>
              <a:t>0,826</a:t>
            </a:r>
            <a:endParaRPr lang="en-US" sz="1200" dirty="0"/>
          </a:p>
        </p:txBody>
      </p:sp>
      <p:sp>
        <p:nvSpPr>
          <p:cNvPr id="17" name="Text 15"/>
          <p:cNvSpPr/>
          <p:nvPr/>
        </p:nvSpPr>
        <p:spPr>
          <a:xfrm>
            <a:off x="685800" y="4498848"/>
            <a:ext cx="2286000" cy="292608"/>
          </a:xfrm>
          <a:prstGeom prst="rect">
            <a:avLst/>
          </a:prstGeom>
          <a:noFill/>
          <a:ln/>
        </p:spPr>
        <p:txBody>
          <a:bodyPr wrap="square" lIns="0" tIns="0" rIns="0" bIns="0" rtlCol="0" anchor="ctr"/>
          <a:lstStyle/>
          <a:p>
            <a:pPr indent="0" marL="0">
              <a:buNone/>
            </a:pPr>
            <a:r>
              <a:rPr lang="en-US" sz="1200" dirty="0">
                <a:solidFill>
                  <a:srgbClr val="14302B"/>
                </a:solidFill>
                <a:latin typeface="Calibri" pitchFamily="34" charset="0"/>
                <a:ea typeface="Calibri" pitchFamily="34" charset="-122"/>
                <a:cs typeface="Calibri" pitchFamily="34" charset="-120"/>
              </a:rPr>
              <a:t>Sebaran tatapan</a:t>
            </a:r>
            <a:endParaRPr lang="en-US" sz="1200" dirty="0"/>
          </a:p>
        </p:txBody>
      </p:sp>
      <p:sp>
        <p:nvSpPr>
          <p:cNvPr id="18" name="Shape 16"/>
          <p:cNvSpPr/>
          <p:nvPr/>
        </p:nvSpPr>
        <p:spPr>
          <a:xfrm>
            <a:off x="3063240" y="4553712"/>
            <a:ext cx="2229673" cy="182880"/>
          </a:xfrm>
          <a:prstGeom prst="rect">
            <a:avLst/>
          </a:prstGeom>
          <a:solidFill>
            <a:srgbClr val="4A635D"/>
          </a:solidFill>
          <a:ln w="12700">
            <a:solidFill>
              <a:srgbClr val="333333"/>
            </a:solidFill>
            <a:prstDash val="solid"/>
          </a:ln>
        </p:spPr>
      </p:sp>
      <p:sp>
        <p:nvSpPr>
          <p:cNvPr id="19" name="Text 17"/>
          <p:cNvSpPr/>
          <p:nvPr/>
        </p:nvSpPr>
        <p:spPr>
          <a:xfrm>
            <a:off x="6126480" y="4498848"/>
            <a:ext cx="640080" cy="292608"/>
          </a:xfrm>
          <a:prstGeom prst="rect">
            <a:avLst/>
          </a:prstGeom>
          <a:noFill/>
          <a:ln/>
        </p:spPr>
        <p:txBody>
          <a:bodyPr wrap="square" lIns="0" tIns="0" rIns="0" bIns="0" rtlCol="0" anchor="ctr"/>
          <a:lstStyle/>
          <a:p>
            <a:pPr indent="0" marL="0">
              <a:buNone/>
            </a:pPr>
            <a:r>
              <a:rPr lang="en-US" sz="1200" b="1" dirty="0">
                <a:solidFill>
                  <a:srgbClr val="4A635D"/>
                </a:solidFill>
                <a:latin typeface="Calibri" pitchFamily="34" charset="0"/>
                <a:ea typeface="Calibri" pitchFamily="34" charset="-122"/>
                <a:cs typeface="Calibri" pitchFamily="34" charset="-120"/>
              </a:rPr>
              <a:t>0,762</a:t>
            </a:r>
            <a:endParaRPr lang="en-US" sz="1200" dirty="0"/>
          </a:p>
        </p:txBody>
      </p:sp>
      <p:sp>
        <p:nvSpPr>
          <p:cNvPr id="20" name="Text 18"/>
          <p:cNvSpPr/>
          <p:nvPr/>
        </p:nvSpPr>
        <p:spPr>
          <a:xfrm>
            <a:off x="685800" y="4956048"/>
            <a:ext cx="2286000" cy="292608"/>
          </a:xfrm>
          <a:prstGeom prst="rect">
            <a:avLst/>
          </a:prstGeom>
          <a:noFill/>
          <a:ln/>
        </p:spPr>
        <p:txBody>
          <a:bodyPr wrap="square" lIns="0" tIns="0" rIns="0" bIns="0" rtlCol="0" anchor="ctr"/>
          <a:lstStyle/>
          <a:p>
            <a:pPr indent="0" marL="0">
              <a:buNone/>
            </a:pPr>
            <a:r>
              <a:rPr lang="en-US" sz="1200" dirty="0">
                <a:solidFill>
                  <a:srgbClr val="14302B"/>
                </a:solidFill>
                <a:latin typeface="Calibri" pitchFamily="34" charset="0"/>
                <a:ea typeface="Calibri" pitchFamily="34" charset="-122"/>
                <a:cs typeface="Calibri" pitchFamily="34" charset="-120"/>
              </a:rPr>
              <a:t>Mengikuti isyarat arah</a:t>
            </a:r>
            <a:endParaRPr lang="en-US" sz="1200" dirty="0"/>
          </a:p>
        </p:txBody>
      </p:sp>
      <p:sp>
        <p:nvSpPr>
          <p:cNvPr id="21" name="Shape 19"/>
          <p:cNvSpPr/>
          <p:nvPr/>
        </p:nvSpPr>
        <p:spPr>
          <a:xfrm>
            <a:off x="3063240" y="5010912"/>
            <a:ext cx="1474744" cy="182880"/>
          </a:xfrm>
          <a:prstGeom prst="rect">
            <a:avLst/>
          </a:prstGeom>
          <a:solidFill>
            <a:srgbClr val="0D8271"/>
          </a:solidFill>
          <a:ln w="12700">
            <a:solidFill>
              <a:srgbClr val="333333"/>
            </a:solidFill>
            <a:prstDash val="solid"/>
          </a:ln>
        </p:spPr>
      </p:sp>
      <p:sp>
        <p:nvSpPr>
          <p:cNvPr id="22" name="Text 20"/>
          <p:cNvSpPr/>
          <p:nvPr/>
        </p:nvSpPr>
        <p:spPr>
          <a:xfrm>
            <a:off x="6126480" y="4956048"/>
            <a:ext cx="640080" cy="292608"/>
          </a:xfrm>
          <a:prstGeom prst="rect">
            <a:avLst/>
          </a:prstGeom>
          <a:noFill/>
          <a:ln/>
        </p:spPr>
        <p:txBody>
          <a:bodyPr wrap="square" lIns="0" tIns="0" rIns="0" bIns="0" rtlCol="0" anchor="ctr"/>
          <a:lstStyle/>
          <a:p>
            <a:pPr indent="0" marL="0">
              <a:buNone/>
            </a:pPr>
            <a:r>
              <a:rPr lang="en-US" sz="1200" b="1" dirty="0">
                <a:solidFill>
                  <a:srgbClr val="0D8271"/>
                </a:solidFill>
                <a:latin typeface="Calibri" pitchFamily="34" charset="0"/>
                <a:ea typeface="Calibri" pitchFamily="34" charset="-122"/>
                <a:cs typeface="Calibri" pitchFamily="34" charset="-120"/>
              </a:rPr>
              <a:t>0,504</a:t>
            </a:r>
            <a:endParaRPr lang="en-US" sz="1200" dirty="0"/>
          </a:p>
        </p:txBody>
      </p:sp>
      <p:sp>
        <p:nvSpPr>
          <p:cNvPr id="23" name="Shape 21"/>
          <p:cNvSpPr/>
          <p:nvPr/>
        </p:nvSpPr>
        <p:spPr>
          <a:xfrm>
            <a:off x="7086600" y="2697480"/>
            <a:ext cx="4023360" cy="2651760"/>
          </a:xfrm>
          <a:prstGeom prst="roundRect">
            <a:avLst>
              <a:gd name="adj" fmla="val 2069"/>
            </a:avLst>
          </a:prstGeom>
          <a:solidFill>
            <a:srgbClr val="FBEAE5"/>
          </a:solidFill>
          <a:ln w="12700">
            <a:solidFill>
              <a:srgbClr val="FBEAE5"/>
            </a:solidFill>
            <a:prstDash val="solid"/>
          </a:ln>
        </p:spPr>
      </p:sp>
      <p:sp>
        <p:nvSpPr>
          <p:cNvPr id="24" name="Text 22"/>
          <p:cNvSpPr/>
          <p:nvPr/>
        </p:nvSpPr>
        <p:spPr>
          <a:xfrm>
            <a:off x="7342632" y="2926080"/>
            <a:ext cx="3520440" cy="822960"/>
          </a:xfrm>
          <a:prstGeom prst="rect">
            <a:avLst/>
          </a:prstGeom>
          <a:noFill/>
          <a:ln/>
        </p:spPr>
        <p:txBody>
          <a:bodyPr wrap="square" lIns="0" tIns="0" rIns="0" bIns="0" rtlCol="0" anchor="ctr"/>
          <a:lstStyle/>
          <a:p>
            <a:pPr indent="0" marL="0">
              <a:lnSpc>
                <a:spcPts val="2200"/>
              </a:lnSpc>
              <a:buNone/>
            </a:pPr>
            <a:r>
              <a:rPr lang="en-US" sz="1700" b="1" dirty="0">
                <a:solidFill>
                  <a:srgbClr val="B1442C"/>
                </a:solidFill>
                <a:latin typeface="Cambria" pitchFamily="34" charset="0"/>
                <a:ea typeface="Cambria" pitchFamily="34" charset="-122"/>
                <a:cs typeface="Cambria" pitchFamily="34" charset="-120"/>
              </a:rPr>
              <a:t>Yang paling memprediksi autisme di dataset itu adalah seberapa baik alatnya merekam anaknya.</a:t>
            </a:r>
            <a:endParaRPr lang="en-US" sz="1700" dirty="0"/>
          </a:p>
        </p:txBody>
      </p:sp>
      <p:sp>
        <p:nvSpPr>
          <p:cNvPr id="25" name="Text 23"/>
          <p:cNvSpPr/>
          <p:nvPr/>
        </p:nvSpPr>
        <p:spPr>
          <a:xfrm>
            <a:off x="7342632" y="3840480"/>
            <a:ext cx="3520440" cy="1371600"/>
          </a:xfrm>
          <a:prstGeom prst="rect">
            <a:avLst/>
          </a:prstGeom>
          <a:noFill/>
          <a:ln/>
        </p:spPr>
        <p:txBody>
          <a:bodyPr wrap="square" lIns="0" tIns="0" rIns="0" bIns="0" rtlCol="0" anchor="ctr"/>
          <a:lstStyle/>
          <a:p>
            <a:pPr marL="342900" indent="-342900">
              <a:lnSpc>
                <a:spcPts val="1700"/>
              </a:lnSpc>
              <a:spcAft>
                <a:spcPts val="600"/>
              </a:spcAft>
              <a:buSzPct val="100000"/>
              <a:buChar char="•"/>
            </a:pPr>
            <a:r>
              <a:rPr lang="en-US" sz="1200" dirty="0">
                <a:solidFill>
                  <a:srgbClr val="14302B"/>
                </a:solidFill>
                <a:latin typeface="Calibri" pitchFamily="34" charset="0"/>
                <a:ea typeface="Calibri" pitchFamily="34" charset="-122"/>
                <a:cs typeface="Calibri" pitchFamily="34" charset="-120"/>
              </a:rPr>
              <a:t>Alas tanpa satu pun fitur perilaku: AUC 0,905.</a:t>
            </a:r>
            <a:endParaRPr lang="en-US" sz="1200" dirty="0"/>
          </a:p>
          <a:p>
            <a:pPr marL="342900" indent="-342900">
              <a:lnSpc>
                <a:spcPts val="1700"/>
              </a:lnSpc>
              <a:spcAft>
                <a:spcPts val="600"/>
              </a:spcAft>
              <a:buSzPct val="100000"/>
              <a:buChar char="•"/>
            </a:pPr>
            <a:r>
              <a:rPr lang="en-US" sz="1200" dirty="0">
                <a:solidFill>
                  <a:srgbClr val="14302B"/>
                </a:solidFill>
                <a:latin typeface="Calibri" pitchFamily="34" charset="0"/>
                <a:ea typeface="Calibri" pitchFamily="34" charset="-122"/>
                <a:cs typeface="Calibri" pitchFamily="34" charset="-120"/>
              </a:rPr>
              <a:t>Model indeks perilaku kami: 0,784. Lebih rendah.</a:t>
            </a:r>
            <a:endParaRPr lang="en-US" sz="1200" dirty="0"/>
          </a:p>
          <a:p>
            <a:pPr marL="342900" indent="-342900">
              <a:lnSpc>
                <a:spcPts val="1700"/>
              </a:lnSpc>
              <a:spcAft>
                <a:spcPts val="600"/>
              </a:spcAft>
              <a:buSzPct val="100000"/>
              <a:buChar char="•"/>
            </a:pPr>
            <a:r>
              <a:rPr lang="en-US" sz="1200" dirty="0">
                <a:solidFill>
                  <a:srgbClr val="14302B"/>
                </a:solidFill>
                <a:latin typeface="Calibri" pitchFamily="34" charset="0"/>
                <a:ea typeface="Calibri" pitchFamily="34" charset="-122"/>
                <a:cs typeface="Calibri" pitchFamily="34" charset="-120"/>
              </a:rPr>
              <a:t>Anak ASD terbaca 13 percobaan, anak TD 20.</a:t>
            </a:r>
            <a:endParaRPr lang="en-US" sz="1200" dirty="0"/>
          </a:p>
          <a:p>
            <a:pPr marL="342900" indent="-342900">
              <a:lnSpc>
                <a:spcPts val="1700"/>
              </a:lnSpc>
              <a:spcAft>
                <a:spcPts val="600"/>
              </a:spcAft>
              <a:buSzPct val="100000"/>
              <a:buChar char="•"/>
            </a:pPr>
            <a:r>
              <a:rPr lang="en-US" sz="1200" dirty="0">
                <a:solidFill>
                  <a:srgbClr val="14302B"/>
                </a:solidFill>
                <a:latin typeface="Calibri" pitchFamily="34" charset="0"/>
                <a:ea typeface="Calibri" pitchFamily="34" charset="-122"/>
                <a:cs typeface="Calibri" pitchFamily="34" charset="-120"/>
              </a:rPr>
              <a:t>Bobot ditolak. Lapis 1 dikirim sendirian.</a:t>
            </a:r>
            <a:endParaRPr lang="en-US" sz="1200" dirty="0"/>
          </a:p>
        </p:txBody>
      </p:sp>
      <p:sp>
        <p:nvSpPr>
          <p:cNvPr id="26" name="Shape 24"/>
          <p:cNvSpPr/>
          <p:nvPr/>
        </p:nvSpPr>
        <p:spPr>
          <a:xfrm>
            <a:off x="685800" y="5440680"/>
            <a:ext cx="10424160" cy="868680"/>
          </a:xfrm>
          <a:prstGeom prst="roundRect">
            <a:avLst>
              <a:gd name="adj" fmla="val 6316"/>
            </a:avLst>
          </a:prstGeom>
          <a:solidFill>
            <a:srgbClr val="0B1E1B"/>
          </a:solidFill>
          <a:ln w="12700">
            <a:solidFill>
              <a:srgbClr val="0B1E1B"/>
            </a:solidFill>
            <a:prstDash val="solid"/>
          </a:ln>
        </p:spPr>
      </p:sp>
      <p:sp>
        <p:nvSpPr>
          <p:cNvPr id="27" name="Text 25"/>
          <p:cNvSpPr/>
          <p:nvPr/>
        </p:nvSpPr>
        <p:spPr>
          <a:xfrm>
            <a:off x="1097280" y="5577840"/>
            <a:ext cx="4937760" cy="320040"/>
          </a:xfrm>
          <a:prstGeom prst="rect">
            <a:avLst/>
          </a:prstGeom>
          <a:noFill/>
          <a:ln/>
        </p:spPr>
        <p:txBody>
          <a:bodyPr wrap="square" lIns="0" tIns="0" rIns="0" bIns="0" rtlCol="0" anchor="ctr"/>
          <a:lstStyle/>
          <a:p>
            <a:pPr indent="0" marL="0">
              <a:buNone/>
            </a:pPr>
            <a:r>
              <a:rPr lang="en-US" sz="1300" b="1" dirty="0">
                <a:solidFill>
                  <a:srgbClr val="5CB9A3"/>
                </a:solidFill>
                <a:latin typeface="Calibri" pitchFamily="34" charset="0"/>
                <a:ea typeface="Calibri" pitchFamily="34" charset="-122"/>
                <a:cs typeface="Calibri" pitchFamily="34" charset="-120"/>
              </a:rPr>
              <a:t>Lalu kami jalankan audit yang sama pada data kami sendiri.</a:t>
            </a:r>
            <a:endParaRPr lang="en-US" sz="1300" dirty="0"/>
          </a:p>
        </p:txBody>
      </p:sp>
      <p:sp>
        <p:nvSpPr>
          <p:cNvPr id="28" name="Text 26"/>
          <p:cNvSpPr/>
          <p:nvPr/>
        </p:nvSpPr>
        <p:spPr>
          <a:xfrm>
            <a:off x="1097280" y="5897880"/>
            <a:ext cx="9692640" cy="365760"/>
          </a:xfrm>
          <a:prstGeom prst="rect">
            <a:avLst/>
          </a:prstGeom>
          <a:noFill/>
          <a:ln/>
        </p:spPr>
        <p:txBody>
          <a:bodyPr wrap="square" lIns="0" tIns="0" rIns="0" bIns="0" rtlCol="0" anchor="ctr"/>
          <a:lstStyle/>
          <a:p>
            <a:pPr indent="0" marL="0">
              <a:lnSpc>
                <a:spcPts val="2000"/>
              </a:lnSpc>
              <a:buNone/>
            </a:pPr>
            <a:r>
              <a:rPr lang="en-US" sz="1500" i="1" dirty="0">
                <a:solidFill>
                  <a:srgbClr val="FFFFFF"/>
                </a:solidFill>
                <a:latin typeface="Cambria" pitchFamily="34" charset="0"/>
                <a:ea typeface="Cambria" pitchFamily="34" charset="-122"/>
                <a:cs typeface="Cambria" pitchFamily="34" charset="-120"/>
              </a:rPr>
              <a:t>Mutu rekaman saja, kontrol positif kami: AUC 0,537 · p = 0,26. Kebetulan. Yang memisahkan kedua kondisi kami adalah perilaku, bukan cara sesinya direkam.</a:t>
            </a:r>
            <a:endParaRPr lang="en-US" sz="1500" dirty="0"/>
          </a:p>
        </p:txBody>
      </p:sp>
      <p:sp>
        <p:nvSpPr>
          <p:cNvPr id="29" name="Text 27"/>
          <p:cNvSpPr/>
          <p:nvPr/>
        </p:nvSpPr>
        <p:spPr>
          <a:xfrm>
            <a:off x="6263640" y="5559552"/>
            <a:ext cx="4480560" cy="320040"/>
          </a:xfrm>
          <a:prstGeom prst="rect">
            <a:avLst/>
          </a:prstGeom>
          <a:noFill/>
          <a:ln/>
        </p:spPr>
        <p:txBody>
          <a:bodyPr wrap="square" lIns="0" tIns="0" rIns="0" bIns="0" rtlCol="0" anchor="ctr"/>
          <a:lstStyle/>
          <a:p>
            <a:pPr algn="r" indent="0" marL="0">
              <a:buNone/>
            </a:pPr>
            <a:r>
              <a:rPr lang="en-US" sz="1400" b="1" dirty="0">
                <a:solidFill>
                  <a:srgbClr val="F0A189"/>
                </a:solidFill>
                <a:latin typeface="Calibri" pitchFamily="34" charset="0"/>
                <a:ea typeface="Calibri" pitchFamily="34" charset="-122"/>
                <a:cs typeface="Calibri" pitchFamily="34" charset="-120"/>
              </a:rPr>
              <a:t>Cilia 0,905  ·  kami 0,537</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8"/>
        </a:solidFill>
      </p:bgPr>
    </p:bg>
    <p:spTree>
      <p:nvGrpSpPr>
        <p:cNvPr id="1" name=""/>
        <p:cNvGrpSpPr/>
        <p:nvPr/>
      </p:nvGrpSpPr>
      <p:grpSpPr>
        <a:xfrm>
          <a:off x="0" y="0"/>
          <a:ext cx="0" cy="0"/>
          <a:chOff x="0" y="0"/>
          <a:chExt cx="0" cy="0"/>
        </a:xfrm>
      </p:grpSpPr>
      <p:sp>
        <p:nvSpPr>
          <p:cNvPr id="2" name="Shape 0"/>
          <p:cNvSpPr/>
          <p:nvPr/>
        </p:nvSpPr>
        <p:spPr>
          <a:xfrm>
            <a:off x="11268151" y="740664"/>
            <a:ext cx="237744" cy="237744"/>
          </a:xfrm>
          <a:prstGeom prst="ellipse">
            <a:avLst/>
          </a:prstGeom>
          <a:solidFill>
            <a:srgbClr val="FFFFFF">
              <a:alpha val="0"/>
            </a:srgbClr>
          </a:solidFill>
          <a:ln w="25400">
            <a:solidFill>
              <a:srgbClr val="5CB9A3"/>
            </a:solidFill>
            <a:prstDash val="solid"/>
          </a:ln>
        </p:spPr>
      </p:sp>
      <p:sp>
        <p:nvSpPr>
          <p:cNvPr id="3" name="Shape 1"/>
          <p:cNvSpPr/>
          <p:nvPr/>
        </p:nvSpPr>
        <p:spPr>
          <a:xfrm>
            <a:off x="11339474" y="811987"/>
            <a:ext cx="95098" cy="95098"/>
          </a:xfrm>
          <a:prstGeom prst="ellipse">
            <a:avLst/>
          </a:prstGeom>
          <a:solidFill>
            <a:srgbClr val="5CB9A3"/>
          </a:solidFill>
          <a:ln w="12700">
            <a:solidFill>
              <a:srgbClr val="333333"/>
            </a:solidFill>
            <a:prstDash val="solid"/>
          </a:ln>
        </p:spPr>
      </p:sp>
      <p:sp>
        <p:nvSpPr>
          <p:cNvPr id="4" name="Text 2"/>
          <p:cNvSpPr/>
          <p:nvPr/>
        </p:nvSpPr>
        <p:spPr>
          <a:xfrm>
            <a:off x="685800" y="685800"/>
            <a:ext cx="10271455" cy="256032"/>
          </a:xfrm>
          <a:prstGeom prst="rect">
            <a:avLst/>
          </a:prstGeom>
          <a:noFill/>
          <a:ln/>
        </p:spPr>
        <p:txBody>
          <a:bodyPr wrap="square" lIns="0" tIns="0" rIns="0" bIns="0" rtlCol="0" anchor="ctr"/>
          <a:lstStyle/>
          <a:p>
            <a:pPr indent="0" marL="0">
              <a:buNone/>
            </a:pPr>
            <a:r>
              <a:rPr lang="en-US" sz="1200" b="1" spc="120" kern="0" dirty="0">
                <a:solidFill>
                  <a:srgbClr val="0D8271"/>
                </a:solidFill>
                <a:latin typeface="Calibri" pitchFamily="34" charset="0"/>
                <a:ea typeface="Calibri" pitchFamily="34" charset="-122"/>
                <a:cs typeface="Calibri" pitchFamily="34" charset="-120"/>
              </a:rPr>
              <a:t>Dampak dan biaya</a:t>
            </a:r>
            <a:endParaRPr lang="en-US" sz="1200" dirty="0"/>
          </a:p>
        </p:txBody>
      </p:sp>
      <p:sp>
        <p:nvSpPr>
          <p:cNvPr id="5" name="Text 3"/>
          <p:cNvSpPr/>
          <p:nvPr/>
        </p:nvSpPr>
        <p:spPr>
          <a:xfrm>
            <a:off x="685800" y="996696"/>
            <a:ext cx="10271455" cy="822960"/>
          </a:xfrm>
          <a:prstGeom prst="rect">
            <a:avLst/>
          </a:prstGeom>
          <a:noFill/>
          <a:ln/>
        </p:spPr>
        <p:txBody>
          <a:bodyPr wrap="square" lIns="0" tIns="0" rIns="0" bIns="0" rtlCol="0" anchor="ctr"/>
          <a:lstStyle/>
          <a:p>
            <a:pPr indent="0" marL="0">
              <a:lnSpc>
                <a:spcPts val="3600"/>
              </a:lnSpc>
              <a:buNone/>
            </a:pPr>
            <a:r>
              <a:rPr lang="en-US" sz="3200" b="1" dirty="0">
                <a:solidFill>
                  <a:srgbClr val="0B1E1B"/>
                </a:solidFill>
                <a:latin typeface="Cambria" pitchFamily="34" charset="0"/>
                <a:ea typeface="Cambria" pitchFamily="34" charset="-122"/>
                <a:cs typeface="Cambria" pitchFamily="34" charset="-120"/>
              </a:rPr>
              <a:t>Ambil metrik yang paling keras terhadap kami</a:t>
            </a:r>
            <a:endParaRPr lang="en-US" sz="3200" dirty="0"/>
          </a:p>
        </p:txBody>
      </p:sp>
      <p:sp>
        <p:nvSpPr>
          <p:cNvPr id="6" name="Text 4"/>
          <p:cNvSpPr/>
          <p:nvPr/>
        </p:nvSpPr>
        <p:spPr>
          <a:xfrm>
            <a:off x="685800" y="2103120"/>
            <a:ext cx="10424160" cy="502920"/>
          </a:xfrm>
          <a:prstGeom prst="rect">
            <a:avLst/>
          </a:prstGeom>
          <a:noFill/>
          <a:ln/>
        </p:spPr>
        <p:txBody>
          <a:bodyPr wrap="square" lIns="0" tIns="0" rIns="0" bIns="0" rtlCol="0" anchor="ctr"/>
          <a:lstStyle/>
          <a:p>
            <a:pPr indent="0" marL="0">
              <a:lnSpc>
                <a:spcPts val="2100"/>
              </a:lnSpc>
              <a:buNone/>
            </a:pPr>
            <a:r>
              <a:rPr lang="en-US" sz="1500" b="1" dirty="0">
                <a:solidFill>
                  <a:srgbClr val="B1442C"/>
                </a:solidFill>
                <a:latin typeface="Calibri" pitchFamily="34" charset="0"/>
                <a:ea typeface="Calibri" pitchFamily="34" charset="-122"/>
                <a:cs typeface="Calibri" pitchFamily="34" charset="-120"/>
              </a:rPr>
              <a:t>Skenario, bukan hasil terukur: angka per kasus ini berlaku hanya bila titik operasi protokol penuh berhasil direplikasi pada balita Indonesia. Hari ini titik itu ditahan.</a:t>
            </a:r>
            <a:endParaRPr lang="en-US" sz="1500" dirty="0"/>
          </a:p>
        </p:txBody>
      </p:sp>
      <p:sp>
        <p:nvSpPr>
          <p:cNvPr id="7" name="Shape 5"/>
          <p:cNvSpPr/>
          <p:nvPr/>
        </p:nvSpPr>
        <p:spPr>
          <a:xfrm>
            <a:off x="685800" y="2788920"/>
            <a:ext cx="3246120" cy="1965960"/>
          </a:xfrm>
          <a:prstGeom prst="roundRect">
            <a:avLst>
              <a:gd name="adj" fmla="val 2791"/>
            </a:avLst>
          </a:prstGeom>
          <a:solidFill>
            <a:srgbClr val="FFFFFF"/>
          </a:solidFill>
          <a:ln w="12700">
            <a:solidFill>
              <a:srgbClr val="DBE4E1"/>
            </a:solidFill>
            <a:prstDash val="solid"/>
          </a:ln>
        </p:spPr>
      </p:sp>
      <p:sp>
        <p:nvSpPr>
          <p:cNvPr id="8" name="Text 6"/>
          <p:cNvSpPr/>
          <p:nvPr/>
        </p:nvSpPr>
        <p:spPr>
          <a:xfrm>
            <a:off x="960120" y="3035808"/>
            <a:ext cx="2697480" cy="548640"/>
          </a:xfrm>
          <a:prstGeom prst="rect">
            <a:avLst/>
          </a:prstGeom>
          <a:noFill/>
          <a:ln/>
        </p:spPr>
        <p:txBody>
          <a:bodyPr wrap="square" lIns="0" tIns="0" rIns="0" bIns="0" rtlCol="0" anchor="ctr"/>
          <a:lstStyle/>
          <a:p>
            <a:pPr indent="0" marL="0">
              <a:buNone/>
            </a:pPr>
            <a:r>
              <a:rPr lang="en-US" sz="3200" b="1" dirty="0">
                <a:solidFill>
                  <a:srgbClr val="0B1E1B"/>
                </a:solidFill>
                <a:latin typeface="Cambria" pitchFamily="34" charset="0"/>
                <a:ea typeface="Cambria" pitchFamily="34" charset="-122"/>
                <a:cs typeface="Cambria" pitchFamily="34" charset="-120"/>
              </a:rPr>
              <a:t>Rp 9,08 jt</a:t>
            </a:r>
            <a:endParaRPr lang="en-US" sz="3200" dirty="0"/>
          </a:p>
        </p:txBody>
      </p:sp>
      <p:sp>
        <p:nvSpPr>
          <p:cNvPr id="9" name="Text 7"/>
          <p:cNvSpPr/>
          <p:nvPr/>
        </p:nvSpPr>
        <p:spPr>
          <a:xfrm>
            <a:off x="960120" y="3639312"/>
            <a:ext cx="2697480" cy="457200"/>
          </a:xfrm>
          <a:prstGeom prst="rect">
            <a:avLst/>
          </a:prstGeom>
          <a:noFill/>
          <a:ln/>
        </p:spPr>
        <p:txBody>
          <a:bodyPr wrap="square" lIns="0" tIns="0" rIns="0" bIns="0" rtlCol="0" anchor="ctr"/>
          <a:lstStyle/>
          <a:p>
            <a:pPr indent="0" marL="0">
              <a:lnSpc>
                <a:spcPts val="1700"/>
              </a:lnSpc>
              <a:buNone/>
            </a:pPr>
            <a:r>
              <a:rPr lang="en-US" sz="1300" b="1" dirty="0">
                <a:solidFill>
                  <a:srgbClr val="14302B"/>
                </a:solidFill>
                <a:latin typeface="Calibri" pitchFamily="34" charset="0"/>
                <a:ea typeface="Calibri" pitchFamily="34" charset="-122"/>
                <a:cs typeface="Calibri" pitchFamily="34" charset="-120"/>
              </a:rPr>
              <a:t>Neurogaze · 1 Posyandu</a:t>
            </a:r>
            <a:endParaRPr lang="en-US" sz="1300" dirty="0"/>
          </a:p>
        </p:txBody>
      </p:sp>
      <p:sp>
        <p:nvSpPr>
          <p:cNvPr id="10" name="Text 8"/>
          <p:cNvSpPr/>
          <p:nvPr/>
        </p:nvSpPr>
        <p:spPr>
          <a:xfrm>
            <a:off x="960120" y="4114800"/>
            <a:ext cx="2697480" cy="502920"/>
          </a:xfrm>
          <a:prstGeom prst="rect">
            <a:avLst/>
          </a:prstGeom>
          <a:noFill/>
          <a:ln/>
        </p:spPr>
        <p:txBody>
          <a:bodyPr wrap="square" lIns="0" tIns="0" rIns="0" bIns="0" rtlCol="0" anchor="ctr"/>
          <a:lstStyle/>
          <a:p>
            <a:pPr indent="0" marL="0">
              <a:lnSpc>
                <a:spcPts val="1500"/>
              </a:lnSpc>
              <a:buNone/>
            </a:pPr>
            <a:r>
              <a:rPr lang="en-US" sz="1100" dirty="0">
                <a:solidFill>
                  <a:srgbClr val="4A635D"/>
                </a:solidFill>
                <a:latin typeface="Calibri" pitchFamily="34" charset="0"/>
                <a:ea typeface="Calibri" pitchFamily="34" charset="-122"/>
                <a:cs typeface="Calibri" pitchFamily="34" charset="-120"/>
              </a:rPr>
              <a:t>1.000 sesi × Rp 13.900 ÷ 1,53 kasus</a:t>
            </a:r>
            <a:endParaRPr lang="en-US" sz="1100" dirty="0"/>
          </a:p>
        </p:txBody>
      </p:sp>
      <p:sp>
        <p:nvSpPr>
          <p:cNvPr id="11" name="Shape 9"/>
          <p:cNvSpPr/>
          <p:nvPr/>
        </p:nvSpPr>
        <p:spPr>
          <a:xfrm>
            <a:off x="4206240" y="2788920"/>
            <a:ext cx="3246120" cy="1965960"/>
          </a:xfrm>
          <a:prstGeom prst="roundRect">
            <a:avLst>
              <a:gd name="adj" fmla="val 2791"/>
            </a:avLst>
          </a:prstGeom>
          <a:solidFill>
            <a:srgbClr val="E4F2EE"/>
          </a:solidFill>
          <a:ln w="12700">
            <a:solidFill>
              <a:srgbClr val="E4F2EE"/>
            </a:solidFill>
            <a:prstDash val="solid"/>
          </a:ln>
        </p:spPr>
      </p:sp>
      <p:sp>
        <p:nvSpPr>
          <p:cNvPr id="12" name="Text 10"/>
          <p:cNvSpPr/>
          <p:nvPr/>
        </p:nvSpPr>
        <p:spPr>
          <a:xfrm>
            <a:off x="4480560" y="3035808"/>
            <a:ext cx="2697480" cy="548640"/>
          </a:xfrm>
          <a:prstGeom prst="rect">
            <a:avLst/>
          </a:prstGeom>
          <a:noFill/>
          <a:ln/>
        </p:spPr>
        <p:txBody>
          <a:bodyPr wrap="square" lIns="0" tIns="0" rIns="0" bIns="0" rtlCol="0" anchor="ctr"/>
          <a:lstStyle/>
          <a:p>
            <a:pPr indent="0" marL="0">
              <a:buNone/>
            </a:pPr>
            <a:r>
              <a:rPr lang="en-US" sz="3200" b="1" dirty="0">
                <a:solidFill>
                  <a:srgbClr val="0D8271"/>
                </a:solidFill>
                <a:latin typeface="Cambria" pitchFamily="34" charset="0"/>
                <a:ea typeface="Cambria" pitchFamily="34" charset="-122"/>
                <a:cs typeface="Cambria" pitchFamily="34" charset="-120"/>
              </a:rPr>
              <a:t>Rp 2,29 jt</a:t>
            </a:r>
            <a:endParaRPr lang="en-US" sz="3200" dirty="0"/>
          </a:p>
        </p:txBody>
      </p:sp>
      <p:sp>
        <p:nvSpPr>
          <p:cNvPr id="13" name="Text 11"/>
          <p:cNvSpPr/>
          <p:nvPr/>
        </p:nvSpPr>
        <p:spPr>
          <a:xfrm>
            <a:off x="4480560" y="3639312"/>
            <a:ext cx="2697480" cy="457200"/>
          </a:xfrm>
          <a:prstGeom prst="rect">
            <a:avLst/>
          </a:prstGeom>
          <a:noFill/>
          <a:ln/>
        </p:spPr>
        <p:txBody>
          <a:bodyPr wrap="square" lIns="0" tIns="0" rIns="0" bIns="0" rtlCol="0" anchor="ctr"/>
          <a:lstStyle/>
          <a:p>
            <a:pPr indent="0" marL="0">
              <a:lnSpc>
                <a:spcPts val="1700"/>
              </a:lnSpc>
              <a:buNone/>
            </a:pPr>
            <a:r>
              <a:rPr lang="en-US" sz="1300" b="1" dirty="0">
                <a:solidFill>
                  <a:srgbClr val="14302B"/>
                </a:solidFill>
                <a:latin typeface="Calibri" pitchFamily="34" charset="0"/>
                <a:ea typeface="Calibri" pitchFamily="34" charset="-122"/>
                <a:cs typeface="Calibri" pitchFamily="34" charset="-120"/>
              </a:rPr>
              <a:t>Neurogaze · dirotasi 4 Posyandu</a:t>
            </a:r>
            <a:endParaRPr lang="en-US" sz="1300" dirty="0"/>
          </a:p>
        </p:txBody>
      </p:sp>
      <p:sp>
        <p:nvSpPr>
          <p:cNvPr id="14" name="Text 12"/>
          <p:cNvSpPr/>
          <p:nvPr/>
        </p:nvSpPr>
        <p:spPr>
          <a:xfrm>
            <a:off x="4480560" y="4114800"/>
            <a:ext cx="2697480" cy="502920"/>
          </a:xfrm>
          <a:prstGeom prst="rect">
            <a:avLst/>
          </a:prstGeom>
          <a:noFill/>
          <a:ln/>
        </p:spPr>
        <p:txBody>
          <a:bodyPr wrap="square" lIns="0" tIns="0" rIns="0" bIns="0" rtlCol="0" anchor="ctr"/>
          <a:lstStyle/>
          <a:p>
            <a:pPr indent="0" marL="0">
              <a:lnSpc>
                <a:spcPts val="1500"/>
              </a:lnSpc>
              <a:buNone/>
            </a:pPr>
            <a:r>
              <a:rPr lang="en-US" sz="1100" dirty="0">
                <a:solidFill>
                  <a:srgbClr val="4A635D"/>
                </a:solidFill>
                <a:latin typeface="Calibri" pitchFamily="34" charset="0"/>
                <a:ea typeface="Calibri" pitchFamily="34" charset="-122"/>
                <a:cs typeface="Calibri" pitchFamily="34" charset="-120"/>
              </a:rPr>
              <a:t>1.000 sesi × Rp 3.500 ÷ 1,53 kasus</a:t>
            </a:r>
            <a:endParaRPr lang="en-US" sz="1100" dirty="0"/>
          </a:p>
        </p:txBody>
      </p:sp>
      <p:sp>
        <p:nvSpPr>
          <p:cNvPr id="15" name="Shape 13"/>
          <p:cNvSpPr/>
          <p:nvPr/>
        </p:nvSpPr>
        <p:spPr>
          <a:xfrm>
            <a:off x="7726680" y="2788920"/>
            <a:ext cx="3246120" cy="1965960"/>
          </a:xfrm>
          <a:prstGeom prst="roundRect">
            <a:avLst>
              <a:gd name="adj" fmla="val 2791"/>
            </a:avLst>
          </a:prstGeom>
          <a:solidFill>
            <a:srgbClr val="FFFFFF"/>
          </a:solidFill>
          <a:ln w="12700">
            <a:solidFill>
              <a:srgbClr val="DBE4E1"/>
            </a:solidFill>
            <a:prstDash val="solid"/>
          </a:ln>
        </p:spPr>
      </p:sp>
      <p:sp>
        <p:nvSpPr>
          <p:cNvPr id="16" name="Text 14"/>
          <p:cNvSpPr/>
          <p:nvPr/>
        </p:nvSpPr>
        <p:spPr>
          <a:xfrm>
            <a:off x="8001000" y="3035808"/>
            <a:ext cx="2697480" cy="548640"/>
          </a:xfrm>
          <a:prstGeom prst="rect">
            <a:avLst/>
          </a:prstGeom>
          <a:noFill/>
          <a:ln/>
        </p:spPr>
        <p:txBody>
          <a:bodyPr wrap="square" lIns="0" tIns="0" rIns="0" bIns="0" rtlCol="0" anchor="ctr"/>
          <a:lstStyle/>
          <a:p>
            <a:pPr indent="0" marL="0">
              <a:buNone/>
            </a:pPr>
            <a:r>
              <a:rPr lang="en-US" sz="3200" b="1" dirty="0">
                <a:solidFill>
                  <a:srgbClr val="B1442C"/>
                </a:solidFill>
                <a:latin typeface="Cambria" pitchFamily="34" charset="0"/>
                <a:ea typeface="Cambria" pitchFamily="34" charset="-122"/>
                <a:cs typeface="Cambria" pitchFamily="34" charset="-120"/>
              </a:rPr>
              <a:t>Rp 9,70 jt</a:t>
            </a:r>
            <a:endParaRPr lang="en-US" sz="3200" dirty="0"/>
          </a:p>
        </p:txBody>
      </p:sp>
      <p:sp>
        <p:nvSpPr>
          <p:cNvPr id="17" name="Text 15"/>
          <p:cNvSpPr/>
          <p:nvPr/>
        </p:nvSpPr>
        <p:spPr>
          <a:xfrm>
            <a:off x="8001000" y="3639312"/>
            <a:ext cx="2697480" cy="457200"/>
          </a:xfrm>
          <a:prstGeom prst="rect">
            <a:avLst/>
          </a:prstGeom>
          <a:noFill/>
          <a:ln/>
        </p:spPr>
        <p:txBody>
          <a:bodyPr wrap="square" lIns="0" tIns="0" rIns="0" bIns="0" rtlCol="0" anchor="ctr"/>
          <a:lstStyle/>
          <a:p>
            <a:pPr indent="0" marL="0">
              <a:lnSpc>
                <a:spcPts val="1700"/>
              </a:lnSpc>
              <a:buNone/>
            </a:pPr>
            <a:r>
              <a:rPr lang="en-US" sz="1300" b="1" dirty="0">
                <a:solidFill>
                  <a:srgbClr val="14302B"/>
                </a:solidFill>
                <a:latin typeface="Calibri" pitchFamily="34" charset="0"/>
                <a:ea typeface="Calibri" pitchFamily="34" charset="-122"/>
                <a:cs typeface="Calibri" pitchFamily="34" charset="-120"/>
              </a:rPr>
              <a:t>EarliPoint · satu pemeriksaan</a:t>
            </a:r>
            <a:endParaRPr lang="en-US" sz="1300" dirty="0"/>
          </a:p>
        </p:txBody>
      </p:sp>
      <p:sp>
        <p:nvSpPr>
          <p:cNvPr id="18" name="Text 16"/>
          <p:cNvSpPr/>
          <p:nvPr/>
        </p:nvSpPr>
        <p:spPr>
          <a:xfrm>
            <a:off x="8001000" y="4114800"/>
            <a:ext cx="2697480" cy="502920"/>
          </a:xfrm>
          <a:prstGeom prst="rect">
            <a:avLst/>
          </a:prstGeom>
          <a:noFill/>
          <a:ln/>
        </p:spPr>
        <p:txBody>
          <a:bodyPr wrap="square" lIns="0" tIns="0" rIns="0" bIns="0" rtlCol="0" anchor="ctr"/>
          <a:lstStyle/>
          <a:p>
            <a:pPr indent="0" marL="0">
              <a:lnSpc>
                <a:spcPts val="1500"/>
              </a:lnSpc>
              <a:buNone/>
            </a:pPr>
            <a:r>
              <a:rPr lang="en-US" sz="1100" dirty="0">
                <a:solidFill>
                  <a:srgbClr val="4A635D"/>
                </a:solidFill>
                <a:latin typeface="Calibri" pitchFamily="34" charset="0"/>
                <a:ea typeface="Calibri" pitchFamily="34" charset="-122"/>
                <a:cs typeface="Calibri" pitchFamily="34" charset="-120"/>
              </a:rPr>
              <a:t>Satu anak, sekali periksa, di klinik</a:t>
            </a:r>
            <a:endParaRPr lang="en-US" sz="1100" dirty="0"/>
          </a:p>
        </p:txBody>
      </p:sp>
      <p:sp>
        <p:nvSpPr>
          <p:cNvPr id="19" name="Text 17"/>
          <p:cNvSpPr/>
          <p:nvPr/>
        </p:nvSpPr>
        <p:spPr>
          <a:xfrm>
            <a:off x="685800" y="4983480"/>
            <a:ext cx="10424160" cy="640080"/>
          </a:xfrm>
          <a:prstGeom prst="rect">
            <a:avLst/>
          </a:prstGeom>
          <a:noFill/>
          <a:ln/>
        </p:spPr>
        <p:txBody>
          <a:bodyPr wrap="square" lIns="0" tIns="0" rIns="0" bIns="0" rtlCol="0" anchor="ctr"/>
          <a:lstStyle/>
          <a:p>
            <a:pPr indent="0" marL="0">
              <a:lnSpc>
                <a:spcPts val="2400"/>
              </a:lnSpc>
              <a:buNone/>
            </a:pPr>
            <a:r>
              <a:rPr lang="en-US" sz="1700" b="1" dirty="0">
                <a:solidFill>
                  <a:srgbClr val="0B1E1B"/>
                </a:solidFill>
                <a:latin typeface="Cambria" pitchFamily="34" charset="0"/>
                <a:ea typeface="Cambria" pitchFamily="34" charset="-122"/>
                <a:cs typeface="Cambria" pitchFamily="34" charset="-120"/>
              </a:rPr>
              <a:t>Bila titik operasinya terreplikasi, menemukan satu kasus harganya kira-kira sekali pemeriksaan EarliPoint — seperempatnya bila satu tablet dirotasi ke empat Posyandu.</a:t>
            </a:r>
            <a:endParaRPr lang="en-US" sz="1700" dirty="0"/>
          </a:p>
        </p:txBody>
      </p:sp>
      <p:sp>
        <p:nvSpPr>
          <p:cNvPr id="20" name="Text 18"/>
          <p:cNvSpPr/>
          <p:nvPr/>
        </p:nvSpPr>
        <p:spPr>
          <a:xfrm>
            <a:off x="685800" y="5650992"/>
            <a:ext cx="10424160" cy="274320"/>
          </a:xfrm>
          <a:prstGeom prst="rect">
            <a:avLst/>
          </a:prstGeom>
          <a:noFill/>
          <a:ln/>
        </p:spPr>
        <p:txBody>
          <a:bodyPr wrap="square" lIns="0" tIns="0" rIns="0" bIns="0" rtlCol="0" anchor="ctr"/>
          <a:lstStyle/>
          <a:p>
            <a:pPr indent="0" marL="0">
              <a:buNone/>
            </a:pPr>
            <a:r>
              <a:rPr lang="en-US" sz="1050" b="1" dirty="0">
                <a:solidFill>
                  <a:srgbClr val="14302B"/>
                </a:solidFill>
                <a:latin typeface="Calibri" pitchFamily="34" charset="0"/>
                <a:ea typeface="Calibri" pitchFamily="34" charset="-122"/>
                <a:cs typeface="Calibri" pitchFamily="34" charset="-120"/>
              </a:rPr>
              <a:t>Yang belum terukur: waktu kader, pelatihan, dukungan, cetak, dudukan, pengulangan sesi, pemeliharaan, penggantian perangkat, dan tindak lanjut klinis.</a:t>
            </a:r>
            <a:endParaRPr lang="en-US" sz="1050" dirty="0"/>
          </a:p>
        </p:txBody>
      </p:sp>
      <p:sp>
        <p:nvSpPr>
          <p:cNvPr id="21" name="Text 19"/>
          <p:cNvSpPr/>
          <p:nvPr/>
        </p:nvSpPr>
        <p:spPr>
          <a:xfrm>
            <a:off x="685800" y="5943600"/>
            <a:ext cx="10424160" cy="274320"/>
          </a:xfrm>
          <a:prstGeom prst="rect">
            <a:avLst/>
          </a:prstGeom>
          <a:noFill/>
          <a:ln/>
        </p:spPr>
        <p:txBody>
          <a:bodyPr wrap="square" lIns="0" tIns="0" rIns="0" bIns="0" rtlCol="0" anchor="ctr"/>
          <a:lstStyle/>
          <a:p>
            <a:pPr indent="0" marL="0">
              <a:buNone/>
            </a:pPr>
            <a:r>
              <a:rPr lang="en-US" sz="1050" dirty="0">
                <a:solidFill>
                  <a:srgbClr val="4A635D"/>
                </a:solidFill>
                <a:latin typeface="Calibri" pitchFamily="34" charset="0"/>
                <a:ea typeface="Calibri" pitchFamily="34" charset="-122"/>
                <a:cs typeface="Calibri" pitchFamily="34" charset="-120"/>
              </a:rPr>
              <a:t>Asumsi dinyatakan di docs/dampak_dan_adopsi.md · kohort 1.000, prevalensi 1%, cakupan teknis 90%</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8"/>
        </a:solidFill>
      </p:bgPr>
    </p:bg>
    <p:spTree>
      <p:nvGrpSpPr>
        <p:cNvPr id="1" name=""/>
        <p:cNvGrpSpPr/>
        <p:nvPr/>
      </p:nvGrpSpPr>
      <p:grpSpPr>
        <a:xfrm>
          <a:off x="0" y="0"/>
          <a:ext cx="0" cy="0"/>
          <a:chOff x="0" y="0"/>
          <a:chExt cx="0" cy="0"/>
        </a:xfrm>
      </p:grpSpPr>
      <p:sp>
        <p:nvSpPr>
          <p:cNvPr id="2" name="Shape 0"/>
          <p:cNvSpPr/>
          <p:nvPr/>
        </p:nvSpPr>
        <p:spPr>
          <a:xfrm>
            <a:off x="11268151" y="740664"/>
            <a:ext cx="237744" cy="237744"/>
          </a:xfrm>
          <a:prstGeom prst="ellipse">
            <a:avLst/>
          </a:prstGeom>
          <a:solidFill>
            <a:srgbClr val="FFFFFF">
              <a:alpha val="0"/>
            </a:srgbClr>
          </a:solidFill>
          <a:ln w="25400">
            <a:solidFill>
              <a:srgbClr val="5CB9A3"/>
            </a:solidFill>
            <a:prstDash val="solid"/>
          </a:ln>
        </p:spPr>
      </p:sp>
      <p:sp>
        <p:nvSpPr>
          <p:cNvPr id="3" name="Shape 1"/>
          <p:cNvSpPr/>
          <p:nvPr/>
        </p:nvSpPr>
        <p:spPr>
          <a:xfrm>
            <a:off x="11339474" y="811987"/>
            <a:ext cx="95098" cy="95098"/>
          </a:xfrm>
          <a:prstGeom prst="ellipse">
            <a:avLst/>
          </a:prstGeom>
          <a:solidFill>
            <a:srgbClr val="5CB9A3"/>
          </a:solidFill>
          <a:ln w="12700">
            <a:solidFill>
              <a:srgbClr val="333333"/>
            </a:solidFill>
            <a:prstDash val="solid"/>
          </a:ln>
        </p:spPr>
      </p:sp>
      <p:sp>
        <p:nvSpPr>
          <p:cNvPr id="4" name="Text 2"/>
          <p:cNvSpPr/>
          <p:nvPr/>
        </p:nvSpPr>
        <p:spPr>
          <a:xfrm>
            <a:off x="685800" y="685800"/>
            <a:ext cx="10271455" cy="256032"/>
          </a:xfrm>
          <a:prstGeom prst="rect">
            <a:avLst/>
          </a:prstGeom>
          <a:noFill/>
          <a:ln/>
        </p:spPr>
        <p:txBody>
          <a:bodyPr wrap="square" lIns="0" tIns="0" rIns="0" bIns="0" rtlCol="0" anchor="ctr"/>
          <a:lstStyle/>
          <a:p>
            <a:pPr indent="0" marL="0">
              <a:buNone/>
            </a:pPr>
            <a:r>
              <a:rPr lang="en-US" sz="1200" b="1" spc="120" kern="0" dirty="0">
                <a:solidFill>
                  <a:srgbClr val="0D8271"/>
                </a:solidFill>
                <a:latin typeface="Calibri" pitchFamily="34" charset="0"/>
                <a:ea typeface="Calibri" pitchFamily="34" charset="-122"/>
                <a:cs typeface="Calibri" pitchFamily="34" charset="-120"/>
              </a:rPr>
              <a:t>Jalur adopsi</a:t>
            </a:r>
            <a:endParaRPr lang="en-US" sz="1200" dirty="0"/>
          </a:p>
        </p:txBody>
      </p:sp>
      <p:sp>
        <p:nvSpPr>
          <p:cNvPr id="5" name="Text 3"/>
          <p:cNvSpPr/>
          <p:nvPr/>
        </p:nvSpPr>
        <p:spPr>
          <a:xfrm>
            <a:off x="685800" y="996696"/>
            <a:ext cx="10271455" cy="822960"/>
          </a:xfrm>
          <a:prstGeom prst="rect">
            <a:avLst/>
          </a:prstGeom>
          <a:noFill/>
          <a:ln/>
        </p:spPr>
        <p:txBody>
          <a:bodyPr wrap="square" lIns="0" tIns="0" rIns="0" bIns="0" rtlCol="0" anchor="ctr"/>
          <a:lstStyle/>
          <a:p>
            <a:pPr indent="0" marL="0">
              <a:lnSpc>
                <a:spcPts val="3600"/>
              </a:lnSpc>
              <a:buNone/>
            </a:pPr>
            <a:r>
              <a:rPr lang="en-US" sz="3200" b="1" dirty="0">
                <a:solidFill>
                  <a:srgbClr val="0B1E1B"/>
                </a:solidFill>
                <a:latin typeface="Cambria" pitchFamily="34" charset="0"/>
                <a:ea typeface="Cambria" pitchFamily="34" charset="-122"/>
                <a:cs typeface="Cambria" pitchFamily="34" charset="-120"/>
              </a:rPr>
              <a:t>Ia menempel pada alur yang sudah jalan</a:t>
            </a:r>
            <a:endParaRPr lang="en-US" sz="3200" dirty="0"/>
          </a:p>
        </p:txBody>
      </p:sp>
      <p:sp>
        <p:nvSpPr>
          <p:cNvPr id="6" name="Text 4"/>
          <p:cNvSpPr/>
          <p:nvPr/>
        </p:nvSpPr>
        <p:spPr>
          <a:xfrm>
            <a:off x="685800" y="2103120"/>
            <a:ext cx="10424160" cy="548640"/>
          </a:xfrm>
          <a:prstGeom prst="rect">
            <a:avLst/>
          </a:prstGeom>
          <a:noFill/>
          <a:ln/>
        </p:spPr>
        <p:txBody>
          <a:bodyPr wrap="square" lIns="0" tIns="0" rIns="0" bIns="0" rtlCol="0" anchor="ctr"/>
          <a:lstStyle/>
          <a:p>
            <a:pPr indent="0" marL="0">
              <a:lnSpc>
                <a:spcPts val="2100"/>
              </a:lnSpc>
              <a:buNone/>
            </a:pPr>
            <a:r>
              <a:rPr lang="en-US" sz="1500" dirty="0">
                <a:solidFill>
                  <a:srgbClr val="14302B"/>
                </a:solidFill>
                <a:latin typeface="Calibri" pitchFamily="34" charset="0"/>
                <a:ea typeface="Calibri" pitchFamily="34" charset="-122"/>
                <a:cs typeface="Calibri" pitchFamily="34" charset="-120"/>
              </a:rPr>
              <a:t>Alat ini tidak menggantikan apa pun. Ia menempel: sesi 67 detik sesudah penimbangan bulanan, laporan satu halaman diserahkan ke Puskesmas, dibaca berdampingan dengan SDIDTK.</a:t>
            </a:r>
            <a:endParaRPr lang="en-US" sz="1500" dirty="0"/>
          </a:p>
        </p:txBody>
      </p:sp>
      <p:sp>
        <p:nvSpPr>
          <p:cNvPr id="7" name="Text 5"/>
          <p:cNvSpPr/>
          <p:nvPr/>
        </p:nvSpPr>
        <p:spPr>
          <a:xfrm>
            <a:off x="685800" y="2926080"/>
            <a:ext cx="3291840" cy="1002890"/>
          </a:xfrm>
          <a:prstGeom prst="rect">
            <a:avLst/>
          </a:prstGeom>
          <a:noFill/>
          <a:ln/>
        </p:spPr>
        <p:txBody>
          <a:bodyPr wrap="square" lIns="0" tIns="0" rIns="0" bIns="0" rtlCol="0" anchor="ctr"/>
          <a:lstStyle/>
          <a:p>
            <a:pPr indent="0" marL="0">
              <a:lnSpc>
                <a:spcPts val="6800"/>
              </a:lnSpc>
              <a:buNone/>
            </a:pPr>
            <a:r>
              <a:rPr lang="en-US" sz="6800" b="1" dirty="0">
                <a:solidFill>
                  <a:srgbClr val="0D8271"/>
                </a:solidFill>
                <a:latin typeface="Cambria" pitchFamily="34" charset="0"/>
                <a:ea typeface="Cambria" pitchFamily="34" charset="-122"/>
                <a:cs typeface="Cambria" pitchFamily="34" charset="-120"/>
              </a:rPr>
              <a:t>~700</a:t>
            </a:r>
            <a:endParaRPr lang="en-US" sz="6800" dirty="0"/>
          </a:p>
        </p:txBody>
      </p:sp>
      <p:sp>
        <p:nvSpPr>
          <p:cNvPr id="8" name="Text 6"/>
          <p:cNvSpPr/>
          <p:nvPr/>
        </p:nvSpPr>
        <p:spPr>
          <a:xfrm>
            <a:off x="685800" y="3983834"/>
            <a:ext cx="3291840" cy="274320"/>
          </a:xfrm>
          <a:prstGeom prst="rect">
            <a:avLst/>
          </a:prstGeom>
          <a:noFill/>
          <a:ln/>
        </p:spPr>
        <p:txBody>
          <a:bodyPr wrap="square" lIns="0" tIns="0" rIns="0" bIns="0" rtlCol="0" anchor="ctr"/>
          <a:lstStyle/>
          <a:p>
            <a:pPr indent="0" marL="0">
              <a:buNone/>
            </a:pPr>
            <a:r>
              <a:rPr lang="en-US" sz="1400" b="1" dirty="0">
                <a:solidFill>
                  <a:srgbClr val="14302B"/>
                </a:solidFill>
                <a:latin typeface="Calibri" pitchFamily="34" charset="0"/>
                <a:ea typeface="Calibri" pitchFamily="34" charset="-122"/>
                <a:cs typeface="Calibri" pitchFamily="34" charset="-120"/>
              </a:rPr>
              <a:t>sesi dapat dinilai per tahun — hipotetis</a:t>
            </a:r>
            <a:endParaRPr lang="en-US" sz="1400" dirty="0"/>
          </a:p>
        </p:txBody>
      </p:sp>
      <p:sp>
        <p:nvSpPr>
          <p:cNvPr id="9" name="Text 7"/>
          <p:cNvSpPr/>
          <p:nvPr/>
        </p:nvSpPr>
        <p:spPr>
          <a:xfrm>
            <a:off x="685800" y="4294730"/>
            <a:ext cx="3291840" cy="640080"/>
          </a:xfrm>
          <a:prstGeom prst="rect">
            <a:avLst/>
          </a:prstGeom>
          <a:noFill/>
          <a:ln/>
        </p:spPr>
        <p:txBody>
          <a:bodyPr wrap="square" lIns="0" tIns="0" rIns="0" bIns="0" rtlCol="0" anchor="ctr"/>
          <a:lstStyle/>
          <a:p>
            <a:pPr indent="0" marL="0">
              <a:lnSpc>
                <a:spcPts val="1500"/>
              </a:lnSpc>
              <a:buNone/>
            </a:pPr>
            <a:r>
              <a:rPr lang="en-US" sz="1200" dirty="0">
                <a:solidFill>
                  <a:srgbClr val="4A635D"/>
                </a:solidFill>
                <a:latin typeface="Calibri" pitchFamily="34" charset="0"/>
                <a:ea typeface="Calibri" pitchFamily="34" charset="-122"/>
                <a:cs typeface="Calibri" pitchFamily="34" charset="-120"/>
              </a:rPr>
              <a:t>Aritmetika skala: 30 Posyandu × 40 anak layak, dikurangi attrition 42%. Skala rekrutmen, bukan rencana operasional.</a:t>
            </a:r>
            <a:endParaRPr lang="en-US" sz="1200" dirty="0"/>
          </a:p>
        </p:txBody>
      </p:sp>
      <p:sp>
        <p:nvSpPr>
          <p:cNvPr id="10" name="Text 8"/>
          <p:cNvSpPr/>
          <p:nvPr/>
        </p:nvSpPr>
        <p:spPr>
          <a:xfrm>
            <a:off x="4434840" y="2926080"/>
            <a:ext cx="3291840" cy="1002890"/>
          </a:xfrm>
          <a:prstGeom prst="rect">
            <a:avLst/>
          </a:prstGeom>
          <a:noFill/>
          <a:ln/>
        </p:spPr>
        <p:txBody>
          <a:bodyPr wrap="square" lIns="0" tIns="0" rIns="0" bIns="0" rtlCol="0" anchor="ctr"/>
          <a:lstStyle/>
          <a:p>
            <a:pPr indent="0" marL="0">
              <a:lnSpc>
                <a:spcPts val="6800"/>
              </a:lnSpc>
              <a:buNone/>
            </a:pPr>
            <a:r>
              <a:rPr lang="en-US" sz="6800" b="1" dirty="0">
                <a:solidFill>
                  <a:srgbClr val="4A635D"/>
                </a:solidFill>
                <a:latin typeface="Cambria" pitchFamily="34" charset="0"/>
                <a:ea typeface="Cambria" pitchFamily="34" charset="-122"/>
                <a:cs typeface="Cambria" pitchFamily="34" charset="-120"/>
              </a:rPr>
              <a:t>475</a:t>
            </a:r>
            <a:endParaRPr lang="en-US" sz="6800" dirty="0"/>
          </a:p>
        </p:txBody>
      </p:sp>
      <p:sp>
        <p:nvSpPr>
          <p:cNvPr id="11" name="Text 9"/>
          <p:cNvSpPr/>
          <p:nvPr/>
        </p:nvSpPr>
        <p:spPr>
          <a:xfrm>
            <a:off x="4434840" y="3983834"/>
            <a:ext cx="3291840" cy="274320"/>
          </a:xfrm>
          <a:prstGeom prst="rect">
            <a:avLst/>
          </a:prstGeom>
          <a:noFill/>
          <a:ln/>
        </p:spPr>
        <p:txBody>
          <a:bodyPr wrap="square" lIns="0" tIns="0" rIns="0" bIns="0" rtlCol="0" anchor="ctr"/>
          <a:lstStyle/>
          <a:p>
            <a:pPr indent="0" marL="0">
              <a:buNone/>
            </a:pPr>
            <a:r>
              <a:rPr lang="en-US" sz="1400" b="1" dirty="0">
                <a:solidFill>
                  <a:srgbClr val="14302B"/>
                </a:solidFill>
                <a:latin typeface="Calibri" pitchFamily="34" charset="0"/>
                <a:ea typeface="Calibri" pitchFamily="34" charset="-122"/>
                <a:cs typeface="Calibri" pitchFamily="34" charset="-120"/>
              </a:rPr>
              <a:t>kohort Nature Medicine</a:t>
            </a:r>
            <a:endParaRPr lang="en-US" sz="1400" dirty="0"/>
          </a:p>
        </p:txBody>
      </p:sp>
      <p:sp>
        <p:nvSpPr>
          <p:cNvPr id="12" name="Text 10"/>
          <p:cNvSpPr/>
          <p:nvPr/>
        </p:nvSpPr>
        <p:spPr>
          <a:xfrm>
            <a:off x="4434840" y="4294730"/>
            <a:ext cx="3291840" cy="640080"/>
          </a:xfrm>
          <a:prstGeom prst="rect">
            <a:avLst/>
          </a:prstGeom>
          <a:noFill/>
          <a:ln/>
        </p:spPr>
        <p:txBody>
          <a:bodyPr wrap="square" lIns="0" tIns="0" rIns="0" bIns="0" rtlCol="0" anchor="ctr"/>
          <a:lstStyle/>
          <a:p>
            <a:pPr indent="0" marL="0">
              <a:lnSpc>
                <a:spcPts val="1500"/>
              </a:lnSpc>
              <a:buNone/>
            </a:pPr>
            <a:r>
              <a:rPr lang="en-US" sz="1200" dirty="0">
                <a:solidFill>
                  <a:srgbClr val="4A635D"/>
                </a:solidFill>
                <a:latin typeface="Calibri" pitchFamily="34" charset="0"/>
                <a:ea typeface="Calibri" pitchFamily="34" charset="-122"/>
                <a:cs typeface="Calibri" pitchFamily="34" charset="-120"/>
              </a:rPr>
              <a:t>Studi SenseToKnow yang jadi acuan kami.</a:t>
            </a:r>
            <a:endParaRPr lang="en-US" sz="1200" dirty="0"/>
          </a:p>
        </p:txBody>
      </p:sp>
      <p:sp>
        <p:nvSpPr>
          <p:cNvPr id="13" name="Shape 11"/>
          <p:cNvSpPr/>
          <p:nvPr/>
        </p:nvSpPr>
        <p:spPr>
          <a:xfrm>
            <a:off x="7909560" y="2880360"/>
            <a:ext cx="3200400" cy="2194560"/>
          </a:xfrm>
          <a:prstGeom prst="roundRect">
            <a:avLst>
              <a:gd name="adj" fmla="val 2500"/>
            </a:avLst>
          </a:prstGeom>
          <a:solidFill>
            <a:srgbClr val="E4F2EE"/>
          </a:solidFill>
          <a:ln w="12700">
            <a:solidFill>
              <a:srgbClr val="E4F2EE"/>
            </a:solidFill>
            <a:prstDash val="solid"/>
          </a:ln>
        </p:spPr>
      </p:sp>
      <p:sp>
        <p:nvSpPr>
          <p:cNvPr id="14" name="Text 12"/>
          <p:cNvSpPr/>
          <p:nvPr/>
        </p:nvSpPr>
        <p:spPr>
          <a:xfrm>
            <a:off x="8138160" y="3127248"/>
            <a:ext cx="2743200" cy="548640"/>
          </a:xfrm>
          <a:prstGeom prst="rect">
            <a:avLst/>
          </a:prstGeom>
          <a:noFill/>
          <a:ln/>
        </p:spPr>
        <p:txBody>
          <a:bodyPr wrap="square" lIns="0" tIns="0" rIns="0" bIns="0" rtlCol="0" anchor="ctr"/>
          <a:lstStyle/>
          <a:p>
            <a:pPr indent="0" marL="0">
              <a:lnSpc>
                <a:spcPts val="2100"/>
              </a:lnSpc>
              <a:buNone/>
            </a:pPr>
            <a:r>
              <a:rPr lang="en-US" sz="1600" b="1" dirty="0">
                <a:solidFill>
                  <a:srgbClr val="0D8271"/>
                </a:solidFill>
                <a:latin typeface="Cambria" pitchFamily="34" charset="0"/>
                <a:ea typeface="Cambria" pitchFamily="34" charset="-122"/>
                <a:cs typeface="Cambria" pitchFamily="34" charset="-120"/>
              </a:rPr>
              <a:t>Tanpa biaya marginal perangkat lunak</a:t>
            </a:r>
            <a:endParaRPr lang="en-US" sz="1600" dirty="0"/>
          </a:p>
        </p:txBody>
      </p:sp>
      <p:sp>
        <p:nvSpPr>
          <p:cNvPr id="15" name="Text 13"/>
          <p:cNvSpPr/>
          <p:nvPr/>
        </p:nvSpPr>
        <p:spPr>
          <a:xfrm>
            <a:off x="8138160" y="3749040"/>
            <a:ext cx="2743200" cy="1097280"/>
          </a:xfrm>
          <a:prstGeom prst="rect">
            <a:avLst/>
          </a:prstGeom>
          <a:noFill/>
          <a:ln/>
        </p:spPr>
        <p:txBody>
          <a:bodyPr wrap="square" lIns="0" tIns="0" rIns="0" bIns="0" rtlCol="0" anchor="ctr"/>
          <a:lstStyle/>
          <a:p>
            <a:pPr indent="0" marL="0">
              <a:lnSpc>
                <a:spcPts val="1800"/>
              </a:lnSpc>
              <a:buNone/>
            </a:pPr>
            <a:r>
              <a:rPr lang="en-US" sz="1250" dirty="0">
                <a:solidFill>
                  <a:srgbClr val="14302B"/>
                </a:solidFill>
                <a:latin typeface="Calibri" pitchFamily="34" charset="0"/>
                <a:ea typeface="Calibri" pitchFamily="34" charset="-122"/>
                <a:cs typeface="Calibri" pitchFamily="34" charset="-120"/>
              </a:rPr>
              <a:t>PWA statis. Tidak ada server, basis data, maupun lisensi. Posyandu ke-1 dan ke-1.000 memuat berkas yang sama.</a:t>
            </a:r>
            <a:endParaRPr lang="en-US" sz="1250" dirty="0"/>
          </a:p>
        </p:txBody>
      </p:sp>
      <p:sp>
        <p:nvSpPr>
          <p:cNvPr id="16" name="Text 14"/>
          <p:cNvSpPr/>
          <p:nvPr/>
        </p:nvSpPr>
        <p:spPr>
          <a:xfrm>
            <a:off x="685800" y="5349240"/>
            <a:ext cx="6766560" cy="640080"/>
          </a:xfrm>
          <a:prstGeom prst="rect">
            <a:avLst/>
          </a:prstGeom>
          <a:noFill/>
          <a:ln/>
        </p:spPr>
        <p:txBody>
          <a:bodyPr wrap="square" lIns="0" tIns="0" rIns="0" bIns="0" rtlCol="0" anchor="ctr"/>
          <a:lstStyle/>
          <a:p>
            <a:pPr indent="0" marL="0">
              <a:lnSpc>
                <a:spcPts val="2100"/>
              </a:lnSpc>
              <a:buNone/>
            </a:pPr>
            <a:r>
              <a:rPr lang="en-US" sz="1500" i="1" dirty="0">
                <a:solidFill>
                  <a:srgbClr val="14302B"/>
                </a:solidFill>
                <a:latin typeface="Cambria" pitchFamily="34" charset="0"/>
                <a:ea typeface="Cambria" pitchFamily="34" charset="-122"/>
                <a:cs typeface="Cambria" pitchFamily="34" charset="-120"/>
              </a:rPr>
              <a:t>Skala kohort acuan Nature Medicine dapat dicapai dalam satu tahun studi di 30 Posyandu — sebagai penelitian prospektif berizin etik dengan acuan klinis buta, bukan sebagai penyebaran produk.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E1B"/>
        </a:solidFill>
      </p:bgPr>
    </p:bg>
    <p:spTree>
      <p:nvGrpSpPr>
        <p:cNvPr id="1" name=""/>
        <p:cNvGrpSpPr/>
        <p:nvPr/>
      </p:nvGrpSpPr>
      <p:grpSpPr>
        <a:xfrm>
          <a:off x="0" y="0"/>
          <a:ext cx="0" cy="0"/>
          <a:chOff x="0" y="0"/>
          <a:chExt cx="0" cy="0"/>
        </a:xfrm>
      </p:grpSpPr>
      <p:sp>
        <p:nvSpPr>
          <p:cNvPr id="2" name="Shape 0"/>
          <p:cNvSpPr/>
          <p:nvPr/>
        </p:nvSpPr>
        <p:spPr>
          <a:xfrm>
            <a:off x="685800" y="1371600"/>
            <a:ext cx="310896" cy="310896"/>
          </a:xfrm>
          <a:prstGeom prst="ellipse">
            <a:avLst/>
          </a:prstGeom>
          <a:solidFill>
            <a:srgbClr val="FFFFFF">
              <a:alpha val="0"/>
            </a:srgbClr>
          </a:solidFill>
          <a:ln w="25400">
            <a:solidFill>
              <a:srgbClr val="5CB9A3"/>
            </a:solidFill>
            <a:prstDash val="solid"/>
          </a:ln>
        </p:spPr>
      </p:sp>
      <p:sp>
        <p:nvSpPr>
          <p:cNvPr id="3" name="Shape 1"/>
          <p:cNvSpPr/>
          <p:nvPr/>
        </p:nvSpPr>
        <p:spPr>
          <a:xfrm>
            <a:off x="779069" y="1464869"/>
            <a:ext cx="124358" cy="124358"/>
          </a:xfrm>
          <a:prstGeom prst="ellipse">
            <a:avLst/>
          </a:prstGeom>
          <a:solidFill>
            <a:srgbClr val="5CB9A3"/>
          </a:solidFill>
          <a:ln w="12700">
            <a:solidFill>
              <a:srgbClr val="333333"/>
            </a:solidFill>
            <a:prstDash val="solid"/>
          </a:ln>
        </p:spPr>
      </p:sp>
      <p:sp>
        <p:nvSpPr>
          <p:cNvPr id="4" name="Text 2"/>
          <p:cNvSpPr/>
          <p:nvPr/>
        </p:nvSpPr>
        <p:spPr>
          <a:xfrm>
            <a:off x="685800" y="1874520"/>
            <a:ext cx="10241280" cy="1188720"/>
          </a:xfrm>
          <a:prstGeom prst="rect">
            <a:avLst/>
          </a:prstGeom>
          <a:noFill/>
          <a:ln/>
        </p:spPr>
        <p:txBody>
          <a:bodyPr wrap="square" lIns="0" tIns="0" rIns="0" bIns="0" rtlCol="0" anchor="ctr"/>
          <a:lstStyle/>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Yang belum kami punya itu label, bukan sistemnya.</a:t>
            </a:r>
            <a:endParaRPr lang="en-US" sz="3800" dirty="0"/>
          </a:p>
        </p:txBody>
      </p:sp>
      <p:sp>
        <p:nvSpPr>
          <p:cNvPr id="5" name="Text 3"/>
          <p:cNvSpPr/>
          <p:nvPr/>
        </p:nvSpPr>
        <p:spPr>
          <a:xfrm>
            <a:off x="685800" y="3200400"/>
            <a:ext cx="10058400" cy="1005840"/>
          </a:xfrm>
          <a:prstGeom prst="rect">
            <a:avLst/>
          </a:prstGeom>
          <a:noFill/>
          <a:ln/>
        </p:spPr>
        <p:txBody>
          <a:bodyPr wrap="square" lIns="0" tIns="0" rIns="0" bIns="0" rtlCol="0" anchor="ctr"/>
          <a:lstStyle/>
          <a:p>
            <a:pPr indent="0" marL="0">
              <a:lnSpc>
                <a:spcPts val="2400"/>
              </a:lnSpc>
              <a:buNone/>
            </a:pPr>
            <a:r>
              <a:rPr lang="en-US" sz="1550" dirty="0">
                <a:solidFill>
                  <a:srgbClr val="A8C6BD"/>
                </a:solidFill>
                <a:latin typeface="Calibri" pitchFamily="34" charset="0"/>
                <a:ea typeface="Calibri" pitchFamily="34" charset="-122"/>
                <a:cs typeface="Calibri" pitchFamily="34" charset="-120"/>
              </a:rPr>
              <a:t>Rantainya sudah berdiri dan sudah terinstrumentasi — kamera ke landmark, landmark ke pandangan</a:t>
            </a:r>
            <a:endParaRPr lang="en-US" sz="1550" dirty="0"/>
          </a:p>
          <a:p>
            <a:pPr indent="0" marL="0">
              <a:lnSpc>
                <a:spcPts val="2400"/>
              </a:lnSpc>
              <a:buNone/>
            </a:pPr>
            <a:r>
              <a:rPr lang="en-US" sz="1550" dirty="0">
                <a:solidFill>
                  <a:srgbClr val="A8C6BD"/>
                </a:solidFill>
                <a:latin typeface="Calibri" pitchFamily="34" charset="0"/>
                <a:ea typeface="Calibri" pitchFamily="34" charset="-122"/>
                <a:cs typeface="Calibri" pitchFamily="34" charset="-120"/>
              </a:rPr>
              <a:t>terkalibrasi, pandangan ke fitur, fitur ke model, model ke penjaga, penjaga ke laporan.</a:t>
            </a:r>
            <a:endParaRPr lang="en-US" sz="1550" dirty="0"/>
          </a:p>
          <a:p>
            <a:pPr indent="0" marL="0">
              <a:lnSpc>
                <a:spcPts val="2400"/>
              </a:lnSpc>
              <a:buNone/>
            </a:pPr>
            <a:r>
              <a:rPr lang="en-US" sz="1550" dirty="0">
                <a:solidFill>
                  <a:srgbClr val="A8C6BD"/>
                </a:solidFill>
                <a:latin typeface="Calibri" pitchFamily="34" charset="0"/>
                <a:ea typeface="Calibri" pitchFamily="34" charset="-122"/>
                <a:cs typeface="Calibri" pitchFamily="34" charset="-120"/>
              </a:rPr>
              <a:t>Ada di tangan kalian sekarang: jalan, luring, di tablet.</a:t>
            </a:r>
            <a:endParaRPr lang="en-US" sz="1550" dirty="0"/>
          </a:p>
        </p:txBody>
      </p:sp>
      <p:sp>
        <p:nvSpPr>
          <p:cNvPr id="6" name="Text 4"/>
          <p:cNvSpPr/>
          <p:nvPr/>
        </p:nvSpPr>
        <p:spPr>
          <a:xfrm>
            <a:off x="685800" y="4480560"/>
            <a:ext cx="10058400" cy="868680"/>
          </a:xfrm>
          <a:prstGeom prst="rect">
            <a:avLst/>
          </a:prstGeom>
          <a:noFill/>
          <a:ln/>
        </p:spPr>
        <p:txBody>
          <a:bodyPr wrap="square" lIns="0" tIns="0" rIns="0" bIns="0" rtlCol="0" anchor="ctr"/>
          <a:lstStyle/>
          <a:p>
            <a:pPr indent="0" marL="0">
              <a:lnSpc>
                <a:spcPts val="2500"/>
              </a:lnSpc>
              <a:buNone/>
            </a:pPr>
            <a:r>
              <a:rPr lang="en-US" sz="1800" i="1" dirty="0">
                <a:solidFill>
                  <a:srgbClr val="5CB9A3"/>
                </a:solidFill>
                <a:latin typeface="Cambria" pitchFamily="34" charset="0"/>
                <a:ea typeface="Cambria" pitchFamily="34" charset="-122"/>
                <a:cs typeface="Cambria" pitchFamily="34" charset="-120"/>
              </a:rPr>
              <a:t>Sebagian besar tim punya model tanpa jalur ke lapangan. Kami punya jalur ke lapangan yang sudah jalan, menunggu labelnya — dan label itu menuntut mitra berizin etik, persetujuan orang tua, acuan klinis buta, dan validasi prospektif.</a:t>
            </a:r>
            <a:endParaRPr lang="en-US" sz="1800" dirty="0"/>
          </a:p>
        </p:txBody>
      </p:sp>
      <p:sp>
        <p:nvSpPr>
          <p:cNvPr id="7" name="Text 5"/>
          <p:cNvSpPr/>
          <p:nvPr/>
        </p:nvSpPr>
        <p:spPr>
          <a:xfrm>
            <a:off x="685800" y="5440680"/>
            <a:ext cx="10424160" cy="411480"/>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Yang kami minta: satu mitra klinis yang mampu menjalankan kaji itu. Paketnya sudah siap dikirim — 10 dari 14 berkas jadi, sisanya menuntut mitra sebagai penanggung jawabnya.</a:t>
            </a:r>
            <a:endParaRPr lang="en-US" sz="1300" dirty="0"/>
          </a:p>
        </p:txBody>
      </p:sp>
      <p:sp>
        <p:nvSpPr>
          <p:cNvPr id="8" name="Text 6"/>
          <p:cNvSpPr/>
          <p:nvPr/>
        </p:nvSpPr>
        <p:spPr>
          <a:xfrm>
            <a:off x="685800" y="5897880"/>
            <a:ext cx="10424160" cy="274320"/>
          </a:xfrm>
          <a:prstGeom prst="rect">
            <a:avLst/>
          </a:prstGeom>
          <a:noFill/>
          <a:ln/>
        </p:spPr>
        <p:txBody>
          <a:bodyPr wrap="square" lIns="0" tIns="0" rIns="0" bIns="0" rtlCol="0" anchor="ctr"/>
          <a:lstStyle/>
          <a:p>
            <a:pPr indent="0" marL="0">
              <a:buNone/>
            </a:pPr>
            <a:r>
              <a:rPr lang="en-US" sz="1200" dirty="0">
                <a:solidFill>
                  <a:srgbClr val="8CAEA5"/>
                </a:solidFill>
                <a:latin typeface="Calibri" pitchFamily="34" charset="0"/>
                <a:ea typeface="Calibri" pitchFamily="34" charset="-122"/>
                <a:cs typeface="Calibri" pitchFamily="34" charset="-120"/>
              </a:rPr>
              <a:t>Target Gate C: sensitivitas 88%  ·  spesifisitas 81%  —  ditetapkan dari literatur, bukan dari harapan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Neurogaze — Datathon RISTEK Fasilkom UI 2026</dc:title>
  <dc:subject>PptxGenJS Presentation</dc:subject>
  <dc:creator>Neurogaze</dc:creator>
  <cp:lastModifiedBy>Neurogaze</cp:lastModifiedBy>
  <cp:revision>1</cp:revision>
  <dcterms:created xsi:type="dcterms:W3CDTF">2026-08-21T15:02:22Z</dcterms:created>
  <dcterms:modified xsi:type="dcterms:W3CDTF">2026-08-21T15:02:22Z</dcterms:modified>
</cp:coreProperties>
</file>