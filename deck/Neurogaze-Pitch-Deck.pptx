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4A635D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4A635D"/>
                </a:solidFill>
                <a:latin typeface="Calibri"/>
              </a:rPr>
              <a:t>Pergeseran fitur ketika laju kamera turun 26 Hz → 13 Hz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Pergeseran median</c:v>
                </c:pt>
              </c:strCache>
            </c:strRef>
          </c:tx>
          <c:spPr>
            <a:solidFill>
              <a:srgbClr val="B1442C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0B1E1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1442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D8271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Fitur kinematik</c:v>
                  </c:pt>
                  <c:pt idx="1">
                    <c:v>Fitur geometri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69.4</c:v>
                </c:pt>
                <c:pt idx="1">
                  <c:v>1.6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0B1E1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4302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</c:scaling>
        <c:delete val="0"/>
        <c:axPos val="b"/>
        <c:majorGridlines>
          <c:spPr>
            <a:ln w="12700" cap="flat">
              <a:solidFill>
                <a:srgbClr val="DBE4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A635D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Tesis dibacakan apa adanya. Jangan menambah kalimat pembuka.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0:40. Dua angka saja. Sebut sendiri bahwa keduanya lintas negara — sebelum juri menagihnya. Klaim Indonesia yang dibuat di sini hanya soal ketiadaan instrumen. Jangan menambahkan statistik prevalensi.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0:25. Kategori barumu didefinisikan di sini, bukan di bagian arsitektur.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1:45 total. Buka /perbandingan lebih dulu: dua kondisi, tiga sinyal, satu layar — tanpa risiko kamera. Baru setelah itu jalankan SATU sesi langsung dan penyajilah pesertanya, bukan relawan. Ucapkan keberatannya sendiri SEBELUM juri memikirkannya. Tawarkan tablet ke juri SESUDAH pitch: 'silakan coba sendiri kalau mau menguji apakah alat ini merujuk semua orang.' Selama 67 detik berjalan, narasikan cermin panggung — jangan diam.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0:35. Jual angka 0 dari 9 dan kolom jarak terdekat. Jangan menjual AUC 1,00.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0:45. Ini bagian yang menutup lubang terbesar di rubrik (AI Implementation, 10%).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Lambatkan di sini. Ini satu-satunya temuan terukur milik sendiri di seluruh proyek — semua angka lain milik studi orang lain.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Sebut sendiri bahwa 544/547 hampir pasti tinggi karena referensinya dikalibrasi di persentil 99,5 — kalau juri yang menemukannya, angka itu berbalik jadi senjata. Yang dijual adalah kontrasnya dengan 1/23, dan parity 23/23.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0:45. Ini bagian Impact yang paling kuat di seluruh deck — pelankan. Satu wawancara bukan pengukuran kapasitas, dan narasumber tidak melihat tabel ini; sebut keduanya. Sensitivitas 17% bukan bug, itu bentuk alatnya. Rule-in.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Ini slide AI Implementation, bukan slide integritas — jual temuannya lebih dulu, penolakannya belakangan. Kalimat kuncinya: setiap makalah pada dataset ini yang tidak menjalankan alas semacam ini berisiko melaporkan performa yang sebagian berasal dari perbedaan pengumpulan data. Dataset wajah cukup satu baris; jangan diceritakan ulang.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1:10. Bobot terbesar di rubrik. Sebut sendiri bahwa ini skenario bersyarat, lalu sebut biaya operasi yang belum terukur — sebelum juri menghitungnya.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Ini yang mengubah 'belum ada data' dari kelemahan menjadi rencana. Sebut kata 'studi prospektif berizin etik' dengan suara — kalau slide ini terdengar seperti rencana menyebar produk untuk memanen data balita, seluruh bagian responsible AI runtuh di satu kalimat.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0:30. Berhenti di sini. Jangan sebut kaji etik sebagai tanda tangan; permintaannya mitra, bukan izin. Jangan tutup dengan 'lima lembaga menolak kami'.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E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371600"/>
            <a:ext cx="365760" cy="365760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5CB9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95528" y="1481328"/>
            <a:ext cx="146304" cy="146304"/>
          </a:xfrm>
          <a:prstGeom prst="ellipse">
            <a:avLst/>
          </a:prstGeom>
          <a:solidFill>
            <a:srgbClr val="5CB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1874520"/>
            <a:ext cx="108200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Neurogaze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685800" y="28346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CB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Pengukuran atensi objektif di Posyandu, di tablet yang sudah ada, tanpa jaringan.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85800" y="3657600"/>
            <a:ext cx="8961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600" i="1" dirty="0">
                <a:solidFill>
                  <a:srgbClr val="9EBD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Yang baru di sini bukan cara mengukur tatapan — itu sudah dipecahkan Nature Medicine.</a:t>
            </a:r>
            <a:endParaRPr lang="en-US" sz="16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00" i="1" dirty="0">
                <a:solidFill>
                  <a:srgbClr val="9EBD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Yang baru adalah arsitektur yang membuat alat ukur itu boleh dipegang relawan Posyandu</a:t>
            </a:r>
            <a:endParaRPr lang="en-US" sz="16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00" i="1" dirty="0">
                <a:solidFill>
                  <a:srgbClr val="9EBD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tanpa mengarang satu angka pun.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85800" y="594360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60" kern="0" dirty="0">
                <a:solidFill>
                  <a:srgbClr val="8CAE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Datathon RISTEK Fasilkom UI 2026  ·  University Track  ·  Semifinal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68151" y="740664"/>
            <a:ext cx="237744" cy="237744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5CB9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39474" y="811987"/>
            <a:ext cx="95098" cy="95098"/>
          </a:xfrm>
          <a:prstGeom prst="ellipse">
            <a:avLst/>
          </a:prstGeom>
          <a:solidFill>
            <a:srgbClr val="5CB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685800"/>
            <a:ext cx="102714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0D82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Masalah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85800" y="996696"/>
            <a:ext cx="102714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200" b="1" dirty="0">
                <a:solidFill>
                  <a:srgbClr val="0B1E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 bulan antara “saya khawatir” dan “ini namanya apa”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85800" y="2286000"/>
            <a:ext cx="3108960" cy="1327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000"/>
              </a:lnSpc>
              <a:buNone/>
            </a:pPr>
            <a:r>
              <a:rPr lang="en-US" sz="9000" b="1" dirty="0">
                <a:solidFill>
                  <a:srgbClr val="0B1E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</a:t>
            </a:r>
            <a:endParaRPr lang="en-US" sz="9000" dirty="0"/>
          </a:p>
        </p:txBody>
      </p:sp>
      <p:sp>
        <p:nvSpPr>
          <p:cNvPr id="7" name="Text 5"/>
          <p:cNvSpPr/>
          <p:nvPr/>
        </p:nvSpPr>
        <p:spPr>
          <a:xfrm>
            <a:off x="685800" y="3668219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bulan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85800" y="3979115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A63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Usia rata-rata diagnosis ASD — tinjauan lintas negara, bukan estimasi Indonesia.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251960" y="2286000"/>
            <a:ext cx="3108960" cy="1327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000"/>
              </a:lnSpc>
              <a:buNone/>
            </a:pPr>
            <a:r>
              <a:rPr lang="en-US" sz="9000" b="1" dirty="0">
                <a:solidFill>
                  <a:srgbClr val="B144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</a:t>
            </a:r>
            <a:endParaRPr lang="en-US" sz="9000" dirty="0"/>
          </a:p>
        </p:txBody>
      </p:sp>
      <p:sp>
        <p:nvSpPr>
          <p:cNvPr id="10" name="Text 8"/>
          <p:cNvSpPr/>
          <p:nvPr/>
        </p:nvSpPr>
        <p:spPr>
          <a:xfrm>
            <a:off x="4251960" y="3668219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bulan jeda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251960" y="3979115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A63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Sejak orang tua pertama kali merasa ada yang berbeda.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818120" y="2240280"/>
            <a:ext cx="3657600" cy="2286000"/>
          </a:xfrm>
          <a:prstGeom prst="roundRect">
            <a:avLst>
              <a:gd name="adj" fmla="val 2400"/>
            </a:avLst>
          </a:prstGeom>
          <a:solidFill>
            <a:srgbClr val="E4F2EE"/>
          </a:solidFill>
          <a:ln w="12700">
            <a:solidFill>
              <a:srgbClr val="E4F2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92440" y="25146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0B1E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Masalahnya bukan orang tua yang tidak sadar.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8092440" y="320040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14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Sepanjang jeda itu yang tersedia hanya laporan manusia. Laporan tidak bisa diserahkan ke fasilitas berikutnya, tidak bisa diulang, dan tidak bisa dibandingkan.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85800" y="4937760"/>
            <a:ext cx="667512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BE4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41832" y="5102352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spcBef>
                <a:spcPts val="400"/>
              </a:spcBef>
              <a:buNone/>
            </a:pPr>
            <a:r>
              <a:rPr lang="en-US" sz="1250" dirty="0">
                <a:solidFill>
                  <a:srgbClr val="14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“Baru datang sekitar umur 7 tahun. Orang tuanya sudah merasa ada yang berbeda sejak usia 2–3 tahun.”</a:t>
            </a:r>
            <a:endParaRPr lang="en-US" sz="1250" dirty="0"/>
          </a:p>
          <a:p>
            <a:pPr indent="0" marL="0">
              <a:lnSpc>
                <a:spcPts val="1700"/>
              </a:lnSpc>
              <a:spcBef>
                <a:spcPts val="400"/>
              </a:spcBef>
              <a:buNone/>
            </a:pPr>
            <a:r>
              <a:rPr lang="en-US" sz="1050" dirty="0">
                <a:solidFill>
                  <a:srgbClr val="4A63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Guru SLB di Jambi · wawancara praktisi · 3–4 dari sekitar 20 anak mulai ditangani sebelum usia 3 tahun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85800" y="598932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63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 dan 32 bulan: tinjauan lintas negara. Bukan angka Indonesia, dan tidak dipakai sebagai angka Indonesia.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68151" y="740664"/>
            <a:ext cx="237744" cy="237744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5CB9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39474" y="811987"/>
            <a:ext cx="95098" cy="95098"/>
          </a:xfrm>
          <a:prstGeom prst="ellipse">
            <a:avLst/>
          </a:prstGeom>
          <a:solidFill>
            <a:srgbClr val="5CB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685800"/>
            <a:ext cx="102714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0D82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Kenapa alat yang ada gagal di Posyandu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85800" y="996696"/>
            <a:ext cx="102714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200" b="1" dirty="0">
                <a:solidFill>
                  <a:srgbClr val="0B1E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Yang tidak ada di antara keduanya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85800" y="2148840"/>
            <a:ext cx="3456432" cy="301752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BE4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78408" y="2395728"/>
            <a:ext cx="28712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E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Ceklis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78408" y="2816352"/>
            <a:ext cx="2871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A63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M-CHAT · KPSP · SDIDTK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978408" y="3246120"/>
            <a:ext cx="287121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4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Murah dan bisa disebar</a:t>
            </a:r>
            <a:endParaRPr lang="en-US" sz="1300" dirty="0"/>
          </a:p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4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Bergantung laporan manusia</a:t>
            </a:r>
            <a:endParaRPr lang="en-US" sz="1300" dirty="0"/>
          </a:p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4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Spesifisitas rendah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416552" y="2148840"/>
            <a:ext cx="3456432" cy="301752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BE4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09160" y="2395728"/>
            <a:ext cx="28712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E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EarliPoint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709160" y="2816352"/>
            <a:ext cx="2871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A63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Izin FDA 510(k), 2022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709160" y="3246120"/>
            <a:ext cx="287121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4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Objektif dan tervalidasi</a:t>
            </a:r>
            <a:endParaRPr lang="en-US" sz="1300" dirty="0"/>
          </a:p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4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 599 per pemeriksaan</a:t>
            </a:r>
            <a:endParaRPr lang="en-US" sz="1300" dirty="0"/>
          </a:p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4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Eye-tracker khusus, di klinik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47304" y="2148840"/>
            <a:ext cx="3456432" cy="3017520"/>
          </a:xfrm>
          <a:prstGeom prst="roundRect">
            <a:avLst>
              <a:gd name="adj" fmla="val 1818"/>
            </a:avLst>
          </a:prstGeom>
          <a:solidFill>
            <a:srgbClr val="E4F2EE"/>
          </a:solidFill>
          <a:ln w="12700">
            <a:solidFill>
              <a:srgbClr val="E4F2E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39912" y="2395728"/>
            <a:ext cx="28712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82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Celah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8439912" y="2816352"/>
            <a:ext cx="2871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D82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Belum ada yang mengisinya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439912" y="3246120"/>
            <a:ext cx="287121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4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Objektif</a:t>
            </a:r>
            <a:endParaRPr lang="en-US" sz="1300" dirty="0"/>
          </a:p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4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Dijalankan kader, bukan klinisi</a:t>
            </a:r>
            <a:endParaRPr lang="en-US" sz="1300" dirty="0"/>
          </a:p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4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Tablet Android biasa, luring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E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234440"/>
            <a:ext cx="310896" cy="310896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5CB9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79069" y="1327709"/>
            <a:ext cx="124358" cy="124358"/>
          </a:xfrm>
          <a:prstGeom prst="ellipse">
            <a:avLst/>
          </a:prstGeom>
          <a:solidFill>
            <a:srgbClr val="5CB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1737360"/>
            <a:ext cx="108200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60" kern="0" dirty="0">
                <a:solidFill>
                  <a:srgbClr val="5CB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Demonstrasi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9692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Bagaimana kalau alat ini cuma merujuk semua orang?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85800" y="3749040"/>
            <a:ext cx="9326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700" dirty="0">
                <a:solidFill>
                  <a:srgbClr val="B7D2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Alat yang selalu bilang “periksa lebih lanjut” akan lolos demo mana pun tanpa mengukur apa pun.</a:t>
            </a:r>
            <a:endParaRPr lang="en-US" sz="17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700" dirty="0">
                <a:solidFill>
                  <a:srgbClr val="B7D2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Jadi jawabannya bukan satu sesi yang berhasil. Jawabannya dua kondisi, berdampingan, dari 15 sesi yang sudah direkam.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85800" y="5852160"/>
            <a:ext cx="10820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B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Layar perbandingan  ·  lalu satu sesi kamera langsung  ·  pipeline yang sama persis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68151" y="740664"/>
            <a:ext cx="237744" cy="237744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5CB9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39474" y="811987"/>
            <a:ext cx="95098" cy="95098"/>
          </a:xfrm>
          <a:prstGeom prst="ellipse">
            <a:avLst/>
          </a:prstGeom>
          <a:solidFill>
            <a:srgbClr val="5CB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685800"/>
            <a:ext cx="102714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0D82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Kontrol positif · 19 Agustus 2026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85800" y="996696"/>
            <a:ext cx="102714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200" b="1" dirty="0">
                <a:solidFill>
                  <a:srgbClr val="0B1E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Instrumennya merespons — dan menahan diri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85800" y="2103120"/>
            <a:ext cx="3200400" cy="3108960"/>
          </a:xfrm>
          <a:prstGeom prst="roundRect">
            <a:avLst>
              <a:gd name="adj" fmla="val 1765"/>
            </a:avLst>
          </a:prstGeom>
          <a:solidFill>
            <a:srgbClr val="E4F2EE"/>
          </a:solidFill>
          <a:ln w="12700">
            <a:solidFill>
              <a:srgbClr val="E4F2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78408" y="2377440"/>
            <a:ext cx="2651760" cy="6784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600" b="1" dirty="0">
                <a:solidFill>
                  <a:srgbClr val="0D82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/ 9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978408" y="311073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 menonton biasa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78408" y="3421626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A63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Aturan komposit tidak menyala pada satu pun orang yang sekadar menonton.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78408" y="422452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A63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Menyala 4 dari 6 sesi pola diproduksi yang dapat dipakai.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78408" y="470916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14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peserta · 23 sesi direkam · 15 lulus mutu · 3 perangkat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14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Dapat dipakai: 9 dari 11 biasa, 6 dari 12 pola diproduksi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51960" y="2286000"/>
          <a:ext cx="722376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600200"/>
                <a:gridCol w="1600200"/>
                <a:gridCol w="146304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3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Sinyal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3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Menonton biasa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3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Pola diproduksi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3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Jarak terdekat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Preferensi geometrik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+0,16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Percobaan masuk target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dari 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dari 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percobaan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Sebaran tatapan isyarat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+0,008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 10"/>
          <p:cNvSpPr/>
          <p:nvPr/>
        </p:nvSpPr>
        <p:spPr>
          <a:xfrm>
            <a:off x="4251960" y="4160520"/>
            <a:ext cx="7223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A63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Kolom yang penting adalah jarak terdekat, bukan AUC. Ketiganya ber-AUC 1,00 — tetapi itu hanya berarti tidak ada pasangan yang tertukar urutannya. Sesi biasa tertinggi ada di 0,73; sesi produksi terendah di 0,89.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4251960" y="4983480"/>
            <a:ext cx="7223760" cy="658368"/>
          </a:xfrm>
          <a:prstGeom prst="roundRect">
            <a:avLst>
              <a:gd name="adj" fmla="val 8333"/>
            </a:avLst>
          </a:prstGeom>
          <a:solidFill>
            <a:srgbClr val="FBEAE5"/>
          </a:solidFill>
          <a:ln w="12700">
            <a:solidFill>
              <a:srgbClr val="FBEAE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480560" y="5120640"/>
            <a:ext cx="6766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B14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Yang ini tidak membuktikan apa pun tentang autisme. Pesertanya orang dewasa yang mengikuti naskah — tidak ada sensitivitas, spesifisitas, atau akurasi di dalamnya.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E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68151" y="740664"/>
            <a:ext cx="237744" cy="237744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5CB9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39474" y="811987"/>
            <a:ext cx="95098" cy="95098"/>
          </a:xfrm>
          <a:prstGeom prst="ellipse">
            <a:avLst/>
          </a:prstGeom>
          <a:solidFill>
            <a:srgbClr val="5CB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685800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5CB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Arsitektur inferensi bergerbang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85800" y="1033272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Kami tidak membangun satu model yang menebak autisme.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85800" y="14630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A8C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Kami membangun sistem yang menjalankan modelnya di perangkat, lalu memutuskan sendiri apakah keluaran model itu layak dibaca untuk anak yang sedang duduk di depannya.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85800" y="2514600"/>
            <a:ext cx="2578608" cy="2606040"/>
          </a:xfrm>
          <a:prstGeom prst="roundRect">
            <a:avLst>
              <a:gd name="adj" fmla="val 2128"/>
            </a:avLst>
          </a:prstGeom>
          <a:solidFill>
            <a:srgbClr val="14302B"/>
          </a:solidFill>
          <a:ln w="12700">
            <a:solidFill>
              <a:srgbClr val="1E4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23544" y="274320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CB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Saat merancang fitur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923544" y="3127248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Dipilih dengan pengukuran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923544" y="411480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EBD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sesi didesimasi ke separuh laju kamera. Kinematik bergeser 69%, geometri 1,6%.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483864" y="2514600"/>
            <a:ext cx="2578608" cy="2606040"/>
          </a:xfrm>
          <a:prstGeom prst="roundRect">
            <a:avLst>
              <a:gd name="adj" fmla="val 2128"/>
            </a:avLst>
          </a:prstGeom>
          <a:solidFill>
            <a:srgbClr val="14302B"/>
          </a:solidFill>
          <a:ln w="12700">
            <a:solidFill>
              <a:srgbClr val="1E46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721608" y="274320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CB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Saat memilih model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721608" y="3127248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Menjatuhkan model sendiri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3721608" y="411480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EBD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 0,882 vs regresi 0,823. Bootstrap berpasangan: p = 0,087, korelasi 0,93.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281928" y="2514600"/>
            <a:ext cx="2578608" cy="2606040"/>
          </a:xfrm>
          <a:prstGeom prst="roundRect">
            <a:avLst>
              <a:gd name="adj" fmla="val 2128"/>
            </a:avLst>
          </a:prstGeom>
          <a:solidFill>
            <a:srgbClr val="14302B"/>
          </a:solidFill>
          <a:ln w="12700">
            <a:solidFill>
              <a:srgbClr val="1E46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19672" y="274320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CB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Saat sesi berjalan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519672" y="3127248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Penjaga menolak di perangkat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6519672" y="411480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EBD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dijalankan tiap sesi. Penjaga menahan keluarannya dan menyebut fiturnya.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079992" y="2514600"/>
            <a:ext cx="2578608" cy="2606040"/>
          </a:xfrm>
          <a:prstGeom prst="roundRect">
            <a:avLst>
              <a:gd name="adj" fmla="val 2128"/>
            </a:avLst>
          </a:prstGeom>
          <a:solidFill>
            <a:srgbClr val="14302B"/>
          </a:solidFill>
          <a:ln w="12700">
            <a:solidFill>
              <a:srgbClr val="1E46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17736" y="274320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CB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Saat dikompilasi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9317736" y="3127248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Tata kelola dijaga type checker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9317736" y="411480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EBD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combinedScore bernilai null. Penggabungan lajur tidak dapat dikompilasi.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85800" y="544068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i="1" dirty="0">
                <a:solidFill>
                  <a:srgbClr val="8CAEA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Hampir semua ML yang dikerahkan ke lapangan mengandaikan data masuk mirip data latihnya. Ketika andaian itu salah, modelnya tetap mengeluarkan angka — dan tidak memberi tahu siapa pun.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68151" y="740664"/>
            <a:ext cx="237744" cy="237744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5CB9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39474" y="811987"/>
            <a:ext cx="95098" cy="95098"/>
          </a:xfrm>
          <a:prstGeom prst="ellipse">
            <a:avLst/>
          </a:prstGeom>
          <a:solidFill>
            <a:srgbClr val="5CB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685800"/>
            <a:ext cx="102714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0D82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Temuan orisinal · degradasi temporal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85800" y="996696"/>
            <a:ext cx="102714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200" b="1" dirty="0">
                <a:solidFill>
                  <a:srgbClr val="0B1E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Kami tidak menebak fitur mana yang bertahan — kami mengukurnya</a:t>
            </a:r>
            <a:endParaRPr lang="en-US" sz="32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85800" y="2194560"/>
          <a:ext cx="68580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7909560" y="2194560"/>
            <a:ext cx="3566160" cy="2926080"/>
          </a:xfrm>
          <a:prstGeom prst="roundRect">
            <a:avLst>
              <a:gd name="adj" fmla="val 1875"/>
            </a:avLst>
          </a:prstGeom>
          <a:solidFill>
            <a:srgbClr val="E4F2EE"/>
          </a:solidFill>
          <a:ln w="12700">
            <a:solidFill>
              <a:srgbClr val="E4F2E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183880" y="2468880"/>
            <a:ext cx="3017520" cy="7964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5400" b="1" dirty="0">
                <a:solidFill>
                  <a:srgbClr val="0D82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42×</a:t>
            </a:r>
            <a:endParaRPr lang="en-US" sz="5400" dirty="0"/>
          </a:p>
        </p:txBody>
      </p:sp>
      <p:sp>
        <p:nvSpPr>
          <p:cNvPr id="9" name="Text 6"/>
          <p:cNvSpPr/>
          <p:nvPr/>
        </p:nvSpPr>
        <p:spPr>
          <a:xfrm>
            <a:off x="8183880" y="3320157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selisih drift fitur, bukan akurasi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183880" y="3631053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A63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drift relatif di bawah desimasi waktu: 69,4% untuk fitur kinematik, 1,6% untuk fitur yang dipakai. Kamera Posyandu berjalan 26 fps dan sering lebih lambat.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183880" y="45720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14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sesi berpasangan Gate B, aliran (x, y, t) nyata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85800" y="528523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63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Sumber: research/hasil/degradasi_temporal.json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68151" y="740664"/>
            <a:ext cx="237744" cy="237744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5CB9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39474" y="811987"/>
            <a:ext cx="95098" cy="95098"/>
          </a:xfrm>
          <a:prstGeom prst="ellipse">
            <a:avLst/>
          </a:prstGeom>
          <a:solidFill>
            <a:srgbClr val="5CB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685800"/>
            <a:ext cx="102714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0D82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Penjaga out-of-distribution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85800" y="996696"/>
            <a:ext cx="102714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200" b="1" dirty="0">
                <a:solidFill>
                  <a:srgbClr val="0B1E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Modelnya jalan. Penjaganya menolak — dan kami buktikan ia tidak menolak semuanya.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85800" y="2194560"/>
            <a:ext cx="5760720" cy="2286000"/>
          </a:xfrm>
          <a:prstGeom prst="roundRect">
            <a:avLst>
              <a:gd name="adj" fmla="val 2400"/>
            </a:avLst>
          </a:prstGeom>
          <a:solidFill>
            <a:srgbClr val="0B1E1B"/>
          </a:solidFill>
          <a:ln w="12700">
            <a:solidFill>
              <a:srgbClr val="0B1E1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248716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8CAE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PUTUSAN PENJAGA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1051560" y="278892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0A18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Ditolak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1051560" y="33832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7D2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fitur ditandai  ·  cakupan 100%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51560" y="3767328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CB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Jarak terjauh 9,1 z  ·  Mahalanobis 87,9  ·  keluaran model ditahan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995160" y="228600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0B1E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Penjaga yang selalu menolak sama saja dengan false yang dipasang tetap. Jadi kami jalankan dua arah.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995160" y="3200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63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sumber (Carette)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738360" y="3145536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50" b="1" dirty="0">
                <a:solidFill>
                  <a:srgbClr val="0D82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544 / 547 diterima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995160" y="3767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63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Stimulus yang dikirim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738360" y="371246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50" b="1" dirty="0">
                <a:solidFill>
                  <a:srgbClr val="B14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23 diterima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995160" y="433425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63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Keputusan direproduksi Python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738360" y="4279392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50" b="1" dirty="0">
                <a:solidFill>
                  <a:srgbClr val="14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/ 23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685800" y="484632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14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menerima hampir semua yang berasal dari kohort yang membangunnya, dan menolak setiap sesi pada stimulus sekarang — sambil menyebut fiturnya: ink_frac di 22 dari 23 sesi.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85800" y="544068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i="1" dirty="0">
                <a:solidFill>
                  <a:srgbClr val="0D82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Keputusan itu dibuat TypeScript di peramban saat sesi berjalan. Python menghitungnya ulang dari log dan mendapat verdict yang sama, 23 dari 23.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85800" y="594360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63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Sumber: research/hasil/ood_dua_arah.json · kalibrasi referensi persentil 99,5 sehingga tingkat penerimaan domain sumber adalah pemeriksaan kewarasan, bukan uji generalisasi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68151" y="740664"/>
            <a:ext cx="237744" cy="237744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5CB9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39474" y="811987"/>
            <a:ext cx="95098" cy="95098"/>
          </a:xfrm>
          <a:prstGeom prst="ellipse">
            <a:avLst/>
          </a:prstGeom>
          <a:solidFill>
            <a:srgbClr val="5CB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685800"/>
            <a:ext cx="102714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0D82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Kenapa punya batas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85800" y="996696"/>
            <a:ext cx="102714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200" b="1" dirty="0">
                <a:solidFill>
                  <a:srgbClr val="0B1E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Kami memilih titik kerja yang menemukan paling sedikit</a:t>
            </a:r>
            <a:endParaRPr lang="en-US" sz="3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194560"/>
          <a:ext cx="1042416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1371600"/>
                <a:gridCol w="1371600"/>
                <a:gridCol w="1920240"/>
                <a:gridCol w="210312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3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Titik kerja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3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3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3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Laju rujukan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3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Rujukan per 1 kasus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Regresi logistik, sensitivitas 0,9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0,923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0,179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82,2%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89,1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Regresi logistik, Youden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0,731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0,821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D82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GeoPref 69% — yang dipakai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D82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0,170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D82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0,980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D82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D82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 Gate C (preseden tablet)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0,878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85800" y="4572000"/>
            <a:ext cx="676656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BE4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41832" y="475488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spcBef>
                <a:spcPts val="400"/>
              </a:spcBef>
              <a:buNone/>
            </a:pPr>
            <a:r>
              <a:rPr lang="en-US" sz="1250" dirty="0">
                <a:solidFill>
                  <a:srgbClr val="14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“Kalau semua langsung dirujuk, tenaga dan jadwal yang tersedia mungkin kewalahan.”</a:t>
            </a:r>
            <a:endParaRPr lang="en-US" sz="1250" dirty="0"/>
          </a:p>
          <a:p>
            <a:pPr indent="0" marL="0">
              <a:lnSpc>
                <a:spcPts val="1700"/>
              </a:lnSpc>
              <a:spcBef>
                <a:spcPts val="400"/>
              </a:spcBef>
              <a:buNone/>
            </a:pPr>
            <a:r>
              <a:rPr lang="en-US" sz="1050" dirty="0">
                <a:solidFill>
                  <a:srgbClr val="4A63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Guru SLB di Jambi, ditanya apakah layanan sanggup menampung tiga kali lipat rujukan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726680" y="4572000"/>
            <a:ext cx="3383280" cy="1051560"/>
          </a:xfrm>
          <a:prstGeom prst="roundRect">
            <a:avLst>
              <a:gd name="adj" fmla="val 5217"/>
            </a:avLst>
          </a:prstGeom>
          <a:solidFill>
            <a:srgbClr val="FBEAE5"/>
          </a:solidFill>
          <a:ln w="12700">
            <a:solidFill>
              <a:srgbClr val="FBEAE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0" y="4681728"/>
            <a:ext cx="2926080" cy="4424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3000" b="1" dirty="0">
                <a:solidFill>
                  <a:srgbClr val="B144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38,3×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7955280" y="517904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beban rujukan baris teratas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7955280" y="54899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A63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dibanding titik kerja yang dikirim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85800" y="5760720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b="1" i="1" dirty="0">
                <a:solidFill>
                  <a:srgbClr val="0B1E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Tiga kali lipat sudah dinilai sulit. Baris bersensitivitas 92 persen bukan tiga kali — ia 38 kali. Kami memilih baris yang paling sedikit menemukan karena itu satu-satunya yang muat.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68151" y="740664"/>
            <a:ext cx="237744" cy="237744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5CB9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39474" y="811987"/>
            <a:ext cx="95098" cy="95098"/>
          </a:xfrm>
          <a:prstGeom prst="ellipse">
            <a:avLst/>
          </a:prstGeom>
          <a:solidFill>
            <a:srgbClr val="5CB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685800"/>
            <a:ext cx="102714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0D82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Lapis bobot · hasil negatif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85800" y="996696"/>
            <a:ext cx="102714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200" b="1" dirty="0">
                <a:solidFill>
                  <a:srgbClr val="0B1E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Kami unduh data anak yang terbit, pasang bobotnya, lalu auditnya membunuhnya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85800" y="210312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14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Cilia dkk. 2022, CC BY 4.0: 59 anak berlabel, 2,25 juta baris koordinat. Data anak sungguhan tanpa merekam satu pun anak sendiri. Empat audit ditulis sebelum fitting dijalankan. Dua gagal.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274320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63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prediktor tunggal terhadap label ASD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312724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Rasio pelacakan alat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063240" y="3182112"/>
            <a:ext cx="2495946" cy="182880"/>
          </a:xfrm>
          <a:prstGeom prst="rect">
            <a:avLst/>
          </a:prstGeom>
          <a:solidFill>
            <a:srgbClr val="B144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126480" y="312724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14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0,853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85800" y="358444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Fraksi kedip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063240" y="3639312"/>
            <a:ext cx="2478390" cy="182880"/>
          </a:xfrm>
          <a:prstGeom prst="rect">
            <a:avLst/>
          </a:prstGeom>
          <a:solidFill>
            <a:srgbClr val="B144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126480" y="358444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14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0,847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85800" y="404164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Fraksi fiksasi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063240" y="4096512"/>
            <a:ext cx="2416942" cy="182880"/>
          </a:xfrm>
          <a:prstGeom prst="rect">
            <a:avLst/>
          </a:prstGeom>
          <a:solidFill>
            <a:srgbClr val="B144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26480" y="404164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14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0,826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85800" y="449884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Sebaran tatapan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063240" y="4553712"/>
            <a:ext cx="2229673" cy="182880"/>
          </a:xfrm>
          <a:prstGeom prst="rect">
            <a:avLst/>
          </a:prstGeom>
          <a:solidFill>
            <a:srgbClr val="4A63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26480" y="449884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63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0,762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85800" y="495604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Mengikuti isyarat arah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063240" y="5010912"/>
            <a:ext cx="1474744" cy="182880"/>
          </a:xfrm>
          <a:prstGeom prst="rect">
            <a:avLst/>
          </a:prstGeom>
          <a:solidFill>
            <a:srgbClr val="0D82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26480" y="495604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82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0,504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086600" y="2697480"/>
            <a:ext cx="4023360" cy="2651760"/>
          </a:xfrm>
          <a:prstGeom prst="roundRect">
            <a:avLst>
              <a:gd name="adj" fmla="val 2069"/>
            </a:avLst>
          </a:prstGeom>
          <a:solidFill>
            <a:srgbClr val="FBEAE5"/>
          </a:solidFill>
          <a:ln w="12700">
            <a:solidFill>
              <a:srgbClr val="FBEAE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42632" y="2926080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B144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Yang paling memprediksi autisme di dataset itu adalah seberapa baik alatnya merekam anaknya.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7342632" y="3840480"/>
            <a:ext cx="3520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4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Alas tanpa satu pun fitur perilaku: AUC 0,905.</a:t>
            </a:r>
            <a:endParaRPr lang="en-US" sz="1200" dirty="0"/>
          </a:p>
          <a:p>
            <a:pPr marL="342900" indent="-342900">
              <a:lnSpc>
                <a:spcPts val="17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4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indeks perilaku kami: 0,784. Lebih rendah.</a:t>
            </a:r>
            <a:endParaRPr lang="en-US" sz="1200" dirty="0"/>
          </a:p>
          <a:p>
            <a:pPr marL="342900" indent="-342900">
              <a:lnSpc>
                <a:spcPts val="17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4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Anak ASD terbaca 13 percobaan, anak TD 20.</a:t>
            </a:r>
            <a:endParaRPr lang="en-US" sz="1200" dirty="0"/>
          </a:p>
          <a:p>
            <a:pPr marL="342900" indent="-342900">
              <a:lnSpc>
                <a:spcPts val="17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4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Bobot ditolak. Lapis 1 dikirim sendirian.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85800" y="5486400"/>
            <a:ext cx="10424160" cy="777240"/>
          </a:xfrm>
          <a:prstGeom prst="roundRect">
            <a:avLst>
              <a:gd name="adj" fmla="val 7059"/>
            </a:avLst>
          </a:prstGeom>
          <a:solidFill>
            <a:srgbClr val="0B1E1B"/>
          </a:solidFill>
          <a:ln w="12700">
            <a:solidFill>
              <a:srgbClr val="0B1E1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97280" y="566928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Ini kedua kalinya audit kami membunuh angka terbaik kami — yang pertama CNN dataset wajah, AUC 0,932, bobotnya tidak ada di repositori.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68151" y="740664"/>
            <a:ext cx="237744" cy="237744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5CB9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39474" y="811987"/>
            <a:ext cx="95098" cy="95098"/>
          </a:xfrm>
          <a:prstGeom prst="ellipse">
            <a:avLst/>
          </a:prstGeom>
          <a:solidFill>
            <a:srgbClr val="5CB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685800"/>
            <a:ext cx="102714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0D82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Dampak dan biaya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85800" y="996696"/>
            <a:ext cx="102714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200" b="1" dirty="0">
                <a:solidFill>
                  <a:srgbClr val="0B1E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Ambil metrik yang paling keras terhadap kami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85800" y="2103120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B14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Skenario, bukan hasil terukur: angka per kasus ini berlaku hanya bila titik operasi protokol penuh berhasil direplikasi pada balita Indonesia. Hari ini titik itu ditahan.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3246120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BE4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3035808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E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Rp 9,08 jt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960120" y="3639312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14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Neurogaze · 1 Posyandu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411480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63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1.000 sesi × Rp 13.900 ÷ 1,53 kasus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206240" y="2788920"/>
            <a:ext cx="3246120" cy="1965960"/>
          </a:xfrm>
          <a:prstGeom prst="roundRect">
            <a:avLst>
              <a:gd name="adj" fmla="val 2791"/>
            </a:avLst>
          </a:prstGeom>
          <a:solidFill>
            <a:srgbClr val="E4F2EE"/>
          </a:solidFill>
          <a:ln w="12700">
            <a:solidFill>
              <a:srgbClr val="E4F2E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80560" y="3035808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82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Rp 2,29 jt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4480560" y="3639312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14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Neurogaze · dirotasi 4 Posyandu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480560" y="411480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63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1.000 sesi × Rp 3.500 ÷ 1,53 kasus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726680" y="2788920"/>
            <a:ext cx="3246120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BE4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01000" y="3035808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B144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Rp 9,70 jt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8001000" y="3639312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14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EarliPoint · satu pemeriksaan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001000" y="411480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63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 anak, sekali periksa, di klinik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85800" y="49834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0B1E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Bila titik operasinya terreplikasi, menemukan satu kasus harganya kira-kira sekali pemeriksaan EarliPoint — seperempatnya bila satu tablet dirotasi ke empat Posyandu.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685800" y="565099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Yang belum terukur: waktu kader, pelatihan, dukungan, cetak, dudukan, pengulangan sesi, pemeliharaan, penggantian perangkat, dan tindak lanjut klinis.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85800" y="594360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63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Asumsi dinyatakan di docs/dampak_dan_adopsi.md · kohort 1.000, prevalensi 1%, cakupan teknis 90%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68151" y="740664"/>
            <a:ext cx="237744" cy="237744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5CB9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39474" y="811987"/>
            <a:ext cx="95098" cy="95098"/>
          </a:xfrm>
          <a:prstGeom prst="ellipse">
            <a:avLst/>
          </a:prstGeom>
          <a:solidFill>
            <a:srgbClr val="5CB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685800"/>
            <a:ext cx="102714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0D82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Jalur adopsi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85800" y="996696"/>
            <a:ext cx="102714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200" b="1" dirty="0">
                <a:solidFill>
                  <a:srgbClr val="0B1E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Ia menempel pada alur yang sudah jalan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85800" y="210312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4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Alat ini tidak menggantikan apa pun. Ia menempel: sesi 67 detik sesudah penimbangan bulanan, laporan satu halaman diserahkan ke Puskesmas, dibaca berdampingan dengan SDIDTK.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85800" y="2926080"/>
            <a:ext cx="3291840" cy="10028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6800"/>
              </a:lnSpc>
              <a:buNone/>
            </a:pPr>
            <a:r>
              <a:rPr lang="en-US" sz="6800" b="1" dirty="0">
                <a:solidFill>
                  <a:srgbClr val="0D82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~700</a:t>
            </a:r>
            <a:endParaRPr lang="en-US" sz="6800" dirty="0"/>
          </a:p>
        </p:txBody>
      </p:sp>
      <p:sp>
        <p:nvSpPr>
          <p:cNvPr id="8" name="Text 6"/>
          <p:cNvSpPr/>
          <p:nvPr/>
        </p:nvSpPr>
        <p:spPr>
          <a:xfrm>
            <a:off x="685800" y="398383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 dapat dinilai per tahun — hipotetis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5800" y="429473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A63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Aritmetika skala: 30 Posyandu × 40 anak layak, dikurangi attrition 42%. Skala rekrutmen, bukan rencana operasional.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434840" y="2926080"/>
            <a:ext cx="3291840" cy="10028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6800"/>
              </a:lnSpc>
              <a:buNone/>
            </a:pPr>
            <a:r>
              <a:rPr lang="en-US" sz="6800" b="1" dirty="0">
                <a:solidFill>
                  <a:srgbClr val="4A635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475</a:t>
            </a:r>
            <a:endParaRPr lang="en-US" sz="6800" dirty="0"/>
          </a:p>
        </p:txBody>
      </p:sp>
      <p:sp>
        <p:nvSpPr>
          <p:cNvPr id="11" name="Text 9"/>
          <p:cNvSpPr/>
          <p:nvPr/>
        </p:nvSpPr>
        <p:spPr>
          <a:xfrm>
            <a:off x="4434840" y="398383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kohort Nature Medicine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434840" y="429473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A63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 SenseToKnow yang jadi acuan kami.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909560" y="2880360"/>
            <a:ext cx="3200400" cy="2194560"/>
          </a:xfrm>
          <a:prstGeom prst="roundRect">
            <a:avLst>
              <a:gd name="adj" fmla="val 2500"/>
            </a:avLst>
          </a:prstGeom>
          <a:solidFill>
            <a:srgbClr val="E4F2EE"/>
          </a:solidFill>
          <a:ln w="12700">
            <a:solidFill>
              <a:srgbClr val="E4F2E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38160" y="312724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0D82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Tanpa biaya marginal perangkat lunak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138160" y="37490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4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PWA statis. Tidak ada server, basis data, maupun lisensi. Posyandu ke-1 dan ke-1.000 memuat berkas yang sama.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85800" y="534924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i="1" dirty="0">
                <a:solidFill>
                  <a:srgbClr val="143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Skala kohort acuan Nature Medicine dapat dicapai dalam satu tahun studi di 30 Posyandu — sebagai penelitian prospektif berizin etik dengan acuan klinis buta, bukan sebagai penyebaran produk.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E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371600"/>
            <a:ext cx="310896" cy="310896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5CB9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79069" y="1464869"/>
            <a:ext cx="124358" cy="124358"/>
          </a:xfrm>
          <a:prstGeom prst="ellipse">
            <a:avLst/>
          </a:prstGeom>
          <a:solidFill>
            <a:srgbClr val="5CB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1874520"/>
            <a:ext cx="10241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Yang belum kami punya itu label, bukan sistemnya.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685800" y="320040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50" dirty="0">
                <a:solidFill>
                  <a:srgbClr val="A8C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Rantainya sudah berdiri dan sudah terinstrumentasi — kamera ke landmark, landmark ke pandangan</a:t>
            </a:r>
            <a:endParaRPr lang="en-US" sz="155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50" dirty="0">
                <a:solidFill>
                  <a:srgbClr val="A8C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terkalibrasi, pandangan ke fitur, fitur ke model, model ke penjaga, penjaga ke laporan.</a:t>
            </a:r>
            <a:endParaRPr lang="en-US" sz="155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50" dirty="0">
                <a:solidFill>
                  <a:srgbClr val="A8C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 di tangan kalian sekarang: jalan, luring, di tablet.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685800" y="448056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800" i="1" dirty="0">
                <a:solidFill>
                  <a:srgbClr val="5CB9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Sebagian besar tim punya model tanpa jalur ke lapangan. Kami punya jalur ke lapangan yang sudah jalan, menunggu labelnya — dan label itu menuntut mitra berizin etik, persetujuan orang tua, acuan klinis buta, dan validasi prospektif.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85800" y="553212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Yang kami minta: satu mitra klinis yang mampu menjalankan kaji itu.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85800" y="589788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AE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Gate C: sensitivitas 88%  ·  spesifisitas 81%  —  ditetapkan dari literatur, bukan dari harapan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Neurogaze — Datathon RISTEK Fasilkom UI 2026</dc:title>
  <dc:subject>PptxGenJS Presentation</dc:subject>
  <dc:creator>Neurogaze</dc:creator>
  <cp:lastModifiedBy>Neurogaze</cp:lastModifiedBy>
  <cp:revision>1</cp:revision>
  <dcterms:created xsi:type="dcterms:W3CDTF">2026-08-21T12:21:00Z</dcterms:created>
  <dcterms:modified xsi:type="dcterms:W3CDTF">2026-08-21T12:21:00Z</dcterms:modified>
</cp:coreProperties>
</file>